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Helvetica World Bold" panose="020B0604020202020204" charset="-128"/>
      <p:regular r:id="rId19"/>
    </p:embeddedFont>
    <p:embeddedFont>
      <p:font typeface="Arimo" panose="020B0604020202020204" charset="0"/>
      <p:regular r:id="rId20"/>
    </p:embeddedFont>
    <p:embeddedFont>
      <p:font typeface="Arimo Bold" panose="020B0604020202020204" charset="0"/>
      <p:regular r:id="rId21"/>
    </p:embeddedFont>
    <p:embeddedFont>
      <p:font typeface="DM Sans Bold" panose="020B0604020202020204" charset="0"/>
      <p:regular r:id="rId22"/>
    </p:embeddedFont>
    <p:embeddedFont>
      <p:font typeface="Inter" panose="020B0604020202020204" charset="0"/>
      <p:regular r:id="rId23"/>
    </p:embeddedFont>
    <p:embeddedFont>
      <p:font typeface="Inter Bold" panose="020B0604020202020204" charset="0"/>
      <p:regular r:id="rId24"/>
    </p:embeddedFont>
    <p:embeddedFont>
      <p:font typeface="Inter Medium" panose="020B0604020202020204" charset="0"/>
      <p:regular r:id="rId25"/>
    </p:embeddedFont>
    <p:embeddedFont>
      <p:font typeface="League Spartan" panose="020B0604020202020204" charset="0"/>
      <p:regular r:id="rId26"/>
    </p:embeddedFont>
    <p:embeddedFont>
      <p:font typeface="Poppins" panose="00000500000000000000" pitchFamily="2" charset="0"/>
      <p:regular r:id="rId27"/>
    </p:embeddedFont>
    <p:embeddedFont>
      <p:font typeface="Poppins Bold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486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2.jpe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11" Type="http://schemas.openxmlformats.org/officeDocument/2006/relationships/image" Target="../media/image12.jpe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5" Type="http://schemas.openxmlformats.org/officeDocument/2006/relationships/image" Target="../media/image12.jpe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image" Target="../media/image55.png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10" Type="http://schemas.openxmlformats.org/officeDocument/2006/relationships/image" Target="../media/image83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jpe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9.jpeg"/><Relationship Id="rId4" Type="http://schemas.openxmlformats.org/officeDocument/2006/relationships/image" Target="../media/image9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11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12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11" Type="http://schemas.openxmlformats.org/officeDocument/2006/relationships/image" Target="../media/image109.png"/><Relationship Id="rId5" Type="http://schemas.openxmlformats.org/officeDocument/2006/relationships/image" Target="../media/image103.png"/><Relationship Id="rId15" Type="http://schemas.openxmlformats.org/officeDocument/2006/relationships/image" Target="../media/image113.png"/><Relationship Id="rId10" Type="http://schemas.openxmlformats.org/officeDocument/2006/relationships/image" Target="../media/image108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Relationship Id="rId14" Type="http://schemas.openxmlformats.org/officeDocument/2006/relationships/image" Target="../media/image11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25.sv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12" Type="http://schemas.openxmlformats.org/officeDocument/2006/relationships/image" Target="../media/image124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5" Type="http://schemas.openxmlformats.org/officeDocument/2006/relationships/image" Target="../media/image117.png"/><Relationship Id="rId15" Type="http://schemas.openxmlformats.org/officeDocument/2006/relationships/image" Target="../media/image127.svg"/><Relationship Id="rId10" Type="http://schemas.openxmlformats.org/officeDocument/2006/relationships/image" Target="../media/image122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Relationship Id="rId14" Type="http://schemas.openxmlformats.org/officeDocument/2006/relationships/image" Target="../media/image1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3" Type="http://schemas.openxmlformats.org/officeDocument/2006/relationships/image" Target="../media/image128.png"/><Relationship Id="rId7" Type="http://schemas.openxmlformats.org/officeDocument/2006/relationships/image" Target="../media/image132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png"/><Relationship Id="rId5" Type="http://schemas.openxmlformats.org/officeDocument/2006/relationships/image" Target="../media/image130.pn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44338" y="-2128838"/>
            <a:ext cx="7858125" cy="7858125"/>
            <a:chOff x="0" y="0"/>
            <a:chExt cx="10477500" cy="104775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10477500" cy="10477500"/>
            </a:xfrm>
            <a:custGeom>
              <a:avLst/>
              <a:gdLst/>
              <a:ahLst/>
              <a:cxnLst/>
              <a:rect l="l" t="t" r="r" b="b"/>
              <a:pathLst>
                <a:path w="10477500" h="10477500">
                  <a:moveTo>
                    <a:pt x="0" y="0"/>
                  </a:moveTo>
                  <a:lnTo>
                    <a:pt x="10477500" y="0"/>
                  </a:lnTo>
                  <a:lnTo>
                    <a:pt x="10477500" y="10477500"/>
                  </a:lnTo>
                  <a:lnTo>
                    <a:pt x="0" y="10477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-133350" y="2528888"/>
            <a:ext cx="7858125" cy="7858125"/>
            <a:chOff x="0" y="0"/>
            <a:chExt cx="10477500" cy="104775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477500" cy="10477500"/>
            </a:xfrm>
            <a:custGeom>
              <a:avLst/>
              <a:gdLst/>
              <a:ahLst/>
              <a:cxnLst/>
              <a:rect l="l" t="t" r="r" b="b"/>
              <a:pathLst>
                <a:path w="10477500" h="10477500">
                  <a:moveTo>
                    <a:pt x="0" y="0"/>
                  </a:moveTo>
                  <a:lnTo>
                    <a:pt x="10477500" y="0"/>
                  </a:lnTo>
                  <a:lnTo>
                    <a:pt x="10477500" y="10477500"/>
                  </a:lnTo>
                  <a:lnTo>
                    <a:pt x="0" y="10477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1426428" y="2614612"/>
            <a:ext cx="5990034" cy="3857625"/>
            <a:chOff x="0" y="0"/>
            <a:chExt cx="7986712" cy="5143500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7986649" cy="5143500"/>
            </a:xfrm>
            <a:custGeom>
              <a:avLst/>
              <a:gdLst/>
              <a:ahLst/>
              <a:cxnLst/>
              <a:rect l="l" t="t" r="r" b="b"/>
              <a:pathLst>
                <a:path w="7986649" h="5143500">
                  <a:moveTo>
                    <a:pt x="0" y="0"/>
                  </a:moveTo>
                  <a:lnTo>
                    <a:pt x="7986649" y="0"/>
                  </a:lnTo>
                  <a:lnTo>
                    <a:pt x="7986649" y="5143500"/>
                  </a:lnTo>
                  <a:lnTo>
                    <a:pt x="0" y="5143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89" r="-90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1440716" y="2628900"/>
            <a:ext cx="5961459" cy="3829050"/>
            <a:chOff x="0" y="0"/>
            <a:chExt cx="7948612" cy="5105400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7948549" cy="5105400"/>
            </a:xfrm>
            <a:custGeom>
              <a:avLst/>
              <a:gdLst/>
              <a:ahLst/>
              <a:cxnLst/>
              <a:rect l="l" t="t" r="r" b="b"/>
              <a:pathLst>
                <a:path w="7948549" h="5105400">
                  <a:moveTo>
                    <a:pt x="0" y="0"/>
                  </a:moveTo>
                  <a:lnTo>
                    <a:pt x="7948549" y="0"/>
                  </a:lnTo>
                  <a:lnTo>
                    <a:pt x="7948549" y="5105400"/>
                  </a:lnTo>
                  <a:lnTo>
                    <a:pt x="0" y="5105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43" b="-43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871538" y="8472488"/>
            <a:ext cx="3964781" cy="942975"/>
            <a:chOff x="0" y="0"/>
            <a:chExt cx="5286375" cy="1257300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5286375" cy="1257300"/>
            </a:xfrm>
            <a:custGeom>
              <a:avLst/>
              <a:gdLst/>
              <a:ahLst/>
              <a:cxnLst/>
              <a:rect l="l" t="t" r="r" b="b"/>
              <a:pathLst>
                <a:path w="5286375" h="1257300">
                  <a:moveTo>
                    <a:pt x="0" y="0"/>
                  </a:moveTo>
                  <a:lnTo>
                    <a:pt x="5286375" y="0"/>
                  </a:lnTo>
                  <a:lnTo>
                    <a:pt x="5286375" y="1257300"/>
                  </a:lnTo>
                  <a:lnTo>
                    <a:pt x="0" y="1257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0" r="-90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5064919" y="8472488"/>
            <a:ext cx="3964781" cy="942975"/>
            <a:chOff x="0" y="0"/>
            <a:chExt cx="5286375" cy="1257300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5286375" cy="1257300"/>
            </a:xfrm>
            <a:custGeom>
              <a:avLst/>
              <a:gdLst/>
              <a:ahLst/>
              <a:cxnLst/>
              <a:rect l="l" t="t" r="r" b="b"/>
              <a:pathLst>
                <a:path w="5286375" h="1257300">
                  <a:moveTo>
                    <a:pt x="0" y="0"/>
                  </a:moveTo>
                  <a:lnTo>
                    <a:pt x="5286375" y="0"/>
                  </a:lnTo>
                  <a:lnTo>
                    <a:pt x="5286375" y="1257300"/>
                  </a:lnTo>
                  <a:lnTo>
                    <a:pt x="0" y="1257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90" r="-90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9258300" y="8472488"/>
            <a:ext cx="3964781" cy="942975"/>
            <a:chOff x="0" y="0"/>
            <a:chExt cx="5286375" cy="1257300"/>
          </a:xfrm>
        </p:grpSpPr>
        <p:sp>
          <p:nvSpPr>
            <p:cNvPr id="15" name="Freeform 15" descr="image.png"/>
            <p:cNvSpPr/>
            <p:nvPr/>
          </p:nvSpPr>
          <p:spPr>
            <a:xfrm>
              <a:off x="0" y="0"/>
              <a:ext cx="5286375" cy="1257300"/>
            </a:xfrm>
            <a:custGeom>
              <a:avLst/>
              <a:gdLst/>
              <a:ahLst/>
              <a:cxnLst/>
              <a:rect l="l" t="t" r="r" b="b"/>
              <a:pathLst>
                <a:path w="5286375" h="1257300">
                  <a:moveTo>
                    <a:pt x="0" y="0"/>
                  </a:moveTo>
                  <a:lnTo>
                    <a:pt x="5286375" y="0"/>
                  </a:lnTo>
                  <a:lnTo>
                    <a:pt x="5286375" y="1257300"/>
                  </a:lnTo>
                  <a:lnTo>
                    <a:pt x="0" y="1257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90" r="-90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13451681" y="8472488"/>
            <a:ext cx="3964781" cy="942975"/>
            <a:chOff x="0" y="0"/>
            <a:chExt cx="5286375" cy="1257300"/>
          </a:xfrm>
        </p:grpSpPr>
        <p:sp>
          <p:nvSpPr>
            <p:cNvPr id="17" name="Freeform 17" descr="image.png"/>
            <p:cNvSpPr/>
            <p:nvPr/>
          </p:nvSpPr>
          <p:spPr>
            <a:xfrm>
              <a:off x="0" y="0"/>
              <a:ext cx="5286375" cy="1257300"/>
            </a:xfrm>
            <a:custGeom>
              <a:avLst/>
              <a:gdLst/>
              <a:ahLst/>
              <a:cxnLst/>
              <a:rect l="l" t="t" r="r" b="b"/>
              <a:pathLst>
                <a:path w="5286375" h="1257300">
                  <a:moveTo>
                    <a:pt x="0" y="0"/>
                  </a:moveTo>
                  <a:lnTo>
                    <a:pt x="5286375" y="0"/>
                  </a:lnTo>
                  <a:lnTo>
                    <a:pt x="5286375" y="1257300"/>
                  </a:lnTo>
                  <a:lnTo>
                    <a:pt x="0" y="1257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90" r="-90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>
            <a:off x="1114425" y="8658225"/>
            <a:ext cx="571500" cy="571500"/>
            <a:chOff x="0" y="0"/>
            <a:chExt cx="762000" cy="762000"/>
          </a:xfrm>
        </p:grpSpPr>
        <p:sp>
          <p:nvSpPr>
            <p:cNvPr id="19" name="Freeform 19" descr="image.png"/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0"/>
                  </a:moveTo>
                  <a:lnTo>
                    <a:pt x="762000" y="0"/>
                  </a:lnTo>
                  <a:lnTo>
                    <a:pt x="7620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5307806" y="8658225"/>
            <a:ext cx="571500" cy="571500"/>
            <a:chOff x="0" y="0"/>
            <a:chExt cx="762000" cy="762000"/>
          </a:xfrm>
        </p:grpSpPr>
        <p:sp>
          <p:nvSpPr>
            <p:cNvPr id="21" name="Freeform 21" descr="image.png"/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0"/>
                  </a:moveTo>
                  <a:lnTo>
                    <a:pt x="762000" y="0"/>
                  </a:lnTo>
                  <a:lnTo>
                    <a:pt x="7620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9501188" y="8658225"/>
            <a:ext cx="571500" cy="571500"/>
            <a:chOff x="0" y="0"/>
            <a:chExt cx="762000" cy="762000"/>
          </a:xfrm>
        </p:grpSpPr>
        <p:sp>
          <p:nvSpPr>
            <p:cNvPr id="23" name="Freeform 23" descr="image.png"/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0"/>
                  </a:moveTo>
                  <a:lnTo>
                    <a:pt x="762000" y="0"/>
                  </a:lnTo>
                  <a:lnTo>
                    <a:pt x="7620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>
            <a:off x="13694569" y="8658225"/>
            <a:ext cx="571500" cy="571500"/>
            <a:chOff x="0" y="0"/>
            <a:chExt cx="762000" cy="762000"/>
          </a:xfrm>
        </p:grpSpPr>
        <p:sp>
          <p:nvSpPr>
            <p:cNvPr id="25" name="Freeform 25" descr="image.png"/>
            <p:cNvSpPr/>
            <p:nvPr/>
          </p:nvSpPr>
          <p:spPr>
            <a:xfrm>
              <a:off x="0" y="0"/>
              <a:ext cx="762000" cy="762000"/>
            </a:xfrm>
            <a:custGeom>
              <a:avLst/>
              <a:gdLst/>
              <a:ahLst/>
              <a:cxnLst/>
              <a:rect l="l" t="t" r="r" b="b"/>
              <a:pathLst>
                <a:path w="762000" h="762000">
                  <a:moveTo>
                    <a:pt x="0" y="0"/>
                  </a:moveTo>
                  <a:lnTo>
                    <a:pt x="762000" y="0"/>
                  </a:lnTo>
                  <a:lnTo>
                    <a:pt x="7620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</p:sp>
      </p:grpSp>
      <p:grpSp>
        <p:nvGrpSpPr>
          <p:cNvPr id="26" name="Group 26"/>
          <p:cNvGrpSpPr/>
          <p:nvPr/>
        </p:nvGrpSpPr>
        <p:grpSpPr>
          <a:xfrm>
            <a:off x="871538" y="7729538"/>
            <a:ext cx="16544925" cy="1685925"/>
            <a:chOff x="0" y="0"/>
            <a:chExt cx="22059900" cy="2247900"/>
          </a:xfrm>
        </p:grpSpPr>
        <p:sp>
          <p:nvSpPr>
            <p:cNvPr id="27" name="Freeform 27" descr="image.png"/>
            <p:cNvSpPr/>
            <p:nvPr/>
          </p:nvSpPr>
          <p:spPr>
            <a:xfrm>
              <a:off x="0" y="0"/>
              <a:ext cx="22059900" cy="2247900"/>
            </a:xfrm>
            <a:custGeom>
              <a:avLst/>
              <a:gdLst/>
              <a:ahLst/>
              <a:cxnLst/>
              <a:rect l="l" t="t" r="r" b="b"/>
              <a:pathLst>
                <a:path w="22059900" h="2247900">
                  <a:moveTo>
                    <a:pt x="0" y="0"/>
                  </a:moveTo>
                  <a:lnTo>
                    <a:pt x="22059900" y="0"/>
                  </a:lnTo>
                  <a:lnTo>
                    <a:pt x="22059900" y="2247900"/>
                  </a:lnTo>
                  <a:lnTo>
                    <a:pt x="0" y="2247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86" r="-86"/>
              </a:stretch>
            </a:blipFill>
          </p:spPr>
        </p:sp>
      </p:grpSp>
      <p:grpSp>
        <p:nvGrpSpPr>
          <p:cNvPr id="28" name="Group 28"/>
          <p:cNvGrpSpPr/>
          <p:nvPr/>
        </p:nvGrpSpPr>
        <p:grpSpPr>
          <a:xfrm>
            <a:off x="1221581" y="8058150"/>
            <a:ext cx="16194881" cy="214312"/>
            <a:chOff x="0" y="0"/>
            <a:chExt cx="21593175" cy="28575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593173" cy="285750"/>
            </a:xfrm>
            <a:custGeom>
              <a:avLst/>
              <a:gdLst/>
              <a:ahLst/>
              <a:cxnLst/>
              <a:rect l="l" t="t" r="r" b="b"/>
              <a:pathLst>
                <a:path w="21593173" h="285750">
                  <a:moveTo>
                    <a:pt x="0" y="0"/>
                  </a:moveTo>
                  <a:lnTo>
                    <a:pt x="21593173" y="0"/>
                  </a:lnTo>
                  <a:lnTo>
                    <a:pt x="21593173" y="285750"/>
                  </a:lnTo>
                  <a:lnTo>
                    <a:pt x="0" y="285750"/>
                  </a:lnTo>
                  <a:close/>
                </a:path>
              </a:pathLst>
            </a:custGeom>
            <a:blipFill>
              <a:blip r:embed="rId13">
                <a:alphaModFix amt="0"/>
              </a:blip>
              <a:stretch>
                <a:fillRect t="-1422419" b="-1422419"/>
              </a:stretch>
            </a:blip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21593175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475569"/>
                  </a:solidFill>
                  <a:latin typeface="Arimo"/>
                  <a:ea typeface="Arimo"/>
                  <a:cs typeface="Arimo"/>
                  <a:sym typeface="Arimo"/>
                </a:rPr>
                <a:t>PRESENTED BY TEAM MEMBERS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809477" y="1973824"/>
            <a:ext cx="10482558" cy="1520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50"/>
              </a:lnSpc>
            </a:pPr>
            <a:r>
              <a:rPr lang="en-US" sz="5175" b="1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Neural Processing Unit (NPU) &amp; SoC: System on Chip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09477" y="3906009"/>
            <a:ext cx="8858250" cy="933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225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Next-Generation Hardware Acceleration &amp; Deep Learning System Architecture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440716" y="2496309"/>
            <a:ext cx="5961459" cy="3829050"/>
            <a:chOff x="0" y="0"/>
            <a:chExt cx="7948612" cy="5105400"/>
          </a:xfrm>
        </p:grpSpPr>
        <p:sp>
          <p:nvSpPr>
            <p:cNvPr id="34" name="Freeform 34" descr="image.png"/>
            <p:cNvSpPr/>
            <p:nvPr/>
          </p:nvSpPr>
          <p:spPr>
            <a:xfrm>
              <a:off x="0" y="0"/>
              <a:ext cx="7948549" cy="5105400"/>
            </a:xfrm>
            <a:custGeom>
              <a:avLst/>
              <a:gdLst/>
              <a:ahLst/>
              <a:cxnLst/>
              <a:rect l="l" t="t" r="r" b="b"/>
              <a:pathLst>
                <a:path w="7948549" h="5105400">
                  <a:moveTo>
                    <a:pt x="0" y="0"/>
                  </a:moveTo>
                  <a:lnTo>
                    <a:pt x="7948549" y="0"/>
                  </a:lnTo>
                  <a:lnTo>
                    <a:pt x="7948549" y="5105400"/>
                  </a:lnTo>
                  <a:lnTo>
                    <a:pt x="0" y="5105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t="-43" b="-43"/>
              </a:stretch>
            </a:blipFill>
          </p:spPr>
        </p:sp>
      </p:grpSp>
      <p:grpSp>
        <p:nvGrpSpPr>
          <p:cNvPr id="35" name="Group 35"/>
          <p:cNvGrpSpPr/>
          <p:nvPr/>
        </p:nvGrpSpPr>
        <p:grpSpPr>
          <a:xfrm>
            <a:off x="871538" y="8079581"/>
            <a:ext cx="235744" cy="171450"/>
            <a:chOff x="0" y="0"/>
            <a:chExt cx="314325" cy="228600"/>
          </a:xfrm>
        </p:grpSpPr>
        <p:sp>
          <p:nvSpPr>
            <p:cNvPr id="36" name="Freeform 36" descr="image.png"/>
            <p:cNvSpPr/>
            <p:nvPr/>
          </p:nvSpPr>
          <p:spPr>
            <a:xfrm>
              <a:off x="0" y="0"/>
              <a:ext cx="314325" cy="228600"/>
            </a:xfrm>
            <a:custGeom>
              <a:avLst/>
              <a:gdLst/>
              <a:ahLst/>
              <a:cxnLst/>
              <a:rect l="l" t="t" r="r" b="b"/>
              <a:pathLst>
                <a:path w="314325" h="228600">
                  <a:moveTo>
                    <a:pt x="0" y="0"/>
                  </a:moveTo>
                  <a:lnTo>
                    <a:pt x="314325" y="0"/>
                  </a:lnTo>
                  <a:lnTo>
                    <a:pt x="314325" y="228600"/>
                  </a:lnTo>
                  <a:lnTo>
                    <a:pt x="0" y="228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t="-2572" b="-2572"/>
              </a:stretch>
            </a:blipFill>
          </p:spPr>
        </p:sp>
      </p:grpSp>
      <p:sp>
        <p:nvSpPr>
          <p:cNvPr id="37" name="TextBox 37"/>
          <p:cNvSpPr txBox="1"/>
          <p:nvPr/>
        </p:nvSpPr>
        <p:spPr>
          <a:xfrm>
            <a:off x="1857375" y="8682038"/>
            <a:ext cx="1674019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Lamia Ahmed</a:t>
            </a:r>
            <a:r>
              <a:rPr lang="en-US" sz="1800">
                <a:solidFill>
                  <a:srgbClr val="0F172A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800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Team Lead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050756" y="8682038"/>
            <a:ext cx="1674019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Afrin Sultana</a:t>
            </a:r>
            <a:r>
              <a:rPr lang="en-US" sz="1800">
                <a:solidFill>
                  <a:srgbClr val="0F172A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800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Presenter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244138" y="8682038"/>
            <a:ext cx="1914525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Fahim Abrar Mahir</a:t>
            </a:r>
            <a:r>
              <a:rPr lang="en-US" sz="1800">
                <a:solidFill>
                  <a:srgbClr val="0F172A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800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Presenter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4437519" y="8682038"/>
            <a:ext cx="1517247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Asem Hamid</a:t>
            </a:r>
            <a:r>
              <a:rPr lang="en-US" sz="1800">
                <a:solidFill>
                  <a:srgbClr val="0F172A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800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094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028700" y="3896044"/>
            <a:ext cx="13090448" cy="2256600"/>
            <a:chOff x="0" y="0"/>
            <a:chExt cx="17453931" cy="3008799"/>
          </a:xfrm>
        </p:grpSpPr>
        <p:sp>
          <p:nvSpPr>
            <p:cNvPr id="5" name="TextBox 5"/>
            <p:cNvSpPr txBox="1"/>
            <p:nvPr/>
          </p:nvSpPr>
          <p:spPr>
            <a:xfrm>
              <a:off x="0" y="38100"/>
              <a:ext cx="15975350" cy="13028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7305"/>
                </a:lnSpc>
              </a:pPr>
              <a:r>
                <a:rPr lang="en-US" sz="6642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Neural Processing Unit (NPU)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1662169"/>
              <a:ext cx="17453931" cy="13466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9"/>
                </a:lnSpc>
              </a:pPr>
              <a:r>
                <a:rPr lang="en-US" sz="2519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An overview of NPU architecture, core capabilities, key advantages over traditional CPUs, and real-world AI applications.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9429750" y="2678906"/>
            <a:ext cx="7986712" cy="6000750"/>
            <a:chOff x="0" y="0"/>
            <a:chExt cx="10648950" cy="80010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0648950" cy="8001000"/>
            </a:xfrm>
            <a:custGeom>
              <a:avLst/>
              <a:gdLst/>
              <a:ahLst/>
              <a:cxnLst/>
              <a:rect l="l" t="t" r="r" b="b"/>
              <a:pathLst>
                <a:path w="10648950" h="8001000">
                  <a:moveTo>
                    <a:pt x="0" y="0"/>
                  </a:moveTo>
                  <a:lnTo>
                    <a:pt x="10648950" y="0"/>
                  </a:lnTo>
                  <a:lnTo>
                    <a:pt x="10648950" y="8001000"/>
                  </a:lnTo>
                  <a:lnTo>
                    <a:pt x="0" y="800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9" b="-29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9444038" y="2693194"/>
            <a:ext cx="7958138" cy="5972175"/>
            <a:chOff x="0" y="0"/>
            <a:chExt cx="10610850" cy="7962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610850" cy="7962900"/>
            </a:xfrm>
            <a:custGeom>
              <a:avLst/>
              <a:gdLst/>
              <a:ahLst/>
              <a:cxnLst/>
              <a:rect l="l" t="t" r="r" b="b"/>
              <a:pathLst>
                <a:path w="10610850" h="7962900">
                  <a:moveTo>
                    <a:pt x="0" y="0"/>
                  </a:moveTo>
                  <a:lnTo>
                    <a:pt x="10610850" y="0"/>
                  </a:lnTo>
                  <a:lnTo>
                    <a:pt x="10610850" y="7962900"/>
                  </a:lnTo>
                  <a:lnTo>
                    <a:pt x="0" y="796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8968" b="-18968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871538" y="728662"/>
            <a:ext cx="17372171" cy="642938"/>
            <a:chOff x="0" y="0"/>
            <a:chExt cx="23162895" cy="857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3162895" cy="857250"/>
            </a:xfrm>
            <a:custGeom>
              <a:avLst/>
              <a:gdLst/>
              <a:ahLst/>
              <a:cxnLst/>
              <a:rect l="l" t="t" r="r" b="b"/>
              <a:pathLst>
                <a:path w="23162895" h="857250">
                  <a:moveTo>
                    <a:pt x="0" y="0"/>
                  </a:moveTo>
                  <a:lnTo>
                    <a:pt x="23162895" y="0"/>
                  </a:lnTo>
                  <a:lnTo>
                    <a:pt x="23162895" y="857250"/>
                  </a:lnTo>
                  <a:lnTo>
                    <a:pt x="0" y="85725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476485" b="-476485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23162895" cy="876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60"/>
                </a:lnSpc>
              </a:pPr>
              <a:r>
                <a:rPr lang="en-US" sz="4050" b="1">
                  <a:solidFill>
                    <a:srgbClr val="0F172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What is a Neural Processing Unit (NPU)?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71538" y="2257425"/>
            <a:ext cx="7986712" cy="2128838"/>
            <a:chOff x="0" y="0"/>
            <a:chExt cx="10648950" cy="2838450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0648950" cy="2838450"/>
              <a:chOff x="0" y="0"/>
              <a:chExt cx="10648950" cy="2838450"/>
            </a:xfrm>
          </p:grpSpPr>
          <p:sp>
            <p:nvSpPr>
              <p:cNvPr id="13" name="Freeform 13" descr="image.png"/>
              <p:cNvSpPr/>
              <p:nvPr/>
            </p:nvSpPr>
            <p:spPr>
              <a:xfrm>
                <a:off x="0" y="0"/>
                <a:ext cx="10648950" cy="2838450"/>
              </a:xfrm>
              <a:custGeom>
                <a:avLst/>
                <a:gdLst/>
                <a:ahLst/>
                <a:cxnLst/>
                <a:rect l="l" t="t" r="r" b="b"/>
                <a:pathLst>
                  <a:path w="10648950" h="2838450">
                    <a:moveTo>
                      <a:pt x="0" y="0"/>
                    </a:moveTo>
                    <a:lnTo>
                      <a:pt x="10648950" y="0"/>
                    </a:lnTo>
                    <a:lnTo>
                      <a:pt x="10648950" y="2838450"/>
                    </a:lnTo>
                    <a:lnTo>
                      <a:pt x="0" y="28384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89" r="-89"/>
                </a:stretch>
              </a:blipFill>
            </p:spPr>
          </p:sp>
        </p:grpSp>
        <p:grpSp>
          <p:nvGrpSpPr>
            <p:cNvPr id="14" name="Group 14"/>
            <p:cNvGrpSpPr/>
            <p:nvPr/>
          </p:nvGrpSpPr>
          <p:grpSpPr>
            <a:xfrm>
              <a:off x="1040308" y="438150"/>
              <a:ext cx="9589008" cy="476250"/>
              <a:chOff x="0" y="0"/>
              <a:chExt cx="9589008" cy="47625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9589010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9589010" h="476250">
                    <a:moveTo>
                      <a:pt x="0" y="0"/>
                    </a:moveTo>
                    <a:lnTo>
                      <a:pt x="9589010" y="0"/>
                    </a:lnTo>
                    <a:lnTo>
                      <a:pt x="9589010" y="476250"/>
                    </a:lnTo>
                    <a:lnTo>
                      <a:pt x="0" y="476250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t="-342319" b="-342319"/>
                </a:stretch>
              </a:blip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19050"/>
                <a:ext cx="9589008" cy="4953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700"/>
                  </a:lnSpc>
                </a:pPr>
                <a:r>
                  <a:rPr lang="en-US" sz="2250">
                    <a:solidFill>
                      <a:srgbClr val="1D4ED8"/>
                    </a:solidFill>
                    <a:latin typeface="Arimo"/>
                    <a:ea typeface="Arimo"/>
                    <a:cs typeface="Arimo"/>
                    <a:sym typeface="Arimo"/>
                  </a:rPr>
                  <a:t>Specialized AI Accelerator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476250" y="485775"/>
              <a:ext cx="373558" cy="381000"/>
              <a:chOff x="0" y="0"/>
              <a:chExt cx="373558" cy="381000"/>
            </a:xfrm>
          </p:grpSpPr>
          <p:sp>
            <p:nvSpPr>
              <p:cNvPr id="18" name="Freeform 18" descr="image.png"/>
              <p:cNvSpPr/>
              <p:nvPr/>
            </p:nvSpPr>
            <p:spPr>
              <a:xfrm>
                <a:off x="0" y="0"/>
                <a:ext cx="373507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373507" h="381000">
                    <a:moveTo>
                      <a:pt x="0" y="0"/>
                    </a:moveTo>
                    <a:lnTo>
                      <a:pt x="373507" y="0"/>
                    </a:lnTo>
                    <a:lnTo>
                      <a:pt x="373507" y="381000"/>
                    </a:lnTo>
                    <a:lnTo>
                      <a:pt x="0" y="381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t="-1473" r="-13" b="-1476"/>
                </a:stretch>
              </a:blipFill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476250" y="971550"/>
              <a:ext cx="9696450" cy="1428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8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An NPU is a dedicated microprocessor designed specifically to accelerate Artificial Intelligence (AI) and Machine Learning (ML) tasks efficiently.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71538" y="4614862"/>
            <a:ext cx="7986712" cy="2128838"/>
            <a:chOff x="0" y="0"/>
            <a:chExt cx="10648950" cy="2838450"/>
          </a:xfrm>
        </p:grpSpPr>
        <p:grpSp>
          <p:nvGrpSpPr>
            <p:cNvPr id="21" name="Group 21"/>
            <p:cNvGrpSpPr/>
            <p:nvPr/>
          </p:nvGrpSpPr>
          <p:grpSpPr>
            <a:xfrm>
              <a:off x="0" y="0"/>
              <a:ext cx="10648950" cy="2838450"/>
              <a:chOff x="0" y="0"/>
              <a:chExt cx="10648950" cy="2838450"/>
            </a:xfrm>
          </p:grpSpPr>
          <p:sp>
            <p:nvSpPr>
              <p:cNvPr id="22" name="Freeform 22" descr="image.png"/>
              <p:cNvSpPr/>
              <p:nvPr/>
            </p:nvSpPr>
            <p:spPr>
              <a:xfrm>
                <a:off x="0" y="0"/>
                <a:ext cx="10648950" cy="2838450"/>
              </a:xfrm>
              <a:custGeom>
                <a:avLst/>
                <a:gdLst/>
                <a:ahLst/>
                <a:cxnLst/>
                <a:rect l="l" t="t" r="r" b="b"/>
                <a:pathLst>
                  <a:path w="10648950" h="2838450">
                    <a:moveTo>
                      <a:pt x="0" y="0"/>
                    </a:moveTo>
                    <a:lnTo>
                      <a:pt x="10648950" y="0"/>
                    </a:lnTo>
                    <a:lnTo>
                      <a:pt x="10648950" y="2838450"/>
                    </a:lnTo>
                    <a:lnTo>
                      <a:pt x="0" y="28384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l="-89" r="-89"/>
                </a:stretch>
              </a:blipFill>
            </p:spPr>
          </p:sp>
        </p:grpSp>
        <p:grpSp>
          <p:nvGrpSpPr>
            <p:cNvPr id="23" name="Group 23"/>
            <p:cNvGrpSpPr/>
            <p:nvPr/>
          </p:nvGrpSpPr>
          <p:grpSpPr>
            <a:xfrm>
              <a:off x="945058" y="438150"/>
              <a:ext cx="9689020" cy="476250"/>
              <a:chOff x="0" y="0"/>
              <a:chExt cx="9689020" cy="47625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9689022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9689022" h="476250">
                    <a:moveTo>
                      <a:pt x="0" y="0"/>
                    </a:moveTo>
                    <a:lnTo>
                      <a:pt x="9689022" y="0"/>
                    </a:lnTo>
                    <a:lnTo>
                      <a:pt x="9689022" y="476250"/>
                    </a:lnTo>
                    <a:lnTo>
                      <a:pt x="0" y="476250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t="-346411" b="-346411"/>
                </a:stretch>
              </a:blipFill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0" y="-19050"/>
                <a:ext cx="9689020" cy="4953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700"/>
                  </a:lnSpc>
                </a:pPr>
                <a:r>
                  <a:rPr lang="en-US" sz="2250">
                    <a:solidFill>
                      <a:srgbClr val="1D4ED8"/>
                    </a:solidFill>
                    <a:latin typeface="Arimo"/>
                    <a:ea typeface="Arimo"/>
                    <a:cs typeface="Arimo"/>
                    <a:sym typeface="Arimo"/>
                  </a:rPr>
                  <a:t>Matrix &amp; Tensor Optimization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476250" y="485775"/>
              <a:ext cx="278308" cy="381000"/>
              <a:chOff x="0" y="0"/>
              <a:chExt cx="278308" cy="381000"/>
            </a:xfrm>
          </p:grpSpPr>
          <p:sp>
            <p:nvSpPr>
              <p:cNvPr id="27" name="Freeform 27" descr="image.png"/>
              <p:cNvSpPr/>
              <p:nvPr/>
            </p:nvSpPr>
            <p:spPr>
              <a:xfrm>
                <a:off x="0" y="0"/>
                <a:ext cx="278257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78257" h="381000">
                    <a:moveTo>
                      <a:pt x="0" y="0"/>
                    </a:moveTo>
                    <a:lnTo>
                      <a:pt x="278257" y="0"/>
                    </a:lnTo>
                    <a:lnTo>
                      <a:pt x="278257" y="381000"/>
                    </a:lnTo>
                    <a:lnTo>
                      <a:pt x="0" y="381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t="-1133" r="-18" b="-1133"/>
                </a:stretch>
              </a:blipFill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476250" y="971550"/>
              <a:ext cx="9696450" cy="1428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8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Unlike general-purpose processors, NPUs are engineered specifically for mathematical operations essential to neural networks, such as complex matrix calculations.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71538" y="6972300"/>
            <a:ext cx="7986712" cy="2128838"/>
            <a:chOff x="0" y="0"/>
            <a:chExt cx="10648950" cy="2838450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10648950" cy="2838450"/>
              <a:chOff x="0" y="0"/>
              <a:chExt cx="10648950" cy="2838450"/>
            </a:xfrm>
          </p:grpSpPr>
          <p:sp>
            <p:nvSpPr>
              <p:cNvPr id="31" name="Freeform 31" descr="image.png"/>
              <p:cNvSpPr/>
              <p:nvPr/>
            </p:nvSpPr>
            <p:spPr>
              <a:xfrm>
                <a:off x="0" y="0"/>
                <a:ext cx="10648950" cy="2838450"/>
              </a:xfrm>
              <a:custGeom>
                <a:avLst/>
                <a:gdLst/>
                <a:ahLst/>
                <a:cxnLst/>
                <a:rect l="l" t="t" r="r" b="b"/>
                <a:pathLst>
                  <a:path w="10648950" h="2838450">
                    <a:moveTo>
                      <a:pt x="0" y="0"/>
                    </a:moveTo>
                    <a:lnTo>
                      <a:pt x="10648950" y="0"/>
                    </a:lnTo>
                    <a:lnTo>
                      <a:pt x="10648950" y="2838450"/>
                    </a:lnTo>
                    <a:lnTo>
                      <a:pt x="0" y="28384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89" r="-89"/>
                </a:stretch>
              </a:blipFill>
            </p:spPr>
          </p:sp>
        </p:grpSp>
        <p:grpSp>
          <p:nvGrpSpPr>
            <p:cNvPr id="32" name="Group 32"/>
            <p:cNvGrpSpPr/>
            <p:nvPr/>
          </p:nvGrpSpPr>
          <p:grpSpPr>
            <a:xfrm>
              <a:off x="1097458" y="438150"/>
              <a:ext cx="9529000" cy="476250"/>
              <a:chOff x="0" y="0"/>
              <a:chExt cx="9529000" cy="47625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9529002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9529002" h="476250">
                    <a:moveTo>
                      <a:pt x="0" y="0"/>
                    </a:moveTo>
                    <a:lnTo>
                      <a:pt x="9529002" y="0"/>
                    </a:lnTo>
                    <a:lnTo>
                      <a:pt x="9529002" y="476250"/>
                    </a:lnTo>
                    <a:lnTo>
                      <a:pt x="0" y="476250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t="-339864" b="-339864"/>
                </a:stretch>
              </a:blipFill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0" y="-19050"/>
                <a:ext cx="9529000" cy="4953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700"/>
                  </a:lnSpc>
                </a:pPr>
                <a:r>
                  <a:rPr lang="en-US" sz="2250">
                    <a:solidFill>
                      <a:srgbClr val="1D4ED8"/>
                    </a:solidFill>
                    <a:latin typeface="Arimo"/>
                    <a:ea typeface="Arimo"/>
                    <a:cs typeface="Arimo"/>
                    <a:sym typeface="Arimo"/>
                  </a:rPr>
                  <a:t>System Integration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476250" y="485775"/>
              <a:ext cx="430708" cy="381000"/>
              <a:chOff x="0" y="0"/>
              <a:chExt cx="430708" cy="381000"/>
            </a:xfrm>
          </p:grpSpPr>
          <p:sp>
            <p:nvSpPr>
              <p:cNvPr id="36" name="Freeform 36" descr="image.png"/>
              <p:cNvSpPr/>
              <p:nvPr/>
            </p:nvSpPr>
            <p:spPr>
              <a:xfrm>
                <a:off x="0" y="0"/>
                <a:ext cx="430657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430657" h="381000">
                    <a:moveTo>
                      <a:pt x="0" y="0"/>
                    </a:moveTo>
                    <a:lnTo>
                      <a:pt x="430657" y="0"/>
                    </a:lnTo>
                    <a:lnTo>
                      <a:pt x="430657" y="381000"/>
                    </a:lnTo>
                    <a:lnTo>
                      <a:pt x="0" y="381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t="-1606" r="-11" b="-1610"/>
                </a:stretch>
              </a:blipFill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476250" y="971550"/>
              <a:ext cx="9696450" cy="1428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8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NPUs are commonly integrated directly into modern System-on-Chips (SoCs) alongside CPUs and GPUs to power intelligent features seamlessly.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871538" y="3400425"/>
            <a:ext cx="16530638" cy="4457700"/>
            <a:chOff x="0" y="0"/>
            <a:chExt cx="22040850" cy="5943600"/>
          </a:xfrm>
        </p:grpSpPr>
        <p:grpSp>
          <p:nvGrpSpPr>
            <p:cNvPr id="6" name="Group 6"/>
            <p:cNvGrpSpPr/>
            <p:nvPr/>
          </p:nvGrpSpPr>
          <p:grpSpPr>
            <a:xfrm>
              <a:off x="19050" y="2019300"/>
              <a:ext cx="4644326" cy="19050"/>
              <a:chOff x="0" y="0"/>
              <a:chExt cx="4644326" cy="190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64439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644390" h="19050">
                    <a:moveTo>
                      <a:pt x="0" y="0"/>
                    </a:moveTo>
                    <a:lnTo>
                      <a:pt x="4644390" y="0"/>
                    </a:lnTo>
                    <a:lnTo>
                      <a:pt x="464439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8" name="Group 8"/>
            <p:cNvGrpSpPr/>
            <p:nvPr/>
          </p:nvGrpSpPr>
          <p:grpSpPr>
            <a:xfrm>
              <a:off x="4663376" y="2019300"/>
              <a:ext cx="8155178" cy="19050"/>
              <a:chOff x="0" y="0"/>
              <a:chExt cx="8155178" cy="190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155178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8155178" h="19050">
                    <a:moveTo>
                      <a:pt x="0" y="0"/>
                    </a:moveTo>
                    <a:lnTo>
                      <a:pt x="8155178" y="0"/>
                    </a:lnTo>
                    <a:lnTo>
                      <a:pt x="8155178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10" name="Group 10"/>
            <p:cNvGrpSpPr/>
            <p:nvPr/>
          </p:nvGrpSpPr>
          <p:grpSpPr>
            <a:xfrm>
              <a:off x="12818567" y="2019300"/>
              <a:ext cx="9222283" cy="19050"/>
              <a:chOff x="0" y="0"/>
              <a:chExt cx="9222283" cy="190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9222232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222232" h="19050">
                    <a:moveTo>
                      <a:pt x="0" y="0"/>
                    </a:moveTo>
                    <a:lnTo>
                      <a:pt x="9222232" y="0"/>
                    </a:lnTo>
                    <a:lnTo>
                      <a:pt x="9222232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12" name="Group 12"/>
            <p:cNvGrpSpPr/>
            <p:nvPr/>
          </p:nvGrpSpPr>
          <p:grpSpPr>
            <a:xfrm>
              <a:off x="19050" y="3028950"/>
              <a:ext cx="4644326" cy="19050"/>
              <a:chOff x="0" y="0"/>
              <a:chExt cx="4644326" cy="1905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464439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644390" h="19050">
                    <a:moveTo>
                      <a:pt x="0" y="0"/>
                    </a:moveTo>
                    <a:lnTo>
                      <a:pt x="4644390" y="0"/>
                    </a:lnTo>
                    <a:lnTo>
                      <a:pt x="464439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14" name="Group 14"/>
            <p:cNvGrpSpPr/>
            <p:nvPr/>
          </p:nvGrpSpPr>
          <p:grpSpPr>
            <a:xfrm>
              <a:off x="4663376" y="3028950"/>
              <a:ext cx="8155178" cy="19050"/>
              <a:chOff x="0" y="0"/>
              <a:chExt cx="8155178" cy="1905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55178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8155178" h="19050">
                    <a:moveTo>
                      <a:pt x="0" y="0"/>
                    </a:moveTo>
                    <a:lnTo>
                      <a:pt x="8155178" y="0"/>
                    </a:lnTo>
                    <a:lnTo>
                      <a:pt x="8155178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16" name="Group 16"/>
            <p:cNvGrpSpPr/>
            <p:nvPr/>
          </p:nvGrpSpPr>
          <p:grpSpPr>
            <a:xfrm>
              <a:off x="12818567" y="3028950"/>
              <a:ext cx="9222283" cy="19050"/>
              <a:chOff x="0" y="0"/>
              <a:chExt cx="9222283" cy="1905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9222232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222232" h="19050">
                    <a:moveTo>
                      <a:pt x="0" y="0"/>
                    </a:moveTo>
                    <a:lnTo>
                      <a:pt x="9222232" y="0"/>
                    </a:lnTo>
                    <a:lnTo>
                      <a:pt x="9222232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18" name="Group 18"/>
            <p:cNvGrpSpPr/>
            <p:nvPr/>
          </p:nvGrpSpPr>
          <p:grpSpPr>
            <a:xfrm>
              <a:off x="19050" y="4038600"/>
              <a:ext cx="4644326" cy="19050"/>
              <a:chOff x="0" y="0"/>
              <a:chExt cx="4644326" cy="190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464439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644390" h="19050">
                    <a:moveTo>
                      <a:pt x="0" y="0"/>
                    </a:moveTo>
                    <a:lnTo>
                      <a:pt x="4644390" y="0"/>
                    </a:lnTo>
                    <a:lnTo>
                      <a:pt x="464439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20" name="Group 20"/>
            <p:cNvGrpSpPr/>
            <p:nvPr/>
          </p:nvGrpSpPr>
          <p:grpSpPr>
            <a:xfrm>
              <a:off x="4663376" y="4038600"/>
              <a:ext cx="8155178" cy="19050"/>
              <a:chOff x="0" y="0"/>
              <a:chExt cx="8155178" cy="190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8155178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8155178" h="19050">
                    <a:moveTo>
                      <a:pt x="0" y="0"/>
                    </a:moveTo>
                    <a:lnTo>
                      <a:pt x="8155178" y="0"/>
                    </a:lnTo>
                    <a:lnTo>
                      <a:pt x="8155178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22" name="Group 22"/>
            <p:cNvGrpSpPr/>
            <p:nvPr/>
          </p:nvGrpSpPr>
          <p:grpSpPr>
            <a:xfrm>
              <a:off x="12818567" y="4038600"/>
              <a:ext cx="9222283" cy="19050"/>
              <a:chOff x="0" y="0"/>
              <a:chExt cx="9222283" cy="190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9222232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222232" h="19050">
                    <a:moveTo>
                      <a:pt x="0" y="0"/>
                    </a:moveTo>
                    <a:lnTo>
                      <a:pt x="9222232" y="0"/>
                    </a:lnTo>
                    <a:lnTo>
                      <a:pt x="9222232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19050" y="5048250"/>
              <a:ext cx="4644326" cy="19050"/>
              <a:chOff x="0" y="0"/>
              <a:chExt cx="4644326" cy="1905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464439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644390" h="19050">
                    <a:moveTo>
                      <a:pt x="0" y="0"/>
                    </a:moveTo>
                    <a:lnTo>
                      <a:pt x="4644390" y="0"/>
                    </a:lnTo>
                    <a:lnTo>
                      <a:pt x="464439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4663376" y="5048250"/>
              <a:ext cx="8155178" cy="19050"/>
              <a:chOff x="0" y="0"/>
              <a:chExt cx="8155178" cy="1905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8155178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8155178" h="19050">
                    <a:moveTo>
                      <a:pt x="0" y="0"/>
                    </a:moveTo>
                    <a:lnTo>
                      <a:pt x="8155178" y="0"/>
                    </a:lnTo>
                    <a:lnTo>
                      <a:pt x="8155178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  <p:grpSp>
          <p:nvGrpSpPr>
            <p:cNvPr id="28" name="Group 28"/>
            <p:cNvGrpSpPr/>
            <p:nvPr/>
          </p:nvGrpSpPr>
          <p:grpSpPr>
            <a:xfrm>
              <a:off x="12818567" y="5048250"/>
              <a:ext cx="9222283" cy="19050"/>
              <a:chOff x="0" y="0"/>
              <a:chExt cx="9222283" cy="190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9222232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222232" h="19050">
                    <a:moveTo>
                      <a:pt x="0" y="0"/>
                    </a:moveTo>
                    <a:lnTo>
                      <a:pt x="9222232" y="0"/>
                    </a:lnTo>
                    <a:lnTo>
                      <a:pt x="9222232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</p:sp>
        </p:grpSp>
      </p:grp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746304"/>
              </p:ext>
            </p:extLst>
          </p:nvPr>
        </p:nvGraphicFramePr>
        <p:xfrm>
          <a:off x="871538" y="2357439"/>
          <a:ext cx="16497300" cy="4457699"/>
        </p:xfrm>
        <a:graphic>
          <a:graphicData uri="http://schemas.openxmlformats.org/drawingml/2006/table">
            <a:tbl>
              <a:tblPr/>
              <a:tblGrid>
                <a:gridCol w="34792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9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2949">
                <a:tc>
                  <a:txBody>
                    <a:bodyPr/>
                    <a:lstStyle/>
                    <a:p>
                      <a:pPr algn="l">
                        <a:lnSpc>
                          <a:spcPts val="2430"/>
                        </a:lnSpc>
                        <a:defRPr/>
                      </a:pPr>
                      <a:r>
                        <a:rPr lang="en-US" sz="2025" b="1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Feature / Metric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430"/>
                        </a:lnSpc>
                        <a:defRPr/>
                      </a:pPr>
                      <a:r>
                        <a:rPr lang="en-US" sz="2025" b="1" dirty="0">
                          <a:solidFill>
                            <a:srgbClr val="CBD5E1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Central Processing Unit (CPU)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430"/>
                        </a:lnSpc>
                        <a:defRPr/>
                      </a:pPr>
                      <a:r>
                        <a:rPr lang="en-US" sz="2025" b="1" dirty="0">
                          <a:solidFill>
                            <a:srgbClr val="38BDF8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Neural Processing Unit (NPU)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49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334155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Primary Focus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General-purpose computing tasks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1D4ED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Specialized AI &amp; ML computations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49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334155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Execution Style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Sequential execution / Few complex cores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1D4ED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Massively parallel / Tensor matrix engines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49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334155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AI Efficiency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Lower efficiency for neural networks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1D4ED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Ultra-high throughput &amp; optimized performance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949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334155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Power Consumption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Higher energy draw under heavy AI load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1D4ED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Low power draw optimized for battery devices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2954"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334155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Primary Workloads</a:t>
                      </a:r>
                      <a:endParaRPr lang="en-US" sz="110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OS operations, logic, web browsing, apps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1D4ED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Facial recognition, speech, generative AI</a:t>
                      </a:r>
                      <a:endParaRPr lang="en-US" sz="1100" dirty="0"/>
                    </a:p>
                  </a:txBody>
                  <a:tcPr marL="63500" marR="63500" marT="63500" marB="63500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0" name="Group 30"/>
          <p:cNvGrpSpPr/>
          <p:nvPr/>
        </p:nvGrpSpPr>
        <p:grpSpPr>
          <a:xfrm>
            <a:off x="871538" y="728662"/>
            <a:ext cx="17372171" cy="642938"/>
            <a:chOff x="0" y="0"/>
            <a:chExt cx="23162895" cy="85725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3162895" cy="857250"/>
            </a:xfrm>
            <a:custGeom>
              <a:avLst/>
              <a:gdLst/>
              <a:ahLst/>
              <a:cxnLst/>
              <a:rect l="l" t="t" r="r" b="b"/>
              <a:pathLst>
                <a:path w="23162895" h="857250">
                  <a:moveTo>
                    <a:pt x="0" y="0"/>
                  </a:moveTo>
                  <a:lnTo>
                    <a:pt x="23162895" y="0"/>
                  </a:lnTo>
                  <a:lnTo>
                    <a:pt x="23162895" y="857250"/>
                  </a:lnTo>
                  <a:lnTo>
                    <a:pt x="0" y="857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76485" b="-476485"/>
              </a:stretch>
            </a:blipFill>
          </p:spPr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23162895" cy="876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60"/>
                </a:lnSpc>
              </a:pPr>
              <a:r>
                <a:rPr lang="en-US" sz="4050" b="1">
                  <a:solidFill>
                    <a:srgbClr val="0F172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NPU vs. CPU: Architectural Comparison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871538" y="2500312"/>
            <a:ext cx="8143161" cy="3036094"/>
            <a:chOff x="0" y="0"/>
            <a:chExt cx="10857548" cy="404812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0839450" cy="4048125"/>
              <a:chOff x="0" y="0"/>
              <a:chExt cx="10839450" cy="4048125"/>
            </a:xfrm>
          </p:grpSpPr>
          <p:sp>
            <p:nvSpPr>
              <p:cNvPr id="6" name="Freeform 6" descr="image.png"/>
              <p:cNvSpPr/>
              <p:nvPr/>
            </p:nvSpPr>
            <p:spPr>
              <a:xfrm>
                <a:off x="0" y="0"/>
                <a:ext cx="10839450" cy="4048125"/>
              </a:xfrm>
              <a:custGeom>
                <a:avLst/>
                <a:gdLst/>
                <a:ahLst/>
                <a:cxnLst/>
                <a:rect l="l" t="t" r="r" b="b"/>
                <a:pathLst>
                  <a:path w="10839450" h="4048125">
                    <a:moveTo>
                      <a:pt x="0" y="0"/>
                    </a:moveTo>
                    <a:lnTo>
                      <a:pt x="10839450" y="0"/>
                    </a:lnTo>
                    <a:lnTo>
                      <a:pt x="10839450" y="4048125"/>
                    </a:lnTo>
                    <a:lnTo>
                      <a:pt x="0" y="40481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9" b="-29"/>
                </a:stretch>
              </a:blipFill>
            </p:spPr>
          </p:sp>
        </p:grpSp>
        <p:grpSp>
          <p:nvGrpSpPr>
            <p:cNvPr id="7" name="Group 7"/>
            <p:cNvGrpSpPr/>
            <p:nvPr/>
          </p:nvGrpSpPr>
          <p:grpSpPr>
            <a:xfrm>
              <a:off x="476250" y="476250"/>
              <a:ext cx="914400" cy="914400"/>
              <a:chOff x="0" y="0"/>
              <a:chExt cx="914400" cy="914400"/>
            </a:xfrm>
          </p:grpSpPr>
          <p:sp>
            <p:nvSpPr>
              <p:cNvPr id="8" name="Freeform 8" descr="image.png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476250" y="1638300"/>
              <a:ext cx="10381298" cy="495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Optimized for AI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6250" y="2238375"/>
              <a:ext cx="9886950" cy="9048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Designed with dedicated hardware architecture specifically tuned for neural network algorithms, deep learning layers, and tensor operations.</a:t>
              </a:r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752475" y="723900"/>
              <a:ext cx="361950" cy="419100"/>
              <a:chOff x="0" y="0"/>
              <a:chExt cx="361950" cy="419100"/>
            </a:xfrm>
          </p:grpSpPr>
          <p:sp>
            <p:nvSpPr>
              <p:cNvPr id="12" name="Freeform 12" descr="image.png"/>
              <p:cNvSpPr/>
              <p:nvPr/>
            </p:nvSpPr>
            <p:spPr>
              <a:xfrm>
                <a:off x="0" y="0"/>
                <a:ext cx="36195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361950" h="419100">
                    <a:moveTo>
                      <a:pt x="0" y="0"/>
                    </a:moveTo>
                    <a:lnTo>
                      <a:pt x="361950" y="0"/>
                    </a:lnTo>
                    <a:lnTo>
                      <a:pt x="361950" y="419100"/>
                    </a:lnTo>
                    <a:lnTo>
                      <a:pt x="0" y="4191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2631" r="-2631"/>
                </a:stretch>
              </a:blipFill>
            </p:spPr>
          </p:sp>
        </p:grpSp>
      </p:grpSp>
      <p:grpSp>
        <p:nvGrpSpPr>
          <p:cNvPr id="13" name="Group 13"/>
          <p:cNvGrpSpPr/>
          <p:nvPr/>
        </p:nvGrpSpPr>
        <p:grpSpPr>
          <a:xfrm>
            <a:off x="9286875" y="2500312"/>
            <a:ext cx="8143161" cy="3036094"/>
            <a:chOff x="0" y="0"/>
            <a:chExt cx="10857548" cy="404812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0839450" cy="4048125"/>
              <a:chOff x="0" y="0"/>
              <a:chExt cx="10839450" cy="4048125"/>
            </a:xfrm>
          </p:grpSpPr>
          <p:sp>
            <p:nvSpPr>
              <p:cNvPr id="15" name="Freeform 15" descr="image.png"/>
              <p:cNvSpPr/>
              <p:nvPr/>
            </p:nvSpPr>
            <p:spPr>
              <a:xfrm>
                <a:off x="0" y="0"/>
                <a:ext cx="10839450" cy="4048125"/>
              </a:xfrm>
              <a:custGeom>
                <a:avLst/>
                <a:gdLst/>
                <a:ahLst/>
                <a:cxnLst/>
                <a:rect l="l" t="t" r="r" b="b"/>
                <a:pathLst>
                  <a:path w="10839450" h="4048125">
                    <a:moveTo>
                      <a:pt x="0" y="0"/>
                    </a:moveTo>
                    <a:lnTo>
                      <a:pt x="10839450" y="0"/>
                    </a:lnTo>
                    <a:lnTo>
                      <a:pt x="10839450" y="4048125"/>
                    </a:lnTo>
                    <a:lnTo>
                      <a:pt x="0" y="40481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29" b="-29"/>
                </a:stretch>
              </a:blipFill>
            </p:spPr>
          </p:sp>
        </p:grpSp>
        <p:grpSp>
          <p:nvGrpSpPr>
            <p:cNvPr id="16" name="Group 16"/>
            <p:cNvGrpSpPr/>
            <p:nvPr/>
          </p:nvGrpSpPr>
          <p:grpSpPr>
            <a:xfrm>
              <a:off x="476250" y="476250"/>
              <a:ext cx="914400" cy="914400"/>
              <a:chOff x="0" y="0"/>
              <a:chExt cx="914400" cy="914400"/>
            </a:xfrm>
          </p:grpSpPr>
          <p:sp>
            <p:nvSpPr>
              <p:cNvPr id="17" name="Freeform 17" descr="image.png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476250" y="1638300"/>
              <a:ext cx="10381298" cy="495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Parallel Processing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76250" y="2238375"/>
              <a:ext cx="9886950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Executes thousands of matrix math calculations simultaneously, providing the extreme data throughput essential for real-time AI workloads.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95325" y="723900"/>
              <a:ext cx="476250" cy="419100"/>
              <a:chOff x="0" y="0"/>
              <a:chExt cx="476250" cy="419100"/>
            </a:xfrm>
          </p:grpSpPr>
          <p:sp>
            <p:nvSpPr>
              <p:cNvPr id="21" name="Freeform 21" descr="image.png"/>
              <p:cNvSpPr/>
              <p:nvPr/>
            </p:nvSpPr>
            <p:spPr>
              <a:xfrm>
                <a:off x="0" y="0"/>
                <a:ext cx="47625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419100">
                    <a:moveTo>
                      <a:pt x="0" y="0"/>
                    </a:moveTo>
                    <a:lnTo>
                      <a:pt x="476250" y="0"/>
                    </a:lnTo>
                    <a:lnTo>
                      <a:pt x="476250" y="419100"/>
                    </a:lnTo>
                    <a:lnTo>
                      <a:pt x="0" y="4191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000" r="-2000"/>
                </a:stretch>
              </a:blipFill>
            </p:spPr>
          </p:sp>
        </p:grpSp>
      </p:grpSp>
      <p:grpSp>
        <p:nvGrpSpPr>
          <p:cNvPr id="22" name="Group 22"/>
          <p:cNvGrpSpPr/>
          <p:nvPr/>
        </p:nvGrpSpPr>
        <p:grpSpPr>
          <a:xfrm>
            <a:off x="9286875" y="5822156"/>
            <a:ext cx="8143161" cy="3036094"/>
            <a:chOff x="0" y="0"/>
            <a:chExt cx="10857548" cy="4048125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10839450" cy="4048125"/>
              <a:chOff x="0" y="0"/>
              <a:chExt cx="10839450" cy="4048125"/>
            </a:xfrm>
          </p:grpSpPr>
          <p:sp>
            <p:nvSpPr>
              <p:cNvPr id="24" name="Freeform 24" descr="image.png"/>
              <p:cNvSpPr/>
              <p:nvPr/>
            </p:nvSpPr>
            <p:spPr>
              <a:xfrm>
                <a:off x="0" y="0"/>
                <a:ext cx="10839450" cy="4048125"/>
              </a:xfrm>
              <a:custGeom>
                <a:avLst/>
                <a:gdLst/>
                <a:ahLst/>
                <a:cxnLst/>
                <a:rect l="l" t="t" r="r" b="b"/>
                <a:pathLst>
                  <a:path w="10839450" h="4048125">
                    <a:moveTo>
                      <a:pt x="0" y="0"/>
                    </a:moveTo>
                    <a:lnTo>
                      <a:pt x="10839450" y="0"/>
                    </a:lnTo>
                    <a:lnTo>
                      <a:pt x="10839450" y="4048125"/>
                    </a:lnTo>
                    <a:lnTo>
                      <a:pt x="0" y="40481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t="-29" b="-29"/>
                </a:stretch>
              </a:blipFill>
            </p:spPr>
          </p:sp>
        </p:grpSp>
        <p:grpSp>
          <p:nvGrpSpPr>
            <p:cNvPr id="25" name="Group 25"/>
            <p:cNvGrpSpPr/>
            <p:nvPr/>
          </p:nvGrpSpPr>
          <p:grpSpPr>
            <a:xfrm>
              <a:off x="476250" y="476250"/>
              <a:ext cx="914400" cy="914400"/>
              <a:chOff x="0" y="0"/>
              <a:chExt cx="914400" cy="914400"/>
            </a:xfrm>
          </p:grpSpPr>
          <p:sp>
            <p:nvSpPr>
              <p:cNvPr id="26" name="Freeform 26" descr="image.png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t="-1041" b="-1041"/>
                </a:stretch>
              </a:blipFill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476250" y="1638300"/>
              <a:ext cx="10381298" cy="495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On-Device Privacy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6250" y="2238375"/>
              <a:ext cx="9886950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Enables local AI processing directly on the hardware. Reduces latency and keeps sensitive personal data on the device without cloud dependency.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723900" y="723900"/>
              <a:ext cx="419100" cy="419100"/>
              <a:chOff x="0" y="0"/>
              <a:chExt cx="419100" cy="419100"/>
            </a:xfrm>
          </p:grpSpPr>
          <p:sp>
            <p:nvSpPr>
              <p:cNvPr id="30" name="Freeform 30" descr="image.png"/>
              <p:cNvSpPr/>
              <p:nvPr/>
            </p:nvSpPr>
            <p:spPr>
              <a:xfrm>
                <a:off x="0" y="0"/>
                <a:ext cx="41910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419100" h="419100">
                    <a:moveTo>
                      <a:pt x="0" y="0"/>
                    </a:moveTo>
                    <a:lnTo>
                      <a:pt x="419100" y="0"/>
                    </a:lnTo>
                    <a:lnTo>
                      <a:pt x="419100" y="419100"/>
                    </a:lnTo>
                    <a:lnTo>
                      <a:pt x="0" y="4191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t="-2272" b="-2272"/>
                </a:stretch>
              </a:blipFill>
            </p:spPr>
          </p:sp>
        </p:grpSp>
      </p:grpSp>
      <p:grpSp>
        <p:nvGrpSpPr>
          <p:cNvPr id="31" name="Group 31"/>
          <p:cNvGrpSpPr/>
          <p:nvPr/>
        </p:nvGrpSpPr>
        <p:grpSpPr>
          <a:xfrm>
            <a:off x="871538" y="728662"/>
            <a:ext cx="17372171" cy="642938"/>
            <a:chOff x="0" y="0"/>
            <a:chExt cx="23162895" cy="85725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3162895" cy="857250"/>
            </a:xfrm>
            <a:custGeom>
              <a:avLst/>
              <a:gdLst/>
              <a:ahLst/>
              <a:cxnLst/>
              <a:rect l="l" t="t" r="r" b="b"/>
              <a:pathLst>
                <a:path w="23162895" h="857250">
                  <a:moveTo>
                    <a:pt x="0" y="0"/>
                  </a:moveTo>
                  <a:lnTo>
                    <a:pt x="23162895" y="0"/>
                  </a:lnTo>
                  <a:lnTo>
                    <a:pt x="23162895" y="857250"/>
                  </a:lnTo>
                  <a:lnTo>
                    <a:pt x="0" y="857250"/>
                  </a:lnTo>
                  <a:close/>
                </a:path>
              </a:pathLst>
            </a:custGeom>
            <a:blipFill>
              <a:blip r:embed="rId11">
                <a:alphaModFix amt="0"/>
              </a:blip>
              <a:stretch>
                <a:fillRect t="-476485" b="-476485"/>
              </a:stretch>
            </a:blip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23162895" cy="876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60"/>
                </a:lnSpc>
              </a:pPr>
              <a:r>
                <a:rPr lang="en-US" sz="4050" b="1">
                  <a:solidFill>
                    <a:srgbClr val="0F172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Key Features &amp; Technical Advantages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871538" y="5822156"/>
            <a:ext cx="8143161" cy="3036094"/>
            <a:chOff x="0" y="0"/>
            <a:chExt cx="10857548" cy="4048125"/>
          </a:xfrm>
        </p:grpSpPr>
        <p:grpSp>
          <p:nvGrpSpPr>
            <p:cNvPr id="35" name="Group 35"/>
            <p:cNvGrpSpPr/>
            <p:nvPr/>
          </p:nvGrpSpPr>
          <p:grpSpPr>
            <a:xfrm>
              <a:off x="0" y="0"/>
              <a:ext cx="10839450" cy="4048125"/>
              <a:chOff x="0" y="0"/>
              <a:chExt cx="10839450" cy="4048125"/>
            </a:xfrm>
          </p:grpSpPr>
          <p:sp>
            <p:nvSpPr>
              <p:cNvPr id="36" name="Freeform 36" descr="image.png"/>
              <p:cNvSpPr/>
              <p:nvPr/>
            </p:nvSpPr>
            <p:spPr>
              <a:xfrm>
                <a:off x="0" y="0"/>
                <a:ext cx="10839450" cy="4048125"/>
              </a:xfrm>
              <a:custGeom>
                <a:avLst/>
                <a:gdLst/>
                <a:ahLst/>
                <a:cxnLst/>
                <a:rect l="l" t="t" r="r" b="b"/>
                <a:pathLst>
                  <a:path w="10839450" h="4048125">
                    <a:moveTo>
                      <a:pt x="0" y="0"/>
                    </a:moveTo>
                    <a:lnTo>
                      <a:pt x="10839450" y="0"/>
                    </a:lnTo>
                    <a:lnTo>
                      <a:pt x="10839450" y="4048125"/>
                    </a:lnTo>
                    <a:lnTo>
                      <a:pt x="0" y="40481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t="-29" b="-29"/>
                </a:stretch>
              </a:blipFill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476250" y="476250"/>
              <a:ext cx="914400" cy="914400"/>
              <a:chOff x="0" y="0"/>
              <a:chExt cx="914400" cy="914400"/>
            </a:xfrm>
          </p:grpSpPr>
          <p:sp>
            <p:nvSpPr>
              <p:cNvPr id="38" name="Freeform 38" descr="image.png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t="-1041" b="-1041"/>
                </a:stretch>
              </a:blipFill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476250" y="1638300"/>
              <a:ext cx="10381298" cy="495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Low Power Consumption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76250" y="2238375"/>
              <a:ext cx="9886950" cy="9048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Delivers significantly higher performance-per-watt, dramatically saving battery life in mobile devices like smartphones and laptops.</a:t>
              </a:r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671694" y="684215"/>
              <a:ext cx="523512" cy="498470"/>
              <a:chOff x="0" y="0"/>
              <a:chExt cx="280098" cy="266700"/>
            </a:xfrm>
          </p:grpSpPr>
          <p:sp>
            <p:nvSpPr>
              <p:cNvPr id="42" name="Freeform 42" descr="image.png"/>
              <p:cNvSpPr/>
              <p:nvPr/>
            </p:nvSpPr>
            <p:spPr>
              <a:xfrm>
                <a:off x="0" y="0"/>
                <a:ext cx="28003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80035" h="266700">
                    <a:moveTo>
                      <a:pt x="0" y="0"/>
                    </a:moveTo>
                    <a:lnTo>
                      <a:pt x="280035" y="0"/>
                    </a:lnTo>
                    <a:lnTo>
                      <a:pt x="280035" y="266700"/>
                    </a:lnTo>
                    <a:lnTo>
                      <a:pt x="0" y="266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t="-2509" r="-22" b="-2514"/>
                </a:stretch>
              </a:blipFill>
            </p:spPr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4291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14438" y="7733557"/>
            <a:ext cx="257175" cy="257175"/>
            <a:chOff x="0" y="0"/>
            <a:chExt cx="342900" cy="34290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342900" cy="342900"/>
            </a:xfrm>
            <a:custGeom>
              <a:avLst/>
              <a:gdLst/>
              <a:ahLst/>
              <a:cxnLst/>
              <a:rect l="l" t="t" r="r" b="b"/>
              <a:pathLst>
                <a:path w="342900" h="342900">
                  <a:moveTo>
                    <a:pt x="0" y="0"/>
                  </a:moveTo>
                  <a:lnTo>
                    <a:pt x="342900" y="0"/>
                  </a:lnTo>
                  <a:lnTo>
                    <a:pt x="342900" y="342900"/>
                  </a:lnTo>
                  <a:lnTo>
                    <a:pt x="0" y="34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777" b="-2777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1643062" y="7590682"/>
            <a:ext cx="15473362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 b="1">
                <a:solidFill>
                  <a:srgbClr val="0F172A"/>
                </a:solidFill>
                <a:latin typeface="Inter Bold"/>
                <a:ea typeface="Inter Bold"/>
                <a:cs typeface="Inter Bold"/>
                <a:sym typeface="Inter Bold"/>
              </a:rPr>
              <a:t>SoC Integration Note:</a:t>
            </a:r>
            <a:r>
              <a:rPr lang="en-US" sz="1687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NPUs rarely operate in isolation. They are integrated alongside CPUs and GPUs into a single chip known as a </a:t>
            </a:r>
            <a:r>
              <a:rPr lang="en-US" sz="1687" b="1">
                <a:solidFill>
                  <a:srgbClr val="0F172A"/>
                </a:solidFill>
                <a:latin typeface="Inter Bold"/>
                <a:ea typeface="Inter Bold"/>
                <a:cs typeface="Inter Bold"/>
                <a:sym typeface="Inter Bold"/>
              </a:rPr>
              <a:t>System on Chip (SoC)</a:t>
            </a:r>
            <a:r>
              <a:rPr lang="en-US" sz="1687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71538" y="3039218"/>
            <a:ext cx="5343525" cy="1911401"/>
            <a:chOff x="0" y="0"/>
            <a:chExt cx="7124700" cy="2548534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7124700" cy="2548534"/>
              <a:chOff x="0" y="0"/>
              <a:chExt cx="7124700" cy="2548534"/>
            </a:xfrm>
          </p:grpSpPr>
          <p:sp>
            <p:nvSpPr>
              <p:cNvPr id="9" name="Freeform 9" descr="image.png"/>
              <p:cNvSpPr/>
              <p:nvPr/>
            </p:nvSpPr>
            <p:spPr>
              <a:xfrm>
                <a:off x="0" y="0"/>
                <a:ext cx="7124700" cy="2548509"/>
              </a:xfrm>
              <a:custGeom>
                <a:avLst/>
                <a:gdLst/>
                <a:ahLst/>
                <a:cxnLst/>
                <a:rect l="l" t="t" r="r" b="b"/>
                <a:pathLst>
                  <a:path w="7124700" h="2548509">
                    <a:moveTo>
                      <a:pt x="0" y="0"/>
                    </a:moveTo>
                    <a:lnTo>
                      <a:pt x="7124700" y="0"/>
                    </a:lnTo>
                    <a:lnTo>
                      <a:pt x="7124700" y="2548509"/>
                    </a:lnTo>
                    <a:lnTo>
                      <a:pt x="0" y="25485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t="-320" b="-321"/>
                </a:stretch>
              </a:blipFill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400050" y="990600"/>
              <a:ext cx="6324600" cy="1157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04"/>
                </a:lnSpc>
              </a:pPr>
              <a:r>
                <a:rPr lang="en-US" sz="15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Powers biometric face recognition, computational camera enhancements, scene detection, and virtual assistants.</a:t>
              </a:r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400050" y="428625"/>
              <a:ext cx="285750" cy="381000"/>
              <a:chOff x="0" y="0"/>
              <a:chExt cx="285750" cy="381000"/>
            </a:xfrm>
          </p:grpSpPr>
          <p:sp>
            <p:nvSpPr>
              <p:cNvPr id="12" name="Freeform 12" descr="image.png"/>
              <p:cNvSpPr/>
              <p:nvPr/>
            </p:nvSpPr>
            <p:spPr>
              <a:xfrm>
                <a:off x="0" y="0"/>
                <a:ext cx="28575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381000">
                    <a:moveTo>
                      <a:pt x="0" y="0"/>
                    </a:moveTo>
                    <a:lnTo>
                      <a:pt x="285750" y="0"/>
                    </a:lnTo>
                    <a:lnTo>
                      <a:pt x="285750" y="381000"/>
                    </a:lnTo>
                    <a:lnTo>
                      <a:pt x="0" y="381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2500" b="-2500"/>
                </a:stretch>
              </a:blipFill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914400" y="390525"/>
              <a:ext cx="2301227" cy="4476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Smartphones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472238" y="3039218"/>
            <a:ext cx="5343525" cy="1911401"/>
            <a:chOff x="0" y="0"/>
            <a:chExt cx="7124700" cy="2548534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7124700" cy="2548534"/>
              <a:chOff x="0" y="0"/>
              <a:chExt cx="7124700" cy="2548534"/>
            </a:xfrm>
          </p:grpSpPr>
          <p:sp>
            <p:nvSpPr>
              <p:cNvPr id="16" name="Freeform 16" descr="image.png"/>
              <p:cNvSpPr/>
              <p:nvPr/>
            </p:nvSpPr>
            <p:spPr>
              <a:xfrm>
                <a:off x="0" y="0"/>
                <a:ext cx="7124700" cy="2548509"/>
              </a:xfrm>
              <a:custGeom>
                <a:avLst/>
                <a:gdLst/>
                <a:ahLst/>
                <a:cxnLst/>
                <a:rect l="l" t="t" r="r" b="b"/>
                <a:pathLst>
                  <a:path w="7124700" h="2548509">
                    <a:moveTo>
                      <a:pt x="0" y="0"/>
                    </a:moveTo>
                    <a:lnTo>
                      <a:pt x="7124700" y="0"/>
                    </a:lnTo>
                    <a:lnTo>
                      <a:pt x="7124700" y="2548509"/>
                    </a:lnTo>
                    <a:lnTo>
                      <a:pt x="0" y="25485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87" b="-187"/>
                </a:stretch>
              </a:blipFill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00050" y="990600"/>
              <a:ext cx="6324600" cy="1157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04"/>
                </a:lnSpc>
              </a:pPr>
              <a:r>
                <a:rPr lang="en-US" sz="15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Enables real-time visual analysis, object detection, spatial tracking, and automated image segmentation.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400050" y="428625"/>
              <a:ext cx="438150" cy="381000"/>
              <a:chOff x="0" y="0"/>
              <a:chExt cx="438150" cy="381000"/>
            </a:xfrm>
          </p:grpSpPr>
          <p:sp>
            <p:nvSpPr>
              <p:cNvPr id="19" name="Freeform 19" descr="image.png"/>
              <p:cNvSpPr/>
              <p:nvPr/>
            </p:nvSpPr>
            <p:spPr>
              <a:xfrm>
                <a:off x="0" y="0"/>
                <a:ext cx="43815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438150" h="381000">
                    <a:moveTo>
                      <a:pt x="0" y="0"/>
                    </a:moveTo>
                    <a:lnTo>
                      <a:pt x="438150" y="0"/>
                    </a:lnTo>
                    <a:lnTo>
                      <a:pt x="438150" y="381000"/>
                    </a:lnTo>
                    <a:lnTo>
                      <a:pt x="0" y="381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t="-313" b="-313"/>
                </a:stretch>
              </a:blipFill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66800" y="390525"/>
              <a:ext cx="2812542" cy="4476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Computer Vision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072938" y="3039218"/>
            <a:ext cx="5343525" cy="1911401"/>
            <a:chOff x="0" y="0"/>
            <a:chExt cx="7124700" cy="2548534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7124700" cy="2548534"/>
              <a:chOff x="0" y="0"/>
              <a:chExt cx="7124700" cy="2548534"/>
            </a:xfrm>
          </p:grpSpPr>
          <p:sp>
            <p:nvSpPr>
              <p:cNvPr id="23" name="Freeform 23" descr="image.png"/>
              <p:cNvSpPr/>
              <p:nvPr/>
            </p:nvSpPr>
            <p:spPr>
              <a:xfrm>
                <a:off x="0" y="0"/>
                <a:ext cx="7124700" cy="2548509"/>
              </a:xfrm>
              <a:custGeom>
                <a:avLst/>
                <a:gdLst/>
                <a:ahLst/>
                <a:cxnLst/>
                <a:rect l="l" t="t" r="r" b="b"/>
                <a:pathLst>
                  <a:path w="7124700" h="2548509">
                    <a:moveTo>
                      <a:pt x="0" y="0"/>
                    </a:moveTo>
                    <a:lnTo>
                      <a:pt x="7124700" y="0"/>
                    </a:lnTo>
                    <a:lnTo>
                      <a:pt x="7124700" y="2548509"/>
                    </a:lnTo>
                    <a:lnTo>
                      <a:pt x="0" y="25485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t="-320" b="-321"/>
                </a:stretch>
              </a:blipFill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400050" y="428625"/>
              <a:ext cx="285750" cy="381000"/>
              <a:chOff x="0" y="0"/>
              <a:chExt cx="285750" cy="381000"/>
            </a:xfrm>
          </p:grpSpPr>
          <p:sp>
            <p:nvSpPr>
              <p:cNvPr id="25" name="Freeform 25" descr="image.png"/>
              <p:cNvSpPr/>
              <p:nvPr/>
            </p:nvSpPr>
            <p:spPr>
              <a:xfrm>
                <a:off x="0" y="0"/>
                <a:ext cx="28575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381000">
                    <a:moveTo>
                      <a:pt x="0" y="0"/>
                    </a:moveTo>
                    <a:lnTo>
                      <a:pt x="285750" y="0"/>
                    </a:lnTo>
                    <a:lnTo>
                      <a:pt x="285750" y="381000"/>
                    </a:lnTo>
                    <a:lnTo>
                      <a:pt x="0" y="381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l="-795" r="-791"/>
                </a:stretch>
              </a:blipFill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400050" y="990600"/>
              <a:ext cx="6324600" cy="7846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04"/>
                </a:lnSpc>
              </a:pPr>
              <a:r>
                <a:rPr lang="en-US" sz="15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Accelerates on-device speech-to-text conversion, real-time audio translation, and noise suppression.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14400" y="390525"/>
              <a:ext cx="3038196" cy="4476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Voice Recognition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71538" y="5207794"/>
            <a:ext cx="5343525" cy="1911401"/>
            <a:chOff x="0" y="0"/>
            <a:chExt cx="7124700" cy="2548534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7124700" cy="2548534"/>
              <a:chOff x="0" y="0"/>
              <a:chExt cx="7124700" cy="2548534"/>
            </a:xfrm>
          </p:grpSpPr>
          <p:sp>
            <p:nvSpPr>
              <p:cNvPr id="30" name="Freeform 30" descr="image.png"/>
              <p:cNvSpPr/>
              <p:nvPr/>
            </p:nvSpPr>
            <p:spPr>
              <a:xfrm>
                <a:off x="0" y="0"/>
                <a:ext cx="7124700" cy="2548509"/>
              </a:xfrm>
              <a:custGeom>
                <a:avLst/>
                <a:gdLst/>
                <a:ahLst/>
                <a:cxnLst/>
                <a:rect l="l" t="t" r="r" b="b"/>
                <a:pathLst>
                  <a:path w="7124700" h="2548509">
                    <a:moveTo>
                      <a:pt x="0" y="0"/>
                    </a:moveTo>
                    <a:lnTo>
                      <a:pt x="7124700" y="0"/>
                    </a:lnTo>
                    <a:lnTo>
                      <a:pt x="7124700" y="2548509"/>
                    </a:lnTo>
                    <a:lnTo>
                      <a:pt x="0" y="25485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t="-320" b="-321"/>
                </a:stretch>
              </a:blipFill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400050" y="990600"/>
              <a:ext cx="6324600" cy="7846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04"/>
                </a:lnSpc>
              </a:pPr>
              <a:r>
                <a:rPr lang="en-US" sz="15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Runs local Large Language Models (LLMs) and image generation tools directly on user hardware.</a:t>
              </a:r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400050" y="428625"/>
              <a:ext cx="476250" cy="381000"/>
              <a:chOff x="0" y="0"/>
              <a:chExt cx="476250" cy="381000"/>
            </a:xfrm>
          </p:grpSpPr>
          <p:sp>
            <p:nvSpPr>
              <p:cNvPr id="33" name="Freeform 33" descr="image.png"/>
              <p:cNvSpPr/>
              <p:nvPr/>
            </p:nvSpPr>
            <p:spPr>
              <a:xfrm>
                <a:off x="0" y="0"/>
                <a:ext cx="47625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381000">
                    <a:moveTo>
                      <a:pt x="0" y="0"/>
                    </a:moveTo>
                    <a:lnTo>
                      <a:pt x="476250" y="0"/>
                    </a:lnTo>
                    <a:lnTo>
                      <a:pt x="476250" y="381000"/>
                    </a:lnTo>
                    <a:lnTo>
                      <a:pt x="0" y="381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104900" y="390525"/>
              <a:ext cx="2246846" cy="4476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Generative AI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472238" y="5207794"/>
            <a:ext cx="5343525" cy="1911401"/>
            <a:chOff x="0" y="0"/>
            <a:chExt cx="7124700" cy="2548534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7124700" cy="2548534"/>
              <a:chOff x="0" y="0"/>
              <a:chExt cx="7124700" cy="2548534"/>
            </a:xfrm>
          </p:grpSpPr>
          <p:sp>
            <p:nvSpPr>
              <p:cNvPr id="37" name="Freeform 37" descr="image.png"/>
              <p:cNvSpPr/>
              <p:nvPr/>
            </p:nvSpPr>
            <p:spPr>
              <a:xfrm>
                <a:off x="0" y="0"/>
                <a:ext cx="7124700" cy="2548509"/>
              </a:xfrm>
              <a:custGeom>
                <a:avLst/>
                <a:gdLst/>
                <a:ahLst/>
                <a:cxnLst/>
                <a:rect l="l" t="t" r="r" b="b"/>
                <a:pathLst>
                  <a:path w="7124700" h="2548509">
                    <a:moveTo>
                      <a:pt x="0" y="0"/>
                    </a:moveTo>
                    <a:lnTo>
                      <a:pt x="7124700" y="0"/>
                    </a:lnTo>
                    <a:lnTo>
                      <a:pt x="7124700" y="2548509"/>
                    </a:lnTo>
                    <a:lnTo>
                      <a:pt x="0" y="25485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t="-187" b="-187"/>
                </a:stretch>
              </a:blipFill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400050" y="990600"/>
              <a:ext cx="6324600" cy="1157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04"/>
                </a:lnSpc>
              </a:pPr>
              <a:r>
                <a:rPr lang="en-US" sz="15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Processes real-time camera feeds and sensor arrays for instantaneous intelligent driving decisions.</a:t>
              </a:r>
            </a:p>
          </p:txBody>
        </p:sp>
        <p:grpSp>
          <p:nvGrpSpPr>
            <p:cNvPr id="39" name="Group 39"/>
            <p:cNvGrpSpPr/>
            <p:nvPr/>
          </p:nvGrpSpPr>
          <p:grpSpPr>
            <a:xfrm>
              <a:off x="400050" y="428625"/>
              <a:ext cx="381000" cy="381000"/>
              <a:chOff x="0" y="0"/>
              <a:chExt cx="381000" cy="381000"/>
            </a:xfrm>
          </p:grpSpPr>
          <p:sp>
            <p:nvSpPr>
              <p:cNvPr id="40" name="Freeform 40" descr="image.png"/>
              <p:cNvSpPr/>
              <p:nvPr/>
            </p:nvSpPr>
            <p:spPr>
              <a:xfrm>
                <a:off x="0" y="0"/>
                <a:ext cx="3810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381000">
                    <a:moveTo>
                      <a:pt x="0" y="0"/>
                    </a:moveTo>
                    <a:lnTo>
                      <a:pt x="381000" y="0"/>
                    </a:lnTo>
                    <a:lnTo>
                      <a:pt x="381000" y="381000"/>
                    </a:lnTo>
                    <a:lnTo>
                      <a:pt x="0" y="381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l="-2500" r="-2500"/>
                </a:stretch>
              </a:blipFill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09650" y="390525"/>
              <a:ext cx="3643897" cy="4476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Autonomous Vehicles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2072938" y="5207794"/>
            <a:ext cx="5343525" cy="1911401"/>
            <a:chOff x="0" y="0"/>
            <a:chExt cx="7124700" cy="2548534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7124700" cy="2548534"/>
              <a:chOff x="0" y="0"/>
              <a:chExt cx="7124700" cy="2548534"/>
            </a:xfrm>
          </p:grpSpPr>
          <p:sp>
            <p:nvSpPr>
              <p:cNvPr id="44" name="Freeform 44" descr="image.png"/>
              <p:cNvSpPr/>
              <p:nvPr/>
            </p:nvSpPr>
            <p:spPr>
              <a:xfrm>
                <a:off x="0" y="0"/>
                <a:ext cx="7124700" cy="2548509"/>
              </a:xfrm>
              <a:custGeom>
                <a:avLst/>
                <a:gdLst/>
                <a:ahLst/>
                <a:cxnLst/>
                <a:rect l="l" t="t" r="r" b="b"/>
                <a:pathLst>
                  <a:path w="7124700" h="2548509">
                    <a:moveTo>
                      <a:pt x="0" y="0"/>
                    </a:moveTo>
                    <a:lnTo>
                      <a:pt x="7124700" y="0"/>
                    </a:lnTo>
                    <a:lnTo>
                      <a:pt x="7124700" y="2548509"/>
                    </a:lnTo>
                    <a:lnTo>
                      <a:pt x="0" y="25485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t="-320" b="-321"/>
                </a:stretch>
              </a:blipFill>
            </p:spPr>
          </p:sp>
        </p:grpSp>
        <p:grpSp>
          <p:nvGrpSpPr>
            <p:cNvPr id="45" name="Group 45"/>
            <p:cNvGrpSpPr/>
            <p:nvPr/>
          </p:nvGrpSpPr>
          <p:grpSpPr>
            <a:xfrm>
              <a:off x="400050" y="428625"/>
              <a:ext cx="342900" cy="381000"/>
              <a:chOff x="0" y="0"/>
              <a:chExt cx="342900" cy="381000"/>
            </a:xfrm>
          </p:grpSpPr>
          <p:sp>
            <p:nvSpPr>
              <p:cNvPr id="46" name="Freeform 46" descr="image.png"/>
              <p:cNvSpPr/>
              <p:nvPr/>
            </p:nvSpPr>
            <p:spPr>
              <a:xfrm>
                <a:off x="0" y="0"/>
                <a:ext cx="3429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381000">
                    <a:moveTo>
                      <a:pt x="0" y="0"/>
                    </a:moveTo>
                    <a:lnTo>
                      <a:pt x="342900" y="0"/>
                    </a:lnTo>
                    <a:lnTo>
                      <a:pt x="342900" y="381000"/>
                    </a:lnTo>
                    <a:lnTo>
                      <a:pt x="0" y="381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l="-2777" r="-2777"/>
                </a:stretch>
              </a:blipFill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400050" y="990600"/>
              <a:ext cx="6324600" cy="7846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204"/>
                </a:lnSpc>
              </a:pPr>
              <a:r>
                <a:rPr lang="en-US" sz="1575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Drives smart surveillance systems with real-time video analytics and instant threat detection.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71550" y="390525"/>
              <a:ext cx="2905366" cy="4476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0"/>
                </a:lnSpc>
              </a:pPr>
              <a:r>
                <a:rPr lang="en-US" sz="2025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Security Systems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71538" y="728662"/>
            <a:ext cx="17372171" cy="642938"/>
            <a:chOff x="0" y="0"/>
            <a:chExt cx="23162895" cy="85725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23162895" cy="857250"/>
            </a:xfrm>
            <a:custGeom>
              <a:avLst/>
              <a:gdLst/>
              <a:ahLst/>
              <a:cxnLst/>
              <a:rect l="l" t="t" r="r" b="b"/>
              <a:pathLst>
                <a:path w="23162895" h="857250">
                  <a:moveTo>
                    <a:pt x="0" y="0"/>
                  </a:moveTo>
                  <a:lnTo>
                    <a:pt x="23162895" y="0"/>
                  </a:lnTo>
                  <a:lnTo>
                    <a:pt x="23162895" y="857250"/>
                  </a:lnTo>
                  <a:lnTo>
                    <a:pt x="0" y="857250"/>
                  </a:lnTo>
                  <a:close/>
                </a:path>
              </a:pathLst>
            </a:custGeom>
            <a:blipFill>
              <a:blip r:embed="rId15">
                <a:alphaModFix amt="0"/>
              </a:blip>
              <a:stretch>
                <a:fillRect t="-476485" b="-476485"/>
              </a:stretch>
            </a:blip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23162895" cy="876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60"/>
                </a:lnSpc>
              </a:pPr>
              <a:r>
                <a:rPr lang="en-US" sz="4050" b="1">
                  <a:solidFill>
                    <a:srgbClr val="0F172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Real-World Applications of NPUs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9429750" y="1714500"/>
            <a:ext cx="7829550" cy="6858000"/>
            <a:chOff x="0" y="0"/>
            <a:chExt cx="10439400" cy="9144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439400" cy="9144000"/>
            </a:xfrm>
            <a:custGeom>
              <a:avLst/>
              <a:gdLst/>
              <a:ahLst/>
              <a:cxnLst/>
              <a:rect l="l" t="t" r="r" b="b"/>
              <a:pathLst>
                <a:path w="10439400" h="9144000">
                  <a:moveTo>
                    <a:pt x="0" y="0"/>
                  </a:moveTo>
                  <a:lnTo>
                    <a:pt x="10439400" y="0"/>
                  </a:lnTo>
                  <a:lnTo>
                    <a:pt x="104394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8031" b="-17690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871538" y="2985421"/>
            <a:ext cx="7986712" cy="4316158"/>
            <a:chOff x="0" y="0"/>
            <a:chExt cx="10648950" cy="5754878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8215793" cy="666750"/>
              <a:chOff x="0" y="0"/>
              <a:chExt cx="8215793" cy="666750"/>
            </a:xfrm>
          </p:grpSpPr>
          <p:sp>
            <p:nvSpPr>
              <p:cNvPr id="8" name="Freeform 8" descr="image.png"/>
              <p:cNvSpPr/>
              <p:nvPr/>
            </p:nvSpPr>
            <p:spPr>
              <a:xfrm>
                <a:off x="0" y="0"/>
                <a:ext cx="8215712" cy="666750"/>
              </a:xfrm>
              <a:custGeom>
                <a:avLst/>
                <a:gdLst/>
                <a:ahLst/>
                <a:cxnLst/>
                <a:rect l="l" t="t" r="r" b="b"/>
                <a:pathLst>
                  <a:path w="8215712" h="666750">
                    <a:moveTo>
                      <a:pt x="0" y="0"/>
                    </a:moveTo>
                    <a:lnTo>
                      <a:pt x="8215712" y="0"/>
                    </a:lnTo>
                    <a:lnTo>
                      <a:pt x="8215712" y="666750"/>
                    </a:lnTo>
                    <a:lnTo>
                      <a:pt x="0" y="666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t="-17620" b="-17623"/>
                </a:stretch>
              </a:blipFill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0" y="4973828"/>
              <a:ext cx="7990119" cy="781050"/>
              <a:chOff x="0" y="0"/>
              <a:chExt cx="7990119" cy="781050"/>
            </a:xfrm>
          </p:grpSpPr>
          <p:sp>
            <p:nvSpPr>
              <p:cNvPr id="10" name="Freeform 10" descr="image.png"/>
              <p:cNvSpPr/>
              <p:nvPr/>
            </p:nvSpPr>
            <p:spPr>
              <a:xfrm>
                <a:off x="0" y="0"/>
                <a:ext cx="7990119" cy="781050"/>
              </a:xfrm>
              <a:custGeom>
                <a:avLst/>
                <a:gdLst/>
                <a:ahLst/>
                <a:cxnLst/>
                <a:rect l="l" t="t" r="r" b="b"/>
                <a:pathLst>
                  <a:path w="7990119" h="781050">
                    <a:moveTo>
                      <a:pt x="0" y="0"/>
                    </a:moveTo>
                    <a:lnTo>
                      <a:pt x="7990119" y="0"/>
                    </a:lnTo>
                    <a:lnTo>
                      <a:pt x="7990119" y="781050"/>
                    </a:lnTo>
                    <a:lnTo>
                      <a:pt x="0" y="7810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11205" b="-11203"/>
                </a:stretch>
              </a:blip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323850" y="200025"/>
              <a:ext cx="280098" cy="266700"/>
              <a:chOff x="0" y="0"/>
              <a:chExt cx="280098" cy="266700"/>
            </a:xfrm>
          </p:grpSpPr>
          <p:sp>
            <p:nvSpPr>
              <p:cNvPr id="12" name="Freeform 12" descr="image.png"/>
              <p:cNvSpPr/>
              <p:nvPr/>
            </p:nvSpPr>
            <p:spPr>
              <a:xfrm>
                <a:off x="0" y="0"/>
                <a:ext cx="28003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80035" h="266700">
                    <a:moveTo>
                      <a:pt x="0" y="0"/>
                    </a:moveTo>
                    <a:lnTo>
                      <a:pt x="280035" y="0"/>
                    </a:lnTo>
                    <a:lnTo>
                      <a:pt x="280035" y="266700"/>
                    </a:lnTo>
                    <a:lnTo>
                      <a:pt x="0" y="266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2509" r="-22" b="-2514"/>
                </a:stretch>
              </a:blipFill>
            </p:spPr>
          </p:sp>
        </p:grpSp>
        <p:grpSp>
          <p:nvGrpSpPr>
            <p:cNvPr id="13" name="Group 13"/>
            <p:cNvGrpSpPr/>
            <p:nvPr/>
          </p:nvGrpSpPr>
          <p:grpSpPr>
            <a:xfrm>
              <a:off x="400050" y="5221478"/>
              <a:ext cx="323850" cy="285750"/>
              <a:chOff x="0" y="0"/>
              <a:chExt cx="323850" cy="285750"/>
            </a:xfrm>
          </p:grpSpPr>
          <p:sp>
            <p:nvSpPr>
              <p:cNvPr id="14" name="Freeform 14" descr="image.png"/>
              <p:cNvSpPr/>
              <p:nvPr/>
            </p:nvSpPr>
            <p:spPr>
              <a:xfrm>
                <a:off x="0" y="0"/>
                <a:ext cx="3238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323850" h="285750">
                    <a:moveTo>
                      <a:pt x="0" y="0"/>
                    </a:moveTo>
                    <a:lnTo>
                      <a:pt x="323850" y="0"/>
                    </a:lnTo>
                    <a:lnTo>
                      <a:pt x="323850" y="285750"/>
                    </a:lnTo>
                    <a:lnTo>
                      <a:pt x="0" y="285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t="-3333" b="-3333"/>
                </a:stretch>
              </a:blipFill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0" y="1123950"/>
              <a:ext cx="9834122" cy="123270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985"/>
                </a:lnSpc>
              </a:pPr>
              <a:r>
                <a:rPr lang="en-US" sz="6075">
                  <a:solidFill>
                    <a:srgbClr val="0F172A"/>
                  </a:solidFill>
                  <a:latin typeface="Arimo"/>
                  <a:ea typeface="Arimo"/>
                  <a:cs typeface="Arimo"/>
                  <a:sym typeface="Arimo"/>
                </a:rPr>
                <a:t>SoC: System on Chip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2621153"/>
              <a:ext cx="10648950" cy="17811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375"/>
                </a:lnSpc>
              </a:pPr>
              <a:r>
                <a:rPr lang="en-US" sz="2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Integrating CPUs, NPUs, and System Controllers into a single, high-efficiency silicon platform for modern AI workloads.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714500" y="2372620"/>
            <a:ext cx="6415088" cy="2035969"/>
            <a:chOff x="0" y="0"/>
            <a:chExt cx="8553450" cy="2714625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8553450" cy="2714625"/>
            </a:xfrm>
            <a:custGeom>
              <a:avLst/>
              <a:gdLst/>
              <a:ahLst/>
              <a:cxnLst/>
              <a:rect l="l" t="t" r="r" b="b"/>
              <a:pathLst>
                <a:path w="8553450" h="2714625">
                  <a:moveTo>
                    <a:pt x="0" y="0"/>
                  </a:moveTo>
                  <a:lnTo>
                    <a:pt x="8553450" y="0"/>
                  </a:lnTo>
                  <a:lnTo>
                    <a:pt x="8553450" y="2714625"/>
                  </a:lnTo>
                  <a:lnTo>
                    <a:pt x="0" y="27146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75" b="-175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857875" y="4751489"/>
            <a:ext cx="1971675" cy="1188539"/>
            <a:chOff x="0" y="0"/>
            <a:chExt cx="2628900" cy="1584719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2628900" cy="1584706"/>
            </a:xfrm>
            <a:custGeom>
              <a:avLst/>
              <a:gdLst/>
              <a:ahLst/>
              <a:cxnLst/>
              <a:rect l="l" t="t" r="r" b="b"/>
              <a:pathLst>
                <a:path w="2628900" h="1584706">
                  <a:moveTo>
                    <a:pt x="0" y="0"/>
                  </a:moveTo>
                  <a:lnTo>
                    <a:pt x="2628900" y="0"/>
                  </a:lnTo>
                  <a:lnTo>
                    <a:pt x="2628900" y="1584706"/>
                  </a:lnTo>
                  <a:lnTo>
                    <a:pt x="0" y="15847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488" b="-489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3429000" y="6282928"/>
            <a:ext cx="11101388" cy="1631452"/>
            <a:chOff x="0" y="0"/>
            <a:chExt cx="14801850" cy="2175269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14801850" cy="2175256"/>
            </a:xfrm>
            <a:custGeom>
              <a:avLst/>
              <a:gdLst/>
              <a:ahLst/>
              <a:cxnLst/>
              <a:rect l="l" t="t" r="r" b="b"/>
              <a:pathLst>
                <a:path w="14801850" h="2175256">
                  <a:moveTo>
                    <a:pt x="0" y="0"/>
                  </a:moveTo>
                  <a:lnTo>
                    <a:pt x="14801850" y="0"/>
                  </a:lnTo>
                  <a:lnTo>
                    <a:pt x="14801850" y="2175256"/>
                  </a:lnTo>
                  <a:lnTo>
                    <a:pt x="0" y="2175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355" b="-356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168753" y="4129088"/>
            <a:ext cx="3950494" cy="757238"/>
            <a:chOff x="0" y="0"/>
            <a:chExt cx="5267325" cy="100965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5267325" cy="1009650"/>
            </a:xfrm>
            <a:custGeom>
              <a:avLst/>
              <a:gdLst/>
              <a:ahLst/>
              <a:cxnLst/>
              <a:rect l="l" t="t" r="r" b="b"/>
              <a:pathLst>
                <a:path w="5267325" h="1009650">
                  <a:moveTo>
                    <a:pt x="0" y="0"/>
                  </a:moveTo>
                  <a:lnTo>
                    <a:pt x="5267325" y="0"/>
                  </a:lnTo>
                  <a:lnTo>
                    <a:pt x="5267325" y="1009650"/>
                  </a:lnTo>
                  <a:lnTo>
                    <a:pt x="0" y="10096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71" r="-27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520276" y="2143125"/>
            <a:ext cx="15247439" cy="1643062"/>
            <a:chOff x="0" y="0"/>
            <a:chExt cx="20329919" cy="2190750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20329919" cy="2190750"/>
              <a:chOff x="0" y="0"/>
              <a:chExt cx="20329919" cy="2190750"/>
            </a:xfrm>
          </p:grpSpPr>
          <p:sp>
            <p:nvSpPr>
              <p:cNvPr id="6" name="Freeform 6" descr="image.png"/>
              <p:cNvSpPr/>
              <p:nvPr/>
            </p:nvSpPr>
            <p:spPr>
              <a:xfrm>
                <a:off x="0" y="0"/>
                <a:ext cx="20329906" cy="2190750"/>
              </a:xfrm>
              <a:custGeom>
                <a:avLst/>
                <a:gdLst/>
                <a:ahLst/>
                <a:cxnLst/>
                <a:rect l="l" t="t" r="r" b="b"/>
                <a:pathLst>
                  <a:path w="20329906" h="2190750">
                    <a:moveTo>
                      <a:pt x="0" y="0"/>
                    </a:moveTo>
                    <a:lnTo>
                      <a:pt x="20329906" y="0"/>
                    </a:lnTo>
                    <a:lnTo>
                      <a:pt x="20329906" y="2190750"/>
                    </a:lnTo>
                    <a:lnTo>
                      <a:pt x="0" y="219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l="-38" r="-38"/>
                </a:stretch>
              </a:blipFill>
            </p:spPr>
          </p:sp>
        </p:grpSp>
        <p:sp>
          <p:nvSpPr>
            <p:cNvPr id="7" name="TextBox 7"/>
            <p:cNvSpPr txBox="1"/>
            <p:nvPr/>
          </p:nvSpPr>
          <p:spPr>
            <a:xfrm>
              <a:off x="800100" y="419100"/>
              <a:ext cx="18729719" cy="12763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542"/>
                </a:lnSpc>
              </a:pPr>
              <a:r>
                <a:rPr lang="en-US" sz="2362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A </a:t>
              </a:r>
              <a:r>
                <a:rPr lang="en-US" sz="2362" b="1">
                  <a:solidFill>
                    <a:srgbClr val="60A5FA"/>
                  </a:solidFill>
                  <a:latin typeface="Inter Bold"/>
                  <a:ea typeface="Inter Bold"/>
                  <a:cs typeface="Inter Bold"/>
                  <a:sym typeface="Inter Bold"/>
                </a:rPr>
                <a:t>System on Chip (SoC)</a:t>
              </a:r>
              <a:r>
                <a:rPr lang="en-US" sz="2362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 is an integrated circuit that combines most of the major components required to perform a computing system's functions onto a single chip.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7364" y="5687132"/>
            <a:ext cx="16573271" cy="2348732"/>
            <a:chOff x="0" y="0"/>
            <a:chExt cx="22097695" cy="3131642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3397148" cy="3131642"/>
              <a:chOff x="0" y="0"/>
              <a:chExt cx="3397148" cy="3131642"/>
            </a:xfrm>
          </p:grpSpPr>
          <p:sp>
            <p:nvSpPr>
              <p:cNvPr id="10" name="Freeform 10" descr="image.png"/>
              <p:cNvSpPr/>
              <p:nvPr/>
            </p:nvSpPr>
            <p:spPr>
              <a:xfrm>
                <a:off x="0" y="0"/>
                <a:ext cx="3397123" cy="3131693"/>
              </a:xfrm>
              <a:custGeom>
                <a:avLst/>
                <a:gdLst/>
                <a:ahLst/>
                <a:cxnLst/>
                <a:rect l="l" t="t" r="r" b="b"/>
                <a:pathLst>
                  <a:path w="3397123" h="3131693">
                    <a:moveTo>
                      <a:pt x="0" y="0"/>
                    </a:moveTo>
                    <a:lnTo>
                      <a:pt x="3397123" y="0"/>
                    </a:lnTo>
                    <a:lnTo>
                      <a:pt x="3397123" y="3131693"/>
                    </a:lnTo>
                    <a:lnTo>
                      <a:pt x="0" y="31316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2" r="-3" b="1"/>
                </a:stretch>
              </a:blip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1126922" y="457200"/>
              <a:ext cx="1143000" cy="1143000"/>
              <a:chOff x="0" y="0"/>
              <a:chExt cx="1143000" cy="1143000"/>
            </a:xfrm>
          </p:grpSpPr>
          <p:sp>
            <p:nvSpPr>
              <p:cNvPr id="12" name="Freeform 12" descr="image.png"/>
              <p:cNvSpPr/>
              <p:nvPr/>
            </p:nvSpPr>
            <p:spPr>
              <a:xfrm>
                <a:off x="0" y="0"/>
                <a:ext cx="114300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1143000">
                    <a:moveTo>
                      <a:pt x="0" y="0"/>
                    </a:moveTo>
                    <a:lnTo>
                      <a:pt x="1143000" y="0"/>
                    </a:lnTo>
                    <a:lnTo>
                      <a:pt x="114300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833" r="-833"/>
                </a:stretch>
              </a:blipFill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338377" y="1819275"/>
              <a:ext cx="720090" cy="504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95"/>
                </a:lnSpc>
              </a:pPr>
              <a:r>
                <a:rPr lang="en-US" sz="1912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CPU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9722" y="2400300"/>
              <a:ext cx="2057400" cy="274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Central Processing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431722" y="762000"/>
              <a:ext cx="533400" cy="533400"/>
              <a:chOff x="0" y="0"/>
              <a:chExt cx="533400" cy="533400"/>
            </a:xfrm>
          </p:grpSpPr>
          <p:sp>
            <p:nvSpPr>
              <p:cNvPr id="16" name="Freeform 16" descr="image.png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533400">
                    <a:moveTo>
                      <a:pt x="0" y="0"/>
                    </a:moveTo>
                    <a:lnTo>
                      <a:pt x="533400" y="0"/>
                    </a:lnTo>
                    <a:lnTo>
                      <a:pt x="53340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785" r="-1785"/>
                </a:stretch>
              </a:blipFill>
            </p:spPr>
          </p:sp>
        </p:grpSp>
        <p:grpSp>
          <p:nvGrpSpPr>
            <p:cNvPr id="17" name="Group 17"/>
            <p:cNvGrpSpPr/>
            <p:nvPr/>
          </p:nvGrpSpPr>
          <p:grpSpPr>
            <a:xfrm>
              <a:off x="3740048" y="0"/>
              <a:ext cx="3397148" cy="3131642"/>
              <a:chOff x="0" y="0"/>
              <a:chExt cx="3397148" cy="3131642"/>
            </a:xfrm>
          </p:grpSpPr>
          <p:sp>
            <p:nvSpPr>
              <p:cNvPr id="18" name="Freeform 18" descr="image.png"/>
              <p:cNvSpPr/>
              <p:nvPr/>
            </p:nvSpPr>
            <p:spPr>
              <a:xfrm>
                <a:off x="0" y="0"/>
                <a:ext cx="3397123" cy="3131693"/>
              </a:xfrm>
              <a:custGeom>
                <a:avLst/>
                <a:gdLst/>
                <a:ahLst/>
                <a:cxnLst/>
                <a:rect l="l" t="t" r="r" b="b"/>
                <a:pathLst>
                  <a:path w="3397123" h="3131693">
                    <a:moveTo>
                      <a:pt x="0" y="0"/>
                    </a:moveTo>
                    <a:lnTo>
                      <a:pt x="3397123" y="0"/>
                    </a:lnTo>
                    <a:lnTo>
                      <a:pt x="3397123" y="3131693"/>
                    </a:lnTo>
                    <a:lnTo>
                      <a:pt x="0" y="31316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" r="-3" b="1"/>
                </a:stretch>
              </a:blipFill>
            </p:spPr>
          </p:sp>
        </p:grpSp>
        <p:grpSp>
          <p:nvGrpSpPr>
            <p:cNvPr id="19" name="Group 19"/>
            <p:cNvGrpSpPr/>
            <p:nvPr/>
          </p:nvGrpSpPr>
          <p:grpSpPr>
            <a:xfrm>
              <a:off x="4866970" y="457200"/>
              <a:ext cx="1143000" cy="1143000"/>
              <a:chOff x="0" y="0"/>
              <a:chExt cx="1143000" cy="1143000"/>
            </a:xfrm>
          </p:grpSpPr>
          <p:sp>
            <p:nvSpPr>
              <p:cNvPr id="20" name="Freeform 20" descr="image.png"/>
              <p:cNvSpPr/>
              <p:nvPr/>
            </p:nvSpPr>
            <p:spPr>
              <a:xfrm>
                <a:off x="0" y="0"/>
                <a:ext cx="114300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1143000">
                    <a:moveTo>
                      <a:pt x="0" y="0"/>
                    </a:moveTo>
                    <a:lnTo>
                      <a:pt x="1143000" y="0"/>
                    </a:lnTo>
                    <a:lnTo>
                      <a:pt x="114300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833" r="-833"/>
                </a:stretch>
              </a:blipFill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5168443" y="1819275"/>
              <a:ext cx="540068" cy="504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95"/>
                </a:lnSpc>
              </a:pPr>
              <a:r>
                <a:rPr lang="en-US" sz="1912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ISP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43158" y="2400300"/>
              <a:ext cx="1390650" cy="274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Image Signal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5171770" y="762000"/>
              <a:ext cx="533400" cy="533400"/>
              <a:chOff x="0" y="0"/>
              <a:chExt cx="533400" cy="533400"/>
            </a:xfrm>
          </p:grpSpPr>
          <p:sp>
            <p:nvSpPr>
              <p:cNvPr id="24" name="Freeform 24" descr="image.png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533400">
                    <a:moveTo>
                      <a:pt x="0" y="0"/>
                    </a:moveTo>
                    <a:lnTo>
                      <a:pt x="533400" y="0"/>
                    </a:lnTo>
                    <a:lnTo>
                      <a:pt x="53340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l="-1785" r="-1785"/>
                </a:stretch>
              </a:blipFill>
            </p:spPr>
          </p:sp>
        </p:grpSp>
        <p:grpSp>
          <p:nvGrpSpPr>
            <p:cNvPr id="25" name="Group 25"/>
            <p:cNvGrpSpPr/>
            <p:nvPr/>
          </p:nvGrpSpPr>
          <p:grpSpPr>
            <a:xfrm>
              <a:off x="7480097" y="0"/>
              <a:ext cx="3397148" cy="3131642"/>
              <a:chOff x="0" y="0"/>
              <a:chExt cx="3397148" cy="3131642"/>
            </a:xfrm>
          </p:grpSpPr>
          <p:sp>
            <p:nvSpPr>
              <p:cNvPr id="26" name="Freeform 26" descr="image.png"/>
              <p:cNvSpPr/>
              <p:nvPr/>
            </p:nvSpPr>
            <p:spPr>
              <a:xfrm>
                <a:off x="0" y="0"/>
                <a:ext cx="3397123" cy="3131693"/>
              </a:xfrm>
              <a:custGeom>
                <a:avLst/>
                <a:gdLst/>
                <a:ahLst/>
                <a:cxnLst/>
                <a:rect l="l" t="t" r="r" b="b"/>
                <a:pathLst>
                  <a:path w="3397123" h="3131693">
                    <a:moveTo>
                      <a:pt x="0" y="0"/>
                    </a:moveTo>
                    <a:lnTo>
                      <a:pt x="3397123" y="0"/>
                    </a:lnTo>
                    <a:lnTo>
                      <a:pt x="3397123" y="3131693"/>
                    </a:lnTo>
                    <a:lnTo>
                      <a:pt x="0" y="31316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l="-2" r="-3" b="1"/>
                </a:stretch>
              </a:blipFill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8607031" y="457200"/>
              <a:ext cx="1143000" cy="1143000"/>
              <a:chOff x="0" y="0"/>
              <a:chExt cx="1143000" cy="1143000"/>
            </a:xfrm>
          </p:grpSpPr>
          <p:sp>
            <p:nvSpPr>
              <p:cNvPr id="28" name="Freeform 28" descr="image.png"/>
              <p:cNvSpPr/>
              <p:nvPr/>
            </p:nvSpPr>
            <p:spPr>
              <a:xfrm>
                <a:off x="0" y="0"/>
                <a:ext cx="114300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1143000">
                    <a:moveTo>
                      <a:pt x="0" y="0"/>
                    </a:moveTo>
                    <a:lnTo>
                      <a:pt x="1143000" y="0"/>
                    </a:lnTo>
                    <a:lnTo>
                      <a:pt x="114300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833" r="-833"/>
                </a:stretch>
              </a:blipFill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8818486" y="1819275"/>
              <a:ext cx="720090" cy="504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95"/>
                </a:lnSpc>
              </a:pPr>
              <a:r>
                <a:rPr lang="en-US" sz="1912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NPU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87931" y="2400300"/>
              <a:ext cx="1981200" cy="274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Neural Processing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911831" y="762000"/>
              <a:ext cx="533400" cy="533400"/>
              <a:chOff x="0" y="0"/>
              <a:chExt cx="533400" cy="533400"/>
            </a:xfrm>
          </p:grpSpPr>
          <p:sp>
            <p:nvSpPr>
              <p:cNvPr id="32" name="Freeform 32" descr="image.png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533400">
                    <a:moveTo>
                      <a:pt x="0" y="0"/>
                    </a:moveTo>
                    <a:lnTo>
                      <a:pt x="533400" y="0"/>
                    </a:lnTo>
                    <a:lnTo>
                      <a:pt x="53340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l="-1785" r="-1785"/>
                </a:stretch>
              </a:blipFill>
            </p:spPr>
          </p:sp>
        </p:grpSp>
        <p:grpSp>
          <p:nvGrpSpPr>
            <p:cNvPr id="33" name="Group 33"/>
            <p:cNvGrpSpPr/>
            <p:nvPr/>
          </p:nvGrpSpPr>
          <p:grpSpPr>
            <a:xfrm>
              <a:off x="11220158" y="0"/>
              <a:ext cx="3397453" cy="3131642"/>
              <a:chOff x="0" y="0"/>
              <a:chExt cx="3397453" cy="3131642"/>
            </a:xfrm>
          </p:grpSpPr>
          <p:sp>
            <p:nvSpPr>
              <p:cNvPr id="34" name="Freeform 34" descr="image.png"/>
              <p:cNvSpPr/>
              <p:nvPr/>
            </p:nvSpPr>
            <p:spPr>
              <a:xfrm>
                <a:off x="0" y="0"/>
                <a:ext cx="3397504" cy="3131693"/>
              </a:xfrm>
              <a:custGeom>
                <a:avLst/>
                <a:gdLst/>
                <a:ahLst/>
                <a:cxnLst/>
                <a:rect l="l" t="t" r="r" b="b"/>
                <a:pathLst>
                  <a:path w="3397504" h="3131693">
                    <a:moveTo>
                      <a:pt x="0" y="0"/>
                    </a:moveTo>
                    <a:lnTo>
                      <a:pt x="3397504" y="0"/>
                    </a:lnTo>
                    <a:lnTo>
                      <a:pt x="3397504" y="3131693"/>
                    </a:lnTo>
                    <a:lnTo>
                      <a:pt x="0" y="31316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l="-278" r="-276" b="1"/>
                </a:stretch>
              </a:blipFill>
            </p:spPr>
          </p:sp>
        </p:grpSp>
        <p:grpSp>
          <p:nvGrpSpPr>
            <p:cNvPr id="35" name="Group 35"/>
            <p:cNvGrpSpPr/>
            <p:nvPr/>
          </p:nvGrpSpPr>
          <p:grpSpPr>
            <a:xfrm>
              <a:off x="12347372" y="457200"/>
              <a:ext cx="1143000" cy="1143000"/>
              <a:chOff x="0" y="0"/>
              <a:chExt cx="1143000" cy="1143000"/>
            </a:xfrm>
          </p:grpSpPr>
          <p:sp>
            <p:nvSpPr>
              <p:cNvPr id="36" name="Freeform 36" descr="image.png"/>
              <p:cNvSpPr/>
              <p:nvPr/>
            </p:nvSpPr>
            <p:spPr>
              <a:xfrm>
                <a:off x="0" y="0"/>
                <a:ext cx="114300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1143000">
                    <a:moveTo>
                      <a:pt x="0" y="0"/>
                    </a:moveTo>
                    <a:lnTo>
                      <a:pt x="1143000" y="0"/>
                    </a:lnTo>
                    <a:lnTo>
                      <a:pt x="114300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l="-833" r="-833"/>
                </a:stretch>
              </a:blipFill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2548832" y="1819275"/>
              <a:ext cx="740092" cy="504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95"/>
                </a:lnSpc>
              </a:pPr>
              <a:r>
                <a:rPr lang="en-US" sz="1912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GPU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2042572" y="2400300"/>
              <a:ext cx="1752600" cy="274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Graphics Engine</a:t>
              </a:r>
            </a:p>
          </p:txBody>
        </p:sp>
        <p:grpSp>
          <p:nvGrpSpPr>
            <p:cNvPr id="39" name="Group 39"/>
            <p:cNvGrpSpPr/>
            <p:nvPr/>
          </p:nvGrpSpPr>
          <p:grpSpPr>
            <a:xfrm>
              <a:off x="12614072" y="762000"/>
              <a:ext cx="609600" cy="533400"/>
              <a:chOff x="0" y="0"/>
              <a:chExt cx="609600" cy="533400"/>
            </a:xfrm>
          </p:grpSpPr>
          <p:sp>
            <p:nvSpPr>
              <p:cNvPr id="40" name="Freeform 40" descr="image.png"/>
              <p:cNvSpPr/>
              <p:nvPr/>
            </p:nvSpPr>
            <p:spPr>
              <a:xfrm>
                <a:off x="0" y="0"/>
                <a:ext cx="6096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609600" h="533400">
                    <a:moveTo>
                      <a:pt x="0" y="0"/>
                    </a:moveTo>
                    <a:lnTo>
                      <a:pt x="609600" y="0"/>
                    </a:lnTo>
                    <a:lnTo>
                      <a:pt x="60960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l="-1562" r="-1562"/>
                </a:stretch>
              </a:blipFill>
            </p:spPr>
          </p:sp>
        </p:grpSp>
        <p:grpSp>
          <p:nvGrpSpPr>
            <p:cNvPr id="41" name="Group 41"/>
            <p:cNvGrpSpPr/>
            <p:nvPr/>
          </p:nvGrpSpPr>
          <p:grpSpPr>
            <a:xfrm>
              <a:off x="14960498" y="0"/>
              <a:ext cx="3397148" cy="3131642"/>
              <a:chOff x="0" y="0"/>
              <a:chExt cx="3397148" cy="3131642"/>
            </a:xfrm>
          </p:grpSpPr>
          <p:sp>
            <p:nvSpPr>
              <p:cNvPr id="42" name="Freeform 42" descr="image.png"/>
              <p:cNvSpPr/>
              <p:nvPr/>
            </p:nvSpPr>
            <p:spPr>
              <a:xfrm>
                <a:off x="0" y="0"/>
                <a:ext cx="3397123" cy="3131693"/>
              </a:xfrm>
              <a:custGeom>
                <a:avLst/>
                <a:gdLst/>
                <a:ahLst/>
                <a:cxnLst/>
                <a:rect l="l" t="t" r="r" b="b"/>
                <a:pathLst>
                  <a:path w="3397123" h="3131693">
                    <a:moveTo>
                      <a:pt x="0" y="0"/>
                    </a:moveTo>
                    <a:lnTo>
                      <a:pt x="3397123" y="0"/>
                    </a:lnTo>
                    <a:lnTo>
                      <a:pt x="3397123" y="3131693"/>
                    </a:lnTo>
                    <a:lnTo>
                      <a:pt x="0" y="31316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l="-2" r="-3" b="1"/>
                </a:stretch>
              </a:blipFill>
            </p:spPr>
          </p:sp>
        </p:grpSp>
        <p:grpSp>
          <p:nvGrpSpPr>
            <p:cNvPr id="43" name="Group 43"/>
            <p:cNvGrpSpPr/>
            <p:nvPr/>
          </p:nvGrpSpPr>
          <p:grpSpPr>
            <a:xfrm>
              <a:off x="16087420" y="457200"/>
              <a:ext cx="1143000" cy="1143000"/>
              <a:chOff x="0" y="0"/>
              <a:chExt cx="1143000" cy="1143000"/>
            </a:xfrm>
          </p:grpSpPr>
          <p:sp>
            <p:nvSpPr>
              <p:cNvPr id="44" name="Freeform 44" descr="image.png"/>
              <p:cNvSpPr/>
              <p:nvPr/>
            </p:nvSpPr>
            <p:spPr>
              <a:xfrm>
                <a:off x="0" y="0"/>
                <a:ext cx="114300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1143000">
                    <a:moveTo>
                      <a:pt x="0" y="0"/>
                    </a:moveTo>
                    <a:lnTo>
                      <a:pt x="1143000" y="0"/>
                    </a:lnTo>
                    <a:lnTo>
                      <a:pt x="114300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 l="-833" r="-833"/>
                </a:stretch>
              </a:blipFill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5928835" y="1819275"/>
              <a:ext cx="1460182" cy="504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95"/>
                </a:lnSpc>
              </a:pPr>
              <a:r>
                <a:rPr lang="en-US" sz="1912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Memory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5820720" y="2400300"/>
              <a:ext cx="1676400" cy="274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RAM Controller</a:t>
              </a:r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16354120" y="762000"/>
              <a:ext cx="609600" cy="533400"/>
              <a:chOff x="0" y="0"/>
              <a:chExt cx="609600" cy="533400"/>
            </a:xfrm>
          </p:grpSpPr>
          <p:sp>
            <p:nvSpPr>
              <p:cNvPr id="48" name="Freeform 48" descr="image.png"/>
              <p:cNvSpPr/>
              <p:nvPr/>
            </p:nvSpPr>
            <p:spPr>
              <a:xfrm>
                <a:off x="0" y="0"/>
                <a:ext cx="6096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609600" h="533400">
                    <a:moveTo>
                      <a:pt x="0" y="0"/>
                    </a:moveTo>
                    <a:lnTo>
                      <a:pt x="609600" y="0"/>
                    </a:lnTo>
                    <a:lnTo>
                      <a:pt x="60960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l="-1562" r="-1562"/>
                </a:stretch>
              </a:blipFill>
            </p:spPr>
          </p:sp>
        </p:grpSp>
        <p:grpSp>
          <p:nvGrpSpPr>
            <p:cNvPr id="49" name="Group 49"/>
            <p:cNvGrpSpPr/>
            <p:nvPr/>
          </p:nvGrpSpPr>
          <p:grpSpPr>
            <a:xfrm>
              <a:off x="18700547" y="0"/>
              <a:ext cx="3397148" cy="3131642"/>
              <a:chOff x="0" y="0"/>
              <a:chExt cx="3397148" cy="3131642"/>
            </a:xfrm>
          </p:grpSpPr>
          <p:sp>
            <p:nvSpPr>
              <p:cNvPr id="50" name="Freeform 50" descr="image.png"/>
              <p:cNvSpPr/>
              <p:nvPr/>
            </p:nvSpPr>
            <p:spPr>
              <a:xfrm>
                <a:off x="0" y="0"/>
                <a:ext cx="3397123" cy="3131693"/>
              </a:xfrm>
              <a:custGeom>
                <a:avLst/>
                <a:gdLst/>
                <a:ahLst/>
                <a:cxnLst/>
                <a:rect l="l" t="t" r="r" b="b"/>
                <a:pathLst>
                  <a:path w="3397123" h="3131693">
                    <a:moveTo>
                      <a:pt x="0" y="0"/>
                    </a:moveTo>
                    <a:lnTo>
                      <a:pt x="3397123" y="0"/>
                    </a:lnTo>
                    <a:lnTo>
                      <a:pt x="3397123" y="3131693"/>
                    </a:lnTo>
                    <a:lnTo>
                      <a:pt x="0" y="31316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/>
                <a:stretch>
                  <a:fillRect l="-2" r="-3" b="1"/>
                </a:stretch>
              </a:blipFill>
            </p:spPr>
          </p:sp>
        </p:grpSp>
        <p:grpSp>
          <p:nvGrpSpPr>
            <p:cNvPr id="51" name="Group 51"/>
            <p:cNvGrpSpPr/>
            <p:nvPr/>
          </p:nvGrpSpPr>
          <p:grpSpPr>
            <a:xfrm>
              <a:off x="19827481" y="457200"/>
              <a:ext cx="1143000" cy="1143000"/>
              <a:chOff x="0" y="0"/>
              <a:chExt cx="1143000" cy="1143000"/>
            </a:xfrm>
          </p:grpSpPr>
          <p:sp>
            <p:nvSpPr>
              <p:cNvPr id="52" name="Freeform 52" descr="image.png"/>
              <p:cNvSpPr/>
              <p:nvPr/>
            </p:nvSpPr>
            <p:spPr>
              <a:xfrm>
                <a:off x="0" y="0"/>
                <a:ext cx="114300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1143000">
                    <a:moveTo>
                      <a:pt x="0" y="0"/>
                    </a:moveTo>
                    <a:lnTo>
                      <a:pt x="1143000" y="0"/>
                    </a:lnTo>
                    <a:lnTo>
                      <a:pt x="114300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9"/>
                <a:stretch>
                  <a:fillRect l="-833" r="-833"/>
                </a:stretch>
              </a:blipFill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9628879" y="1819275"/>
              <a:ext cx="1540192" cy="504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95"/>
                </a:lnSpc>
              </a:pPr>
              <a:r>
                <a:rPr lang="en-US" sz="1912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Bus / I/O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9779856" y="2400300"/>
              <a:ext cx="1238250" cy="274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en-US" sz="1350" b="1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Peripherals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20065606" y="762000"/>
              <a:ext cx="666750" cy="533400"/>
              <a:chOff x="0" y="0"/>
              <a:chExt cx="666750" cy="533400"/>
            </a:xfrm>
          </p:grpSpPr>
          <p:sp>
            <p:nvSpPr>
              <p:cNvPr id="56" name="Freeform 56" descr="image.png"/>
              <p:cNvSpPr/>
              <p:nvPr/>
            </p:nvSpPr>
            <p:spPr>
              <a:xfrm>
                <a:off x="0" y="0"/>
                <a:ext cx="6667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666750" h="533400">
                    <a:moveTo>
                      <a:pt x="0" y="0"/>
                    </a:moveTo>
                    <a:lnTo>
                      <a:pt x="666750" y="0"/>
                    </a:lnTo>
                    <a:lnTo>
                      <a:pt x="66675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0"/>
                <a:stretch>
                  <a:fillRect l="-1428" r="-1428"/>
                </a:stretch>
              </a:blipFill>
            </p:spPr>
          </p:sp>
        </p:grpSp>
      </p:grpSp>
      <p:sp>
        <p:nvSpPr>
          <p:cNvPr id="57" name="TextBox 57"/>
          <p:cNvSpPr txBox="1"/>
          <p:nvPr/>
        </p:nvSpPr>
        <p:spPr>
          <a:xfrm>
            <a:off x="5731069" y="666750"/>
            <a:ext cx="6825853" cy="90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50"/>
              </a:lnSpc>
            </a:pPr>
            <a:r>
              <a:rPr lang="en-US" sz="5625">
                <a:solidFill>
                  <a:srgbClr val="1E1B4B"/>
                </a:solidFill>
                <a:latin typeface="Poppins"/>
                <a:ea typeface="Poppins"/>
                <a:cs typeface="Poppins"/>
                <a:sym typeface="Poppins"/>
              </a:rPr>
              <a:t>SYSTEM ON CHIP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" r="-390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87608" y="170580"/>
            <a:ext cx="3770539" cy="858120"/>
          </a:xfrm>
          <a:custGeom>
            <a:avLst/>
            <a:gdLst/>
            <a:ahLst/>
            <a:cxnLst/>
            <a:rect l="l" t="t" r="r" b="b"/>
            <a:pathLst>
              <a:path w="3770539" h="858120">
                <a:moveTo>
                  <a:pt x="0" y="0"/>
                </a:moveTo>
                <a:lnTo>
                  <a:pt x="3770539" y="0"/>
                </a:lnTo>
                <a:lnTo>
                  <a:pt x="3770539" y="858120"/>
                </a:lnTo>
                <a:lnTo>
                  <a:pt x="0" y="858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5472" b="-344275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952438" y="8400180"/>
            <a:ext cx="2205710" cy="858120"/>
          </a:xfrm>
          <a:custGeom>
            <a:avLst/>
            <a:gdLst/>
            <a:ahLst/>
            <a:cxnLst/>
            <a:rect l="l" t="t" r="r" b="b"/>
            <a:pathLst>
              <a:path w="2205710" h="858120">
                <a:moveTo>
                  <a:pt x="0" y="0"/>
                </a:moveTo>
                <a:lnTo>
                  <a:pt x="2205709" y="0"/>
                </a:lnTo>
                <a:lnTo>
                  <a:pt x="2205709" y="858120"/>
                </a:lnTo>
                <a:lnTo>
                  <a:pt x="0" y="8581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70944" t="-35472" b="-344275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857250" y="3328988"/>
            <a:ext cx="5314950" cy="2278856"/>
            <a:chOff x="0" y="0"/>
            <a:chExt cx="7086600" cy="303847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7086600" cy="3038475"/>
              <a:chOff x="0" y="0"/>
              <a:chExt cx="7086600" cy="3038475"/>
            </a:xfrm>
          </p:grpSpPr>
          <p:sp>
            <p:nvSpPr>
              <p:cNvPr id="6" name="Freeform 6" descr="image.png"/>
              <p:cNvSpPr/>
              <p:nvPr/>
            </p:nvSpPr>
            <p:spPr>
              <a:xfrm>
                <a:off x="0" y="0"/>
                <a:ext cx="7086600" cy="303847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3038475">
                    <a:moveTo>
                      <a:pt x="0" y="0"/>
                    </a:moveTo>
                    <a:lnTo>
                      <a:pt x="7086600" y="0"/>
                    </a:lnTo>
                    <a:lnTo>
                      <a:pt x="7086600" y="3038475"/>
                    </a:lnTo>
                    <a:lnTo>
                      <a:pt x="0" y="303847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156" b="-156"/>
                </a:stretch>
              </a:blipFill>
            </p:spPr>
          </p:sp>
        </p:grpSp>
        <p:sp>
          <p:nvSpPr>
            <p:cNvPr id="7" name="TextBox 7"/>
            <p:cNvSpPr txBox="1"/>
            <p:nvPr/>
          </p:nvSpPr>
          <p:spPr>
            <a:xfrm>
              <a:off x="571500" y="1228725"/>
              <a:ext cx="6038850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Handles general-purpose computing tasks, executing OS instructions and sequential workload logic.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571500" y="533400"/>
              <a:ext cx="457200" cy="457200"/>
              <a:chOff x="0" y="0"/>
              <a:chExt cx="457200" cy="457200"/>
            </a:xfrm>
          </p:grpSpPr>
          <p:sp>
            <p:nvSpPr>
              <p:cNvPr id="9" name="Freeform 9" descr="image.png"/>
              <p:cNvSpPr/>
              <p:nvPr/>
            </p:nvSpPr>
            <p:spPr>
              <a:xfrm>
                <a:off x="0" y="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0" y="0"/>
                    </a:moveTo>
                    <a:lnTo>
                      <a:pt x="457200" y="0"/>
                    </a:lnTo>
                    <a:lnTo>
                      <a:pt x="4572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257300" y="447675"/>
              <a:ext cx="1920240" cy="600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CPU Core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486525" y="3328988"/>
            <a:ext cx="5314950" cy="2278856"/>
            <a:chOff x="0" y="0"/>
            <a:chExt cx="7086600" cy="3038475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7086600" cy="3038475"/>
              <a:chOff x="0" y="0"/>
              <a:chExt cx="7086600" cy="3038475"/>
            </a:xfrm>
          </p:grpSpPr>
          <p:sp>
            <p:nvSpPr>
              <p:cNvPr id="13" name="Freeform 13" descr="image.png"/>
              <p:cNvSpPr/>
              <p:nvPr/>
            </p:nvSpPr>
            <p:spPr>
              <a:xfrm>
                <a:off x="0" y="0"/>
                <a:ext cx="7086600" cy="303847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3038475">
                    <a:moveTo>
                      <a:pt x="0" y="0"/>
                    </a:moveTo>
                    <a:lnTo>
                      <a:pt x="7086600" y="0"/>
                    </a:lnTo>
                    <a:lnTo>
                      <a:pt x="7086600" y="3038475"/>
                    </a:lnTo>
                    <a:lnTo>
                      <a:pt x="0" y="303847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156" b="-156"/>
                </a:stretch>
              </a:blipFill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571500" y="1228725"/>
              <a:ext cx="6038850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Accelerates complex 2D/3D graphics rendering, video decoding, and parallel math processing.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571500" y="533400"/>
              <a:ext cx="514350" cy="457200"/>
              <a:chOff x="0" y="0"/>
              <a:chExt cx="514350" cy="457200"/>
            </a:xfrm>
          </p:grpSpPr>
          <p:sp>
            <p:nvSpPr>
              <p:cNvPr id="16" name="Freeform 16" descr="image.png"/>
              <p:cNvSpPr/>
              <p:nvPr/>
            </p:nvSpPr>
            <p:spPr>
              <a:xfrm>
                <a:off x="0" y="0"/>
                <a:ext cx="51435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45720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314450" y="447675"/>
              <a:ext cx="1760220" cy="600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GPU Unit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115800" y="3328988"/>
            <a:ext cx="5314950" cy="2278856"/>
            <a:chOff x="0" y="0"/>
            <a:chExt cx="7086600" cy="3038475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7086600" cy="3038475"/>
              <a:chOff x="0" y="0"/>
              <a:chExt cx="7086600" cy="3038475"/>
            </a:xfrm>
          </p:grpSpPr>
          <p:sp>
            <p:nvSpPr>
              <p:cNvPr id="20" name="Freeform 20" descr="image.png"/>
              <p:cNvSpPr/>
              <p:nvPr/>
            </p:nvSpPr>
            <p:spPr>
              <a:xfrm>
                <a:off x="0" y="0"/>
                <a:ext cx="7086600" cy="303847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3038475">
                    <a:moveTo>
                      <a:pt x="0" y="0"/>
                    </a:moveTo>
                    <a:lnTo>
                      <a:pt x="7086600" y="0"/>
                    </a:lnTo>
                    <a:lnTo>
                      <a:pt x="7086600" y="3038475"/>
                    </a:lnTo>
                    <a:lnTo>
                      <a:pt x="0" y="303847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156" b="-156"/>
                </a:stretch>
              </a:blipFill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571500" y="1228725"/>
              <a:ext cx="6038850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Dedicated neural engine optimized for low-power machine learning models and AI inferencing tasks.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571500" y="533400"/>
              <a:ext cx="457200" cy="457200"/>
              <a:chOff x="0" y="0"/>
              <a:chExt cx="457200" cy="457200"/>
            </a:xfrm>
          </p:grpSpPr>
          <p:sp>
            <p:nvSpPr>
              <p:cNvPr id="23" name="Freeform 23" descr="image.png"/>
              <p:cNvSpPr/>
              <p:nvPr/>
            </p:nvSpPr>
            <p:spPr>
              <a:xfrm>
                <a:off x="0" y="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0" y="0"/>
                    </a:moveTo>
                    <a:lnTo>
                      <a:pt x="457200" y="0"/>
                    </a:lnTo>
                    <a:lnTo>
                      <a:pt x="4572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257300" y="447675"/>
              <a:ext cx="3400425" cy="600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NPU Accelerator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857250" y="5922169"/>
            <a:ext cx="5314950" cy="2278856"/>
            <a:chOff x="0" y="0"/>
            <a:chExt cx="7086600" cy="3038475"/>
          </a:xfrm>
        </p:grpSpPr>
        <p:grpSp>
          <p:nvGrpSpPr>
            <p:cNvPr id="26" name="Group 26"/>
            <p:cNvGrpSpPr/>
            <p:nvPr/>
          </p:nvGrpSpPr>
          <p:grpSpPr>
            <a:xfrm>
              <a:off x="0" y="0"/>
              <a:ext cx="7086600" cy="3038475"/>
              <a:chOff x="0" y="0"/>
              <a:chExt cx="7086600" cy="3038475"/>
            </a:xfrm>
          </p:grpSpPr>
          <p:sp>
            <p:nvSpPr>
              <p:cNvPr id="27" name="Freeform 27" descr="image.png"/>
              <p:cNvSpPr/>
              <p:nvPr/>
            </p:nvSpPr>
            <p:spPr>
              <a:xfrm>
                <a:off x="0" y="0"/>
                <a:ext cx="7086600" cy="303847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3038475">
                    <a:moveTo>
                      <a:pt x="0" y="0"/>
                    </a:moveTo>
                    <a:lnTo>
                      <a:pt x="7086600" y="0"/>
                    </a:lnTo>
                    <a:lnTo>
                      <a:pt x="7086600" y="3038475"/>
                    </a:lnTo>
                    <a:lnTo>
                      <a:pt x="0" y="303847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t="-156" b="-156"/>
                </a:stretch>
              </a:blipFill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571500" y="1228725"/>
              <a:ext cx="6038850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Processes raw camera sensor data in real-time, handling auto-focus, noise reduction, and HDR imaging.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571500" y="533400"/>
              <a:ext cx="457200" cy="457200"/>
              <a:chOff x="0" y="0"/>
              <a:chExt cx="457200" cy="457200"/>
            </a:xfrm>
          </p:grpSpPr>
          <p:sp>
            <p:nvSpPr>
              <p:cNvPr id="30" name="Freeform 30" descr="image.png"/>
              <p:cNvSpPr/>
              <p:nvPr/>
            </p:nvSpPr>
            <p:spPr>
              <a:xfrm>
                <a:off x="0" y="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0" y="0"/>
                    </a:moveTo>
                    <a:lnTo>
                      <a:pt x="457200" y="0"/>
                    </a:lnTo>
                    <a:lnTo>
                      <a:pt x="4572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t="-2083" b="-2083"/>
                </a:stretch>
              </a:blipFill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257300" y="447675"/>
              <a:ext cx="2220278" cy="600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ISP Module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486525" y="5922169"/>
            <a:ext cx="5314950" cy="2278856"/>
            <a:chOff x="0" y="0"/>
            <a:chExt cx="7086600" cy="3038475"/>
          </a:xfrm>
        </p:grpSpPr>
        <p:grpSp>
          <p:nvGrpSpPr>
            <p:cNvPr id="33" name="Group 33"/>
            <p:cNvGrpSpPr/>
            <p:nvPr/>
          </p:nvGrpSpPr>
          <p:grpSpPr>
            <a:xfrm>
              <a:off x="0" y="0"/>
              <a:ext cx="7086600" cy="3038475"/>
              <a:chOff x="0" y="0"/>
              <a:chExt cx="7086600" cy="3038475"/>
            </a:xfrm>
          </p:grpSpPr>
          <p:sp>
            <p:nvSpPr>
              <p:cNvPr id="34" name="Freeform 34" descr="image.png"/>
              <p:cNvSpPr/>
              <p:nvPr/>
            </p:nvSpPr>
            <p:spPr>
              <a:xfrm>
                <a:off x="0" y="0"/>
                <a:ext cx="7086600" cy="303847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3038475">
                    <a:moveTo>
                      <a:pt x="0" y="0"/>
                    </a:moveTo>
                    <a:lnTo>
                      <a:pt x="7086600" y="0"/>
                    </a:lnTo>
                    <a:lnTo>
                      <a:pt x="7086600" y="3038475"/>
                    </a:lnTo>
                    <a:lnTo>
                      <a:pt x="0" y="303847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t="-156" b="-156"/>
                </a:stretch>
              </a:blipFill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571500" y="1228725"/>
              <a:ext cx="6038850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Manages high-speed data flow between system caches and unified system RAM (LPDDR memory).</a:t>
              </a:r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571500" y="533400"/>
              <a:ext cx="514350" cy="457200"/>
              <a:chOff x="0" y="0"/>
              <a:chExt cx="514350" cy="457200"/>
            </a:xfrm>
          </p:grpSpPr>
          <p:sp>
            <p:nvSpPr>
              <p:cNvPr id="37" name="Freeform 37" descr="image.png"/>
              <p:cNvSpPr/>
              <p:nvPr/>
            </p:nvSpPr>
            <p:spPr>
              <a:xfrm>
                <a:off x="0" y="0"/>
                <a:ext cx="51435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45720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t="-2083" b="-2083"/>
                </a:stretch>
              </a:blipFill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314450" y="447675"/>
              <a:ext cx="3920490" cy="600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Memory Controller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2115800" y="5922169"/>
            <a:ext cx="5314950" cy="2278856"/>
            <a:chOff x="0" y="0"/>
            <a:chExt cx="7086600" cy="3038475"/>
          </a:xfrm>
        </p:grpSpPr>
        <p:grpSp>
          <p:nvGrpSpPr>
            <p:cNvPr id="40" name="Group 40"/>
            <p:cNvGrpSpPr/>
            <p:nvPr/>
          </p:nvGrpSpPr>
          <p:grpSpPr>
            <a:xfrm>
              <a:off x="0" y="0"/>
              <a:ext cx="7086600" cy="3038475"/>
              <a:chOff x="0" y="0"/>
              <a:chExt cx="7086600" cy="3038475"/>
            </a:xfrm>
          </p:grpSpPr>
          <p:sp>
            <p:nvSpPr>
              <p:cNvPr id="41" name="Freeform 41" descr="image.png"/>
              <p:cNvSpPr/>
              <p:nvPr/>
            </p:nvSpPr>
            <p:spPr>
              <a:xfrm>
                <a:off x="0" y="0"/>
                <a:ext cx="7086600" cy="3038475"/>
              </a:xfrm>
              <a:custGeom>
                <a:avLst/>
                <a:gdLst/>
                <a:ahLst/>
                <a:cxnLst/>
                <a:rect l="l" t="t" r="r" b="b"/>
                <a:pathLst>
                  <a:path w="7086600" h="3038475">
                    <a:moveTo>
                      <a:pt x="0" y="0"/>
                    </a:moveTo>
                    <a:lnTo>
                      <a:pt x="7086600" y="0"/>
                    </a:lnTo>
                    <a:lnTo>
                      <a:pt x="7086600" y="3038475"/>
                    </a:lnTo>
                    <a:lnTo>
                      <a:pt x="0" y="303847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t="-156" b="-156"/>
                </a:stretch>
              </a:blipFill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571500" y="1228725"/>
              <a:ext cx="6038850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30"/>
                </a:lnSpc>
              </a:pPr>
              <a:r>
                <a:rPr lang="en-US" sz="1687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Houses hardware security enclaves, cryptographic engines, and external bus interfaces.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571500" y="533400"/>
              <a:ext cx="457200" cy="457200"/>
              <a:chOff x="0" y="0"/>
              <a:chExt cx="457200" cy="457200"/>
            </a:xfrm>
          </p:grpSpPr>
          <p:sp>
            <p:nvSpPr>
              <p:cNvPr id="44" name="Freeform 44" descr="image.png"/>
              <p:cNvSpPr/>
              <p:nvPr/>
            </p:nvSpPr>
            <p:spPr>
              <a:xfrm>
                <a:off x="0" y="0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0" y="0"/>
                    </a:moveTo>
                    <a:lnTo>
                      <a:pt x="457200" y="0"/>
                    </a:lnTo>
                    <a:lnTo>
                      <a:pt x="4572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t="-2083" b="-2083"/>
                </a:stretch>
              </a:blipFill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257300" y="447675"/>
              <a:ext cx="2860358" cy="600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2250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Security &amp; I/O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857250" y="666750"/>
            <a:ext cx="17402175" cy="8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30"/>
              </a:lnSpc>
            </a:pPr>
            <a:r>
              <a:rPr lang="en-US" sz="4275" b="1">
                <a:solidFill>
                  <a:srgbClr val="1E1B4B"/>
                </a:solidFill>
                <a:latin typeface="Poppins Bold"/>
                <a:ea typeface="Poppins Bold"/>
                <a:cs typeface="Poppins Bold"/>
                <a:sym typeface="Poppins Bold"/>
              </a:rPr>
              <a:t>Core Modules within an SoC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582543" y="-571500"/>
            <a:ext cx="3761857" cy="81119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854"/>
              </a:lnSpc>
            </a:pPr>
            <a:r>
              <a:rPr lang="en-US" sz="49896" b="1" dirty="0">
                <a:solidFill>
                  <a:srgbClr val="30383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?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4183392" y="8279540"/>
            <a:ext cx="13843932" cy="1464215"/>
            <a:chOff x="0" y="0"/>
            <a:chExt cx="18458576" cy="1952287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18458576" cy="1952287"/>
              <a:chOff x="0" y="0"/>
              <a:chExt cx="3646139" cy="385637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646139" cy="385637"/>
              </a:xfrm>
              <a:custGeom>
                <a:avLst/>
                <a:gdLst/>
                <a:ahLst/>
                <a:cxnLst/>
                <a:rect l="l" t="t" r="r" b="b"/>
                <a:pathLst>
                  <a:path w="3646139" h="385637">
                    <a:moveTo>
                      <a:pt x="28521" y="0"/>
                    </a:moveTo>
                    <a:lnTo>
                      <a:pt x="3617618" y="0"/>
                    </a:lnTo>
                    <a:cubicBezTo>
                      <a:pt x="3625182" y="0"/>
                      <a:pt x="3632436" y="3005"/>
                      <a:pt x="3637785" y="8354"/>
                    </a:cubicBezTo>
                    <a:cubicBezTo>
                      <a:pt x="3643134" y="13702"/>
                      <a:pt x="3646139" y="20957"/>
                      <a:pt x="3646139" y="28521"/>
                    </a:cubicBezTo>
                    <a:lnTo>
                      <a:pt x="3646139" y="357116"/>
                    </a:lnTo>
                    <a:cubicBezTo>
                      <a:pt x="3646139" y="364680"/>
                      <a:pt x="3643134" y="371935"/>
                      <a:pt x="3637785" y="377283"/>
                    </a:cubicBezTo>
                    <a:cubicBezTo>
                      <a:pt x="3632436" y="382632"/>
                      <a:pt x="3625182" y="385637"/>
                      <a:pt x="3617618" y="385637"/>
                    </a:cubicBezTo>
                    <a:lnTo>
                      <a:pt x="28521" y="385637"/>
                    </a:lnTo>
                    <a:cubicBezTo>
                      <a:pt x="20957" y="385637"/>
                      <a:pt x="13702" y="382632"/>
                      <a:pt x="8354" y="377283"/>
                    </a:cubicBezTo>
                    <a:cubicBezTo>
                      <a:pt x="3005" y="371935"/>
                      <a:pt x="0" y="364680"/>
                      <a:pt x="0" y="357116"/>
                    </a:cubicBezTo>
                    <a:lnTo>
                      <a:pt x="0" y="28521"/>
                    </a:lnTo>
                    <a:cubicBezTo>
                      <a:pt x="0" y="20957"/>
                      <a:pt x="3005" y="13702"/>
                      <a:pt x="8354" y="8354"/>
                    </a:cubicBezTo>
                    <a:cubicBezTo>
                      <a:pt x="13702" y="3005"/>
                      <a:pt x="20957" y="0"/>
                      <a:pt x="28521" y="0"/>
                    </a:cubicBezTo>
                    <a:close/>
                  </a:path>
                </a:pathLst>
              </a:custGeom>
              <a:solidFill>
                <a:srgbClr val="30383F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3646139" cy="42373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08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311167" y="353300"/>
              <a:ext cx="18147409" cy="11504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7276"/>
                </a:lnSpc>
              </a:pPr>
              <a:r>
                <a:rPr lang="en-US" sz="5197" b="1">
                  <a:solidFill>
                    <a:srgbClr val="E1E4EB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Why Integrate Everything Into One Chip?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13745760" y="907378"/>
            <a:ext cx="3241395" cy="4766758"/>
          </a:xfrm>
          <a:custGeom>
            <a:avLst/>
            <a:gdLst/>
            <a:ahLst/>
            <a:cxnLst/>
            <a:rect l="l" t="t" r="r" b="b"/>
            <a:pathLst>
              <a:path w="3241395" h="4766758">
                <a:moveTo>
                  <a:pt x="0" y="0"/>
                </a:moveTo>
                <a:lnTo>
                  <a:pt x="3241396" y="0"/>
                </a:lnTo>
                <a:lnTo>
                  <a:pt x="3241396" y="4766758"/>
                </a:lnTo>
                <a:lnTo>
                  <a:pt x="0" y="47667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170966" y="1900042"/>
            <a:ext cx="2895135" cy="1821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906"/>
              </a:lnSpc>
            </a:pPr>
            <a:r>
              <a:rPr lang="en-US" sz="10647" b="1">
                <a:solidFill>
                  <a:srgbClr val="30383F"/>
                </a:solidFill>
                <a:latin typeface="DM Sans Bold"/>
                <a:ea typeface="DM Sans Bold"/>
                <a:cs typeface="DM Sans Bold"/>
                <a:sym typeface="DM Sans Bold"/>
              </a:rPr>
              <a:t>BUT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0966" y="3086100"/>
            <a:ext cx="7973033" cy="44421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332"/>
              </a:lnSpc>
            </a:pPr>
            <a:r>
              <a:rPr lang="en-US" sz="25951" b="1" dirty="0">
                <a:solidFill>
                  <a:srgbClr val="30383F"/>
                </a:solidFill>
                <a:latin typeface="DM Sans Bold"/>
                <a:ea typeface="DM Sans Bold"/>
                <a:cs typeface="DM Sans Bold"/>
                <a:sym typeface="DM Sans Bold"/>
              </a:rPr>
              <a:t>WHY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86570" y="158262"/>
            <a:ext cx="4386802" cy="3673167"/>
            <a:chOff x="0" y="0"/>
            <a:chExt cx="1155372" cy="9674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55372" cy="967418"/>
            </a:xfrm>
            <a:custGeom>
              <a:avLst/>
              <a:gdLst/>
              <a:ahLst/>
              <a:cxnLst/>
              <a:rect l="l" t="t" r="r" b="b"/>
              <a:pathLst>
                <a:path w="1155372" h="967418">
                  <a:moveTo>
                    <a:pt x="0" y="0"/>
                  </a:moveTo>
                  <a:lnTo>
                    <a:pt x="1155372" y="0"/>
                  </a:lnTo>
                  <a:lnTo>
                    <a:pt x="1155372" y="967418"/>
                  </a:lnTo>
                  <a:lnTo>
                    <a:pt x="0" y="967418"/>
                  </a:lnTo>
                  <a:close/>
                </a:path>
              </a:pathLst>
            </a:custGeom>
            <a:solidFill>
              <a:srgbClr val="30383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155372" cy="10055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08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410041" y="158262"/>
            <a:ext cx="4144075" cy="3673167"/>
            <a:chOff x="0" y="0"/>
            <a:chExt cx="1091444" cy="96741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1444" cy="967418"/>
            </a:xfrm>
            <a:custGeom>
              <a:avLst/>
              <a:gdLst/>
              <a:ahLst/>
              <a:cxnLst/>
              <a:rect l="l" t="t" r="r" b="b"/>
              <a:pathLst>
                <a:path w="1091444" h="967418">
                  <a:moveTo>
                    <a:pt x="0" y="0"/>
                  </a:moveTo>
                  <a:lnTo>
                    <a:pt x="1091444" y="0"/>
                  </a:lnTo>
                  <a:lnTo>
                    <a:pt x="1091444" y="967418"/>
                  </a:lnTo>
                  <a:lnTo>
                    <a:pt x="0" y="967418"/>
                  </a:lnTo>
                  <a:close/>
                </a:path>
              </a:pathLst>
            </a:custGeom>
            <a:solidFill>
              <a:srgbClr val="30383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091444" cy="10055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08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568576" y="-541754"/>
            <a:ext cx="15683328" cy="4373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71"/>
              </a:lnSpc>
            </a:pPr>
            <a:r>
              <a:rPr lang="en-US" sz="25551" b="1">
                <a:solidFill>
                  <a:srgbClr val="E1E4EB"/>
                </a:solidFill>
                <a:latin typeface="DM Sans Bold"/>
                <a:ea typeface="DM Sans Bold"/>
                <a:cs typeface="DM Sans Bold"/>
                <a:sym typeface="DM Sans Bold"/>
              </a:rPr>
              <a:t>Eff</a:t>
            </a:r>
            <a:r>
              <a:rPr lang="en-US" sz="25551" b="1">
                <a:solidFill>
                  <a:srgbClr val="30383F"/>
                </a:solidFill>
                <a:latin typeface="DM Sans Bold"/>
                <a:ea typeface="DM Sans Bold"/>
                <a:cs typeface="DM Sans Bold"/>
                <a:sym typeface="DM Sans Bold"/>
              </a:rPr>
              <a:t>icien</a:t>
            </a:r>
            <a:r>
              <a:rPr lang="en-US" sz="25551" b="1">
                <a:solidFill>
                  <a:srgbClr val="E1E4EB"/>
                </a:solidFill>
                <a:latin typeface="DM Sans Bold"/>
                <a:ea typeface="DM Sans Bold"/>
                <a:cs typeface="DM Sans Bold"/>
                <a:sym typeface="DM Sans Bold"/>
              </a:rPr>
              <a:t>cy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99478" y="4882126"/>
            <a:ext cx="3831167" cy="887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E1E4EB"/>
                </a:solidFill>
                <a:latin typeface="DM Sans Bold"/>
                <a:ea typeface="DM Sans Bold"/>
                <a:cs typeface="DM Sans Bold"/>
                <a:sym typeface="DM Sans Bold"/>
              </a:rPr>
              <a:t>Smaller Size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230779" y="4260362"/>
            <a:ext cx="16573500" cy="5400675"/>
            <a:chOff x="0" y="0"/>
            <a:chExt cx="22098000" cy="7200900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10820400" cy="3371850"/>
              <a:chOff x="0" y="0"/>
              <a:chExt cx="10820400" cy="3371850"/>
            </a:xfrm>
          </p:grpSpPr>
          <p:sp>
            <p:nvSpPr>
              <p:cNvPr id="12" name="Freeform 12" descr="image.png"/>
              <p:cNvSpPr/>
              <p:nvPr/>
            </p:nvSpPr>
            <p:spPr>
              <a:xfrm>
                <a:off x="0" y="0"/>
                <a:ext cx="10820400" cy="3371850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3371850">
                    <a:moveTo>
                      <a:pt x="0" y="0"/>
                    </a:moveTo>
                    <a:lnTo>
                      <a:pt x="10820400" y="0"/>
                    </a:lnTo>
                    <a:lnTo>
                      <a:pt x="10820400" y="3371850"/>
                    </a:lnTo>
                    <a:lnTo>
                      <a:pt x="0" y="33718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"/>
                <a:stretch>
                  <a:fillRect t="-282" b="-282"/>
                </a:stretch>
              </a:blipFill>
            </p:spPr>
          </p:sp>
        </p:grpSp>
        <p:grpSp>
          <p:nvGrpSpPr>
            <p:cNvPr id="13" name="Group 13"/>
            <p:cNvGrpSpPr/>
            <p:nvPr/>
          </p:nvGrpSpPr>
          <p:grpSpPr>
            <a:xfrm>
              <a:off x="11277600" y="0"/>
              <a:ext cx="10820400" cy="3371850"/>
              <a:chOff x="0" y="0"/>
              <a:chExt cx="10820400" cy="3371850"/>
            </a:xfrm>
          </p:grpSpPr>
          <p:sp>
            <p:nvSpPr>
              <p:cNvPr id="14" name="Freeform 14" descr="image.png"/>
              <p:cNvSpPr/>
              <p:nvPr/>
            </p:nvSpPr>
            <p:spPr>
              <a:xfrm>
                <a:off x="0" y="0"/>
                <a:ext cx="10820400" cy="3371850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3371850">
                    <a:moveTo>
                      <a:pt x="0" y="0"/>
                    </a:moveTo>
                    <a:lnTo>
                      <a:pt x="10820400" y="0"/>
                    </a:lnTo>
                    <a:lnTo>
                      <a:pt x="10820400" y="3371850"/>
                    </a:lnTo>
                    <a:lnTo>
                      <a:pt x="0" y="33718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82" b="-282"/>
                </a:stretch>
              </a:blipFill>
            </p:spPr>
          </p:sp>
        </p:grpSp>
        <p:grpSp>
          <p:nvGrpSpPr>
            <p:cNvPr id="15" name="Group 15"/>
            <p:cNvGrpSpPr/>
            <p:nvPr/>
          </p:nvGrpSpPr>
          <p:grpSpPr>
            <a:xfrm>
              <a:off x="0" y="3829050"/>
              <a:ext cx="10820400" cy="3371850"/>
              <a:chOff x="0" y="0"/>
              <a:chExt cx="10820400" cy="3371850"/>
            </a:xfrm>
          </p:grpSpPr>
          <p:sp>
            <p:nvSpPr>
              <p:cNvPr id="16" name="Freeform 16" descr="image.png"/>
              <p:cNvSpPr/>
              <p:nvPr/>
            </p:nvSpPr>
            <p:spPr>
              <a:xfrm>
                <a:off x="0" y="0"/>
                <a:ext cx="10820400" cy="3371850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3371850">
                    <a:moveTo>
                      <a:pt x="0" y="0"/>
                    </a:moveTo>
                    <a:lnTo>
                      <a:pt x="10820400" y="0"/>
                    </a:lnTo>
                    <a:lnTo>
                      <a:pt x="10820400" y="3371850"/>
                    </a:lnTo>
                    <a:lnTo>
                      <a:pt x="0" y="33718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t="-282" b="-282"/>
                </a:stretch>
              </a:blipFill>
            </p:spPr>
          </p:sp>
        </p:grpSp>
        <p:grpSp>
          <p:nvGrpSpPr>
            <p:cNvPr id="17" name="Group 17"/>
            <p:cNvGrpSpPr/>
            <p:nvPr/>
          </p:nvGrpSpPr>
          <p:grpSpPr>
            <a:xfrm>
              <a:off x="11277600" y="3829050"/>
              <a:ext cx="10820400" cy="3371850"/>
              <a:chOff x="0" y="0"/>
              <a:chExt cx="10820400" cy="3371850"/>
            </a:xfrm>
          </p:grpSpPr>
          <p:sp>
            <p:nvSpPr>
              <p:cNvPr id="18" name="Freeform 18" descr="image.png"/>
              <p:cNvSpPr/>
              <p:nvPr/>
            </p:nvSpPr>
            <p:spPr>
              <a:xfrm>
                <a:off x="0" y="0"/>
                <a:ext cx="10820400" cy="3371850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3371850">
                    <a:moveTo>
                      <a:pt x="0" y="0"/>
                    </a:moveTo>
                    <a:lnTo>
                      <a:pt x="10820400" y="0"/>
                    </a:lnTo>
                    <a:lnTo>
                      <a:pt x="10820400" y="3371850"/>
                    </a:lnTo>
                    <a:lnTo>
                      <a:pt x="0" y="33718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282" b="-282"/>
                </a:stretch>
              </a:blipFill>
            </p:spPr>
          </p:sp>
        </p:grpSp>
        <p:grpSp>
          <p:nvGrpSpPr>
            <p:cNvPr id="19" name="Group 19"/>
            <p:cNvGrpSpPr/>
            <p:nvPr/>
          </p:nvGrpSpPr>
          <p:grpSpPr>
            <a:xfrm>
              <a:off x="609600" y="609600"/>
              <a:ext cx="1219200" cy="1219200"/>
              <a:chOff x="0" y="0"/>
              <a:chExt cx="1219200" cy="1219200"/>
            </a:xfrm>
          </p:grpSpPr>
          <p:sp>
            <p:nvSpPr>
              <p:cNvPr id="20" name="Freeform 20" descr="image.png"/>
              <p:cNvSpPr/>
              <p:nvPr/>
            </p:nvSpPr>
            <p:spPr>
              <a:xfrm>
                <a:off x="0" y="0"/>
                <a:ext cx="1219200" cy="1219200"/>
              </a:xfrm>
              <a:custGeom>
                <a:avLst/>
                <a:gdLst/>
                <a:ahLst/>
                <a:cxnLst/>
                <a:rect l="l" t="t" r="r" b="b"/>
                <a:pathLst>
                  <a:path w="1219200" h="1219200">
                    <a:moveTo>
                      <a:pt x="0" y="0"/>
                    </a:moveTo>
                    <a:lnTo>
                      <a:pt x="1219200" y="0"/>
                    </a:lnTo>
                    <a:lnTo>
                      <a:pt x="1219200" y="1219200"/>
                    </a:lnTo>
                    <a:lnTo>
                      <a:pt x="0" y="1219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781" b="-781"/>
                </a:stretch>
              </a:blipFill>
            </p:spPr>
          </p:sp>
        </p:grpSp>
        <p:grpSp>
          <p:nvGrpSpPr>
            <p:cNvPr id="21" name="Group 21"/>
            <p:cNvGrpSpPr/>
            <p:nvPr/>
          </p:nvGrpSpPr>
          <p:grpSpPr>
            <a:xfrm>
              <a:off x="11887200" y="609600"/>
              <a:ext cx="1219200" cy="1219200"/>
              <a:chOff x="0" y="0"/>
              <a:chExt cx="1219200" cy="1219200"/>
            </a:xfrm>
          </p:grpSpPr>
          <p:sp>
            <p:nvSpPr>
              <p:cNvPr id="22" name="Freeform 22" descr="image.png"/>
              <p:cNvSpPr/>
              <p:nvPr/>
            </p:nvSpPr>
            <p:spPr>
              <a:xfrm>
                <a:off x="0" y="0"/>
                <a:ext cx="1219200" cy="1219200"/>
              </a:xfrm>
              <a:custGeom>
                <a:avLst/>
                <a:gdLst/>
                <a:ahLst/>
                <a:cxnLst/>
                <a:rect l="l" t="t" r="r" b="b"/>
                <a:pathLst>
                  <a:path w="1219200" h="1219200">
                    <a:moveTo>
                      <a:pt x="0" y="0"/>
                    </a:moveTo>
                    <a:lnTo>
                      <a:pt x="1219200" y="0"/>
                    </a:lnTo>
                    <a:lnTo>
                      <a:pt x="1219200" y="1219200"/>
                    </a:lnTo>
                    <a:lnTo>
                      <a:pt x="0" y="1219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t="-781" b="-781"/>
                </a:stretch>
              </a:blipFill>
            </p:spPr>
          </p:sp>
        </p:grpSp>
        <p:grpSp>
          <p:nvGrpSpPr>
            <p:cNvPr id="23" name="Group 23"/>
            <p:cNvGrpSpPr/>
            <p:nvPr/>
          </p:nvGrpSpPr>
          <p:grpSpPr>
            <a:xfrm>
              <a:off x="609600" y="4438650"/>
              <a:ext cx="1219200" cy="1219200"/>
              <a:chOff x="0" y="0"/>
              <a:chExt cx="1219200" cy="1219200"/>
            </a:xfrm>
          </p:grpSpPr>
          <p:sp>
            <p:nvSpPr>
              <p:cNvPr id="24" name="Freeform 24" descr="image.png"/>
              <p:cNvSpPr/>
              <p:nvPr/>
            </p:nvSpPr>
            <p:spPr>
              <a:xfrm>
                <a:off x="0" y="0"/>
                <a:ext cx="1219200" cy="1219200"/>
              </a:xfrm>
              <a:custGeom>
                <a:avLst/>
                <a:gdLst/>
                <a:ahLst/>
                <a:cxnLst/>
                <a:rect l="l" t="t" r="r" b="b"/>
                <a:pathLst>
                  <a:path w="1219200" h="1219200">
                    <a:moveTo>
                      <a:pt x="0" y="0"/>
                    </a:moveTo>
                    <a:lnTo>
                      <a:pt x="1219200" y="0"/>
                    </a:lnTo>
                    <a:lnTo>
                      <a:pt x="1219200" y="1219200"/>
                    </a:lnTo>
                    <a:lnTo>
                      <a:pt x="0" y="1219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t="-781" b="-781"/>
                </a:stretch>
              </a:blipFill>
            </p:spPr>
          </p:sp>
        </p:grpSp>
        <p:grpSp>
          <p:nvGrpSpPr>
            <p:cNvPr id="25" name="Group 25"/>
            <p:cNvGrpSpPr/>
            <p:nvPr/>
          </p:nvGrpSpPr>
          <p:grpSpPr>
            <a:xfrm>
              <a:off x="11887200" y="4438650"/>
              <a:ext cx="1219200" cy="1219200"/>
              <a:chOff x="0" y="0"/>
              <a:chExt cx="1219200" cy="1219200"/>
            </a:xfrm>
          </p:grpSpPr>
          <p:sp>
            <p:nvSpPr>
              <p:cNvPr id="26" name="Freeform 26" descr="image.png"/>
              <p:cNvSpPr/>
              <p:nvPr/>
            </p:nvSpPr>
            <p:spPr>
              <a:xfrm>
                <a:off x="0" y="0"/>
                <a:ext cx="1219200" cy="1219200"/>
              </a:xfrm>
              <a:custGeom>
                <a:avLst/>
                <a:gdLst/>
                <a:ahLst/>
                <a:cxnLst/>
                <a:rect l="l" t="t" r="r" b="b"/>
                <a:pathLst>
                  <a:path w="1219200" h="1219200">
                    <a:moveTo>
                      <a:pt x="0" y="0"/>
                    </a:moveTo>
                    <a:lnTo>
                      <a:pt x="1219200" y="0"/>
                    </a:lnTo>
                    <a:lnTo>
                      <a:pt x="1219200" y="1219200"/>
                    </a:lnTo>
                    <a:lnTo>
                      <a:pt x="0" y="1219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t="-781" b="-781"/>
                </a:stretch>
              </a:blipFill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981075" y="952500"/>
              <a:ext cx="476250" cy="533400"/>
              <a:chOff x="0" y="0"/>
              <a:chExt cx="476250" cy="533400"/>
            </a:xfrm>
          </p:grpSpPr>
          <p:sp>
            <p:nvSpPr>
              <p:cNvPr id="28" name="Freeform 28" descr="image.png"/>
              <p:cNvSpPr/>
              <p:nvPr/>
            </p:nvSpPr>
            <p:spPr>
              <a:xfrm>
                <a:off x="0" y="0"/>
                <a:ext cx="4762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533400">
                    <a:moveTo>
                      <a:pt x="0" y="0"/>
                    </a:moveTo>
                    <a:lnTo>
                      <a:pt x="476250" y="0"/>
                    </a:lnTo>
                    <a:lnTo>
                      <a:pt x="47625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l="-207" r="-205"/>
                </a:stretch>
              </a:blipFill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2209800" y="581025"/>
              <a:ext cx="8401050" cy="6572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70"/>
                </a:lnSpc>
              </a:pPr>
              <a:r>
                <a:rPr lang="en-US" sz="2475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Ultra-Low Power Consumption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09800" y="1333500"/>
              <a:ext cx="8001000" cy="1428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Shorter physical wire traces eliminate signal resistance and reduce dynamic power dissipation across motherboard traces.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12230100" y="952500"/>
              <a:ext cx="533400" cy="533400"/>
              <a:chOff x="0" y="0"/>
              <a:chExt cx="533400" cy="533400"/>
            </a:xfrm>
          </p:grpSpPr>
          <p:sp>
            <p:nvSpPr>
              <p:cNvPr id="32" name="Freeform 32" descr="image.png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533400">
                    <a:moveTo>
                      <a:pt x="0" y="0"/>
                    </a:moveTo>
                    <a:lnTo>
                      <a:pt x="533400" y="0"/>
                    </a:lnTo>
                    <a:lnTo>
                      <a:pt x="53340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t="-1785" b="-1785"/>
                </a:stretch>
              </a:blipFill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3487400" y="581025"/>
              <a:ext cx="8401050" cy="6572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70"/>
                </a:lnSpc>
              </a:pPr>
              <a:r>
                <a:rPr lang="en-US" sz="2475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Sub-nanosecond Latency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3487400" y="1333500"/>
              <a:ext cx="8001000" cy="1428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High-speed on-chip interconnect buses allow CPU, GPU, and NPU to share data near-instantly without memory bottlenecking.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981075" y="4781550"/>
              <a:ext cx="476250" cy="533400"/>
              <a:chOff x="0" y="0"/>
              <a:chExt cx="476250" cy="533400"/>
            </a:xfrm>
          </p:grpSpPr>
          <p:sp>
            <p:nvSpPr>
              <p:cNvPr id="36" name="Freeform 36" descr="image.png"/>
              <p:cNvSpPr/>
              <p:nvPr/>
            </p:nvSpPr>
            <p:spPr>
              <a:xfrm>
                <a:off x="0" y="0"/>
                <a:ext cx="4762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533400">
                    <a:moveTo>
                      <a:pt x="0" y="0"/>
                    </a:moveTo>
                    <a:lnTo>
                      <a:pt x="476250" y="0"/>
                    </a:lnTo>
                    <a:lnTo>
                      <a:pt x="47625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l="-207" r="-205"/>
                </a:stretch>
              </a:blipFill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2209800" y="4410075"/>
              <a:ext cx="8401050" cy="6572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70"/>
                </a:lnSpc>
              </a:pPr>
              <a:r>
                <a:rPr lang="en-US" sz="2475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Miniaturized Form Factor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209800" y="5162550"/>
              <a:ext cx="8001000" cy="1428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Combining multiple chips into a single package saves critical board space in smartphones, wearables, and thin laptops.</a:t>
              </a:r>
            </a:p>
          </p:txBody>
        </p:sp>
        <p:grpSp>
          <p:nvGrpSpPr>
            <p:cNvPr id="39" name="Group 39"/>
            <p:cNvGrpSpPr/>
            <p:nvPr/>
          </p:nvGrpSpPr>
          <p:grpSpPr>
            <a:xfrm>
              <a:off x="12334875" y="4781550"/>
              <a:ext cx="323850" cy="533400"/>
              <a:chOff x="0" y="0"/>
              <a:chExt cx="323850" cy="533400"/>
            </a:xfrm>
          </p:grpSpPr>
          <p:sp>
            <p:nvSpPr>
              <p:cNvPr id="40" name="Freeform 40" descr="image.png"/>
              <p:cNvSpPr/>
              <p:nvPr/>
            </p:nvSpPr>
            <p:spPr>
              <a:xfrm>
                <a:off x="0" y="0"/>
                <a:ext cx="3238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323850" h="533400">
                    <a:moveTo>
                      <a:pt x="0" y="0"/>
                    </a:moveTo>
                    <a:lnTo>
                      <a:pt x="323850" y="0"/>
                    </a:lnTo>
                    <a:lnTo>
                      <a:pt x="32385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l="-1113" r="-1117"/>
                </a:stretch>
              </a:blipFill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3487400" y="4410075"/>
              <a:ext cx="8401050" cy="6572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70"/>
                </a:lnSpc>
              </a:pPr>
              <a:r>
                <a:rPr lang="en-US" sz="2475" b="1">
                  <a:solidFill>
                    <a:srgbClr val="1E1B4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Cost-Effective Mass Production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3487400" y="5162550"/>
              <a:ext cx="8001000" cy="1428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US" sz="1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Lower overall bill-of-materials (BOM) cost by reducing discrete component assembly, testing, and packaging steps.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30982" y="276501"/>
            <a:ext cx="17006746" cy="3701059"/>
          </a:xfrm>
          <a:custGeom>
            <a:avLst/>
            <a:gdLst/>
            <a:ahLst/>
            <a:cxnLst/>
            <a:rect l="l" t="t" r="r" b="b"/>
            <a:pathLst>
              <a:path w="17006746" h="3701059">
                <a:moveTo>
                  <a:pt x="0" y="0"/>
                </a:moveTo>
                <a:lnTo>
                  <a:pt x="17006745" y="0"/>
                </a:lnTo>
                <a:lnTo>
                  <a:pt x="17006745" y="3701059"/>
                </a:lnTo>
                <a:lnTo>
                  <a:pt x="0" y="37010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13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737119" y="4490354"/>
            <a:ext cx="2715259" cy="1284925"/>
            <a:chOff x="0" y="0"/>
            <a:chExt cx="715130" cy="33841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15130" cy="338417"/>
            </a:xfrm>
            <a:custGeom>
              <a:avLst/>
              <a:gdLst/>
              <a:ahLst/>
              <a:cxnLst/>
              <a:rect l="l" t="t" r="r" b="b"/>
              <a:pathLst>
                <a:path w="715130" h="338417">
                  <a:moveTo>
                    <a:pt x="145414" y="0"/>
                  </a:moveTo>
                  <a:lnTo>
                    <a:pt x="569716" y="0"/>
                  </a:lnTo>
                  <a:cubicBezTo>
                    <a:pt x="608282" y="0"/>
                    <a:pt x="645269" y="15320"/>
                    <a:pt x="672539" y="42591"/>
                  </a:cubicBezTo>
                  <a:cubicBezTo>
                    <a:pt x="699810" y="69861"/>
                    <a:pt x="715130" y="106848"/>
                    <a:pt x="715130" y="145414"/>
                  </a:cubicBezTo>
                  <a:lnTo>
                    <a:pt x="715130" y="193002"/>
                  </a:lnTo>
                  <a:cubicBezTo>
                    <a:pt x="715130" y="273312"/>
                    <a:pt x="650026" y="338417"/>
                    <a:pt x="569716" y="338417"/>
                  </a:cubicBezTo>
                  <a:lnTo>
                    <a:pt x="145414" y="338417"/>
                  </a:lnTo>
                  <a:cubicBezTo>
                    <a:pt x="106848" y="338417"/>
                    <a:pt x="69861" y="323096"/>
                    <a:pt x="42591" y="295826"/>
                  </a:cubicBezTo>
                  <a:cubicBezTo>
                    <a:pt x="15320" y="268555"/>
                    <a:pt x="0" y="231568"/>
                    <a:pt x="0" y="193002"/>
                  </a:cubicBezTo>
                  <a:lnTo>
                    <a:pt x="0" y="145414"/>
                  </a:lnTo>
                  <a:cubicBezTo>
                    <a:pt x="0" y="106848"/>
                    <a:pt x="15320" y="69861"/>
                    <a:pt x="42591" y="42591"/>
                  </a:cubicBezTo>
                  <a:cubicBezTo>
                    <a:pt x="69861" y="15320"/>
                    <a:pt x="106848" y="0"/>
                    <a:pt x="145414" y="0"/>
                  </a:cubicBezTo>
                  <a:close/>
                </a:path>
              </a:pathLst>
            </a:custGeom>
            <a:solidFill>
              <a:srgbClr val="30383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715130" cy="3765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08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30982" y="7105659"/>
            <a:ext cx="2511151" cy="1284925"/>
            <a:chOff x="0" y="0"/>
            <a:chExt cx="661373" cy="33841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61373" cy="338417"/>
            </a:xfrm>
            <a:custGeom>
              <a:avLst/>
              <a:gdLst/>
              <a:ahLst/>
              <a:cxnLst/>
              <a:rect l="l" t="t" r="r" b="b"/>
              <a:pathLst>
                <a:path w="661373" h="338417">
                  <a:moveTo>
                    <a:pt x="157234" y="0"/>
                  </a:moveTo>
                  <a:lnTo>
                    <a:pt x="504139" y="0"/>
                  </a:lnTo>
                  <a:cubicBezTo>
                    <a:pt x="590977" y="0"/>
                    <a:pt x="661373" y="70396"/>
                    <a:pt x="661373" y="157234"/>
                  </a:cubicBezTo>
                  <a:lnTo>
                    <a:pt x="661373" y="181183"/>
                  </a:lnTo>
                  <a:cubicBezTo>
                    <a:pt x="661373" y="222884"/>
                    <a:pt x="644807" y="262877"/>
                    <a:pt x="615320" y="292364"/>
                  </a:cubicBezTo>
                  <a:cubicBezTo>
                    <a:pt x="585833" y="321851"/>
                    <a:pt x="545840" y="338417"/>
                    <a:pt x="504139" y="338417"/>
                  </a:cubicBezTo>
                  <a:lnTo>
                    <a:pt x="157234" y="338417"/>
                  </a:lnTo>
                  <a:cubicBezTo>
                    <a:pt x="115533" y="338417"/>
                    <a:pt x="75540" y="321851"/>
                    <a:pt x="46053" y="292364"/>
                  </a:cubicBezTo>
                  <a:cubicBezTo>
                    <a:pt x="16566" y="262877"/>
                    <a:pt x="0" y="222884"/>
                    <a:pt x="0" y="181183"/>
                  </a:cubicBezTo>
                  <a:lnTo>
                    <a:pt x="0" y="157234"/>
                  </a:lnTo>
                  <a:cubicBezTo>
                    <a:pt x="0" y="115533"/>
                    <a:pt x="16566" y="75540"/>
                    <a:pt x="46053" y="46053"/>
                  </a:cubicBezTo>
                  <a:cubicBezTo>
                    <a:pt x="75540" y="16566"/>
                    <a:pt x="115533" y="0"/>
                    <a:pt x="157234" y="0"/>
                  </a:cubicBezTo>
                  <a:close/>
                </a:path>
              </a:pathLst>
            </a:custGeom>
            <a:solidFill>
              <a:srgbClr val="30383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661373" cy="3765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08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rot="-620175">
            <a:off x="11004984" y="4468462"/>
            <a:ext cx="2443544" cy="2339346"/>
          </a:xfrm>
          <a:custGeom>
            <a:avLst/>
            <a:gdLst/>
            <a:ahLst/>
            <a:cxnLst/>
            <a:rect l="l" t="t" r="r" b="b"/>
            <a:pathLst>
              <a:path w="2443544" h="2339346">
                <a:moveTo>
                  <a:pt x="0" y="0"/>
                </a:moveTo>
                <a:lnTo>
                  <a:pt x="2443543" y="0"/>
                </a:lnTo>
                <a:lnTo>
                  <a:pt x="2443543" y="2339346"/>
                </a:lnTo>
                <a:lnTo>
                  <a:pt x="0" y="23393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2845" t="-30668" r="-10643" b="-41402"/>
            </a:stretch>
          </a:blipFill>
        </p:spPr>
      </p:sp>
      <p:sp>
        <p:nvSpPr>
          <p:cNvPr id="10" name="Freeform 10"/>
          <p:cNvSpPr/>
          <p:nvPr/>
        </p:nvSpPr>
        <p:spPr>
          <a:xfrm rot="745337">
            <a:off x="14686796" y="4505016"/>
            <a:ext cx="3011480" cy="2953774"/>
          </a:xfrm>
          <a:custGeom>
            <a:avLst/>
            <a:gdLst/>
            <a:ahLst/>
            <a:cxnLst/>
            <a:rect l="l" t="t" r="r" b="b"/>
            <a:pathLst>
              <a:path w="3011480" h="2953774">
                <a:moveTo>
                  <a:pt x="0" y="0"/>
                </a:moveTo>
                <a:lnTo>
                  <a:pt x="3011480" y="0"/>
                </a:lnTo>
                <a:lnTo>
                  <a:pt x="3011480" y="2953774"/>
                </a:lnTo>
                <a:lnTo>
                  <a:pt x="0" y="29537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2901" t="-42189" r="-116575" b="-30865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1812952" y="7262123"/>
            <a:ext cx="2809109" cy="2731372"/>
          </a:xfrm>
          <a:custGeom>
            <a:avLst/>
            <a:gdLst/>
            <a:ahLst/>
            <a:cxnLst/>
            <a:rect l="l" t="t" r="r" b="b"/>
            <a:pathLst>
              <a:path w="2809109" h="2731372">
                <a:moveTo>
                  <a:pt x="0" y="0"/>
                </a:moveTo>
                <a:lnTo>
                  <a:pt x="2809110" y="0"/>
                </a:lnTo>
                <a:lnTo>
                  <a:pt x="2809110" y="2731372"/>
                </a:lnTo>
                <a:lnTo>
                  <a:pt x="0" y="27313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67075" t="-6993" r="-63675" b="-11665"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900405" y="4479938"/>
            <a:ext cx="10361058" cy="4006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670"/>
              </a:lnSpc>
            </a:pPr>
            <a:r>
              <a:rPr lang="en-US" sz="7621" b="1">
                <a:solidFill>
                  <a:srgbClr val="E1E4E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ARM</a:t>
            </a:r>
            <a:r>
              <a:rPr lang="en-US" sz="7621" b="1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</a:t>
            </a:r>
            <a:r>
              <a:rPr lang="en-US" sz="7621" b="1">
                <a:solidFill>
                  <a:srgbClr val="30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architectures define the mobile </a:t>
            </a:r>
            <a:r>
              <a:rPr lang="en-US" sz="7621" b="1">
                <a:solidFill>
                  <a:srgbClr val="E1E4E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SoC  </a:t>
            </a:r>
            <a:r>
              <a:rPr lang="en-US" sz="7621" b="1">
                <a:solidFill>
                  <a:srgbClr val="30383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landscape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00405" y="8580184"/>
            <a:ext cx="6241672" cy="1298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1"/>
              </a:lnSpc>
            </a:pPr>
            <a:r>
              <a:rPr lang="en-US" sz="2501">
                <a:solidFill>
                  <a:srgbClr val="30383F"/>
                </a:solidFill>
                <a:latin typeface="Inter"/>
                <a:ea typeface="Inter"/>
                <a:cs typeface="Inter"/>
                <a:sym typeface="Inter"/>
              </a:rPr>
              <a:t>In smartphones, chips based on the ARM architecture are all built on this SoC concept.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871538" y="2014538"/>
            <a:ext cx="8022431" cy="7654976"/>
            <a:chOff x="0" y="0"/>
            <a:chExt cx="10696575" cy="10206634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10696575" cy="10206634"/>
              <a:chOff x="0" y="0"/>
              <a:chExt cx="10696575" cy="10206634"/>
            </a:xfrm>
          </p:grpSpPr>
          <p:sp>
            <p:nvSpPr>
              <p:cNvPr id="6" name="Freeform 6" descr="image.png"/>
              <p:cNvSpPr/>
              <p:nvPr/>
            </p:nvSpPr>
            <p:spPr>
              <a:xfrm>
                <a:off x="0" y="0"/>
                <a:ext cx="10696575" cy="10206609"/>
              </a:xfrm>
              <a:custGeom>
                <a:avLst/>
                <a:gdLst/>
                <a:ahLst/>
                <a:cxnLst/>
                <a:rect l="l" t="t" r="r" b="b"/>
                <a:pathLst>
                  <a:path w="10696575" h="10206609">
                    <a:moveTo>
                      <a:pt x="0" y="0"/>
                    </a:moveTo>
                    <a:lnTo>
                      <a:pt x="10696575" y="0"/>
                    </a:lnTo>
                    <a:lnTo>
                      <a:pt x="10696575" y="10206609"/>
                    </a:lnTo>
                    <a:lnTo>
                      <a:pt x="0" y="102066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l="-113" r="-113"/>
                </a:stretch>
              </a:blipFill>
            </p:spPr>
          </p:sp>
        </p:grpSp>
        <p:grpSp>
          <p:nvGrpSpPr>
            <p:cNvPr id="7" name="Group 7"/>
            <p:cNvGrpSpPr/>
            <p:nvPr/>
          </p:nvGrpSpPr>
          <p:grpSpPr>
            <a:xfrm>
              <a:off x="628650" y="762000"/>
              <a:ext cx="990600" cy="990600"/>
              <a:chOff x="0" y="0"/>
              <a:chExt cx="990600" cy="990600"/>
            </a:xfrm>
          </p:grpSpPr>
          <p:sp>
            <p:nvSpPr>
              <p:cNvPr id="8" name="Freeform 8" descr="image.png"/>
              <p:cNvSpPr/>
              <p:nvPr/>
            </p:nvSpPr>
            <p:spPr>
              <a:xfrm>
                <a:off x="0" y="0"/>
                <a:ext cx="990600" cy="990600"/>
              </a:xfrm>
              <a:custGeom>
                <a:avLst/>
                <a:gdLst/>
                <a:ahLst/>
                <a:cxnLst/>
                <a:rect l="l" t="t" r="r" b="b"/>
                <a:pathLst>
                  <a:path w="990600" h="990600">
                    <a:moveTo>
                      <a:pt x="0" y="0"/>
                    </a:moveTo>
                    <a:lnTo>
                      <a:pt x="990600" y="0"/>
                    </a:lnTo>
                    <a:lnTo>
                      <a:pt x="990600" y="990600"/>
                    </a:lnTo>
                    <a:lnTo>
                      <a:pt x="0" y="990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1924050" y="954291"/>
              <a:ext cx="5120640" cy="5771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0F172A"/>
                  </a:solidFill>
                  <a:latin typeface="Poppins"/>
                  <a:ea typeface="Poppins"/>
                  <a:cs typeface="Poppins"/>
                  <a:sym typeface="Poppins"/>
                </a:rPr>
                <a:t>Integration Evolution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62050" y="2105025"/>
              <a:ext cx="8905875" cy="9438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912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Core-Only Era:</a:t>
              </a:r>
              <a:r>
                <a:rPr lang="en-US" sz="1912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Early Intel and AMD processors provided only CPU processing cores on the die.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62050" y="3413519"/>
              <a:ext cx="8905875" cy="9438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912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On-Die Cache:</a:t>
              </a:r>
              <a:r>
                <a:rPr lang="en-US" sz="1912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Intel pioneered adding high-speed Cache memory directly into the CPU chip.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62050" y="4722012"/>
              <a:ext cx="8905875" cy="1439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912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Integrated Memory Controller:</a:t>
              </a:r>
              <a:r>
                <a:rPr lang="en-US" sz="1912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AMD moved the memory controller off the motherboard directly onto the CPU silicon.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62050" y="6532359"/>
              <a:ext cx="8905875" cy="15722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912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Core Benefit:</a:t>
              </a:r>
              <a:r>
                <a:rPr lang="en-US" sz="1912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Dramatically increased output, boosted overall system efficiency, and significantly reduced memory access latency.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82795" y="8777504"/>
              <a:ext cx="3515720" cy="688393"/>
              <a:chOff x="0" y="0"/>
              <a:chExt cx="2724150" cy="533400"/>
            </a:xfrm>
          </p:grpSpPr>
          <p:sp>
            <p:nvSpPr>
              <p:cNvPr id="15" name="Freeform 15" descr="image.png"/>
              <p:cNvSpPr/>
              <p:nvPr/>
            </p:nvSpPr>
            <p:spPr>
              <a:xfrm>
                <a:off x="0" y="0"/>
                <a:ext cx="27241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724150" h="533400">
                    <a:moveTo>
                      <a:pt x="0" y="0"/>
                    </a:moveTo>
                    <a:lnTo>
                      <a:pt x="2724150" y="0"/>
                    </a:lnTo>
                    <a:lnTo>
                      <a:pt x="272415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1785" b="-1785"/>
                </a:stretch>
              </a:blipFill>
            </p:spPr>
          </p:sp>
        </p:grpSp>
        <p:grpSp>
          <p:nvGrpSpPr>
            <p:cNvPr id="16" name="Group 16"/>
            <p:cNvGrpSpPr/>
            <p:nvPr/>
          </p:nvGrpSpPr>
          <p:grpSpPr>
            <a:xfrm>
              <a:off x="6322267" y="8777504"/>
              <a:ext cx="3265345" cy="743331"/>
              <a:chOff x="0" y="0"/>
              <a:chExt cx="2343150" cy="533400"/>
            </a:xfrm>
          </p:grpSpPr>
          <p:sp>
            <p:nvSpPr>
              <p:cNvPr id="17" name="Freeform 17" descr="image.png"/>
              <p:cNvSpPr/>
              <p:nvPr/>
            </p:nvSpPr>
            <p:spPr>
              <a:xfrm>
                <a:off x="0" y="0"/>
                <a:ext cx="23431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343150" h="533400">
                    <a:moveTo>
                      <a:pt x="0" y="0"/>
                    </a:moveTo>
                    <a:lnTo>
                      <a:pt x="2343150" y="0"/>
                    </a:lnTo>
                    <a:lnTo>
                      <a:pt x="234315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785" b="-1785"/>
                </a:stretch>
              </a:blipFill>
            </p:spPr>
          </p:sp>
        </p:grpSp>
        <p:grpSp>
          <p:nvGrpSpPr>
            <p:cNvPr id="18" name="Group 18"/>
            <p:cNvGrpSpPr/>
            <p:nvPr/>
          </p:nvGrpSpPr>
          <p:grpSpPr>
            <a:xfrm>
              <a:off x="876300" y="1009650"/>
              <a:ext cx="495300" cy="495300"/>
              <a:chOff x="0" y="0"/>
              <a:chExt cx="495300" cy="495300"/>
            </a:xfrm>
          </p:grpSpPr>
          <p:sp>
            <p:nvSpPr>
              <p:cNvPr id="19" name="Freeform 19" descr="image.png"/>
              <p:cNvSpPr/>
              <p:nvPr/>
            </p:nvSpPr>
            <p:spPr>
              <a:xfrm>
                <a:off x="0" y="0"/>
                <a:ext cx="49530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495300" h="495300">
                    <a:moveTo>
                      <a:pt x="0" y="0"/>
                    </a:moveTo>
                    <a:lnTo>
                      <a:pt x="495300" y="0"/>
                    </a:lnTo>
                    <a:lnTo>
                      <a:pt x="495300" y="495300"/>
                    </a:lnTo>
                    <a:lnTo>
                      <a:pt x="0" y="4953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/>
                </a:stretch>
              </a:blipFill>
            </p:spPr>
          </p:sp>
        </p:grpSp>
        <p:grpSp>
          <p:nvGrpSpPr>
            <p:cNvPr id="20" name="Group 20"/>
            <p:cNvGrpSpPr/>
            <p:nvPr/>
          </p:nvGrpSpPr>
          <p:grpSpPr>
            <a:xfrm>
              <a:off x="628650" y="2238375"/>
              <a:ext cx="171450" cy="285750"/>
              <a:chOff x="0" y="0"/>
              <a:chExt cx="171450" cy="285750"/>
            </a:xfrm>
          </p:grpSpPr>
          <p:sp>
            <p:nvSpPr>
              <p:cNvPr id="21" name="Freeform 21" descr="image.png"/>
              <p:cNvSpPr/>
              <p:nvPr/>
            </p:nvSpPr>
            <p:spPr>
              <a:xfrm>
                <a:off x="0" y="0"/>
                <a:ext cx="1714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857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285750"/>
                    </a:lnTo>
                    <a:lnTo>
                      <a:pt x="0" y="285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/>
                </a:stretch>
              </a:blipFill>
            </p:spPr>
          </p:sp>
        </p:grpSp>
        <p:grpSp>
          <p:nvGrpSpPr>
            <p:cNvPr id="22" name="Group 22"/>
            <p:cNvGrpSpPr/>
            <p:nvPr/>
          </p:nvGrpSpPr>
          <p:grpSpPr>
            <a:xfrm>
              <a:off x="628650" y="3546869"/>
              <a:ext cx="171450" cy="285750"/>
              <a:chOff x="0" y="0"/>
              <a:chExt cx="171450" cy="285750"/>
            </a:xfrm>
          </p:grpSpPr>
          <p:sp>
            <p:nvSpPr>
              <p:cNvPr id="23" name="Freeform 23" descr="image.png"/>
              <p:cNvSpPr/>
              <p:nvPr/>
            </p:nvSpPr>
            <p:spPr>
              <a:xfrm>
                <a:off x="0" y="0"/>
                <a:ext cx="1714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857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285750"/>
                    </a:lnTo>
                    <a:lnTo>
                      <a:pt x="0" y="285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/>
                </a:stretch>
              </a:blipFill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628650" y="4855362"/>
              <a:ext cx="171450" cy="285750"/>
              <a:chOff x="0" y="0"/>
              <a:chExt cx="171450" cy="285750"/>
            </a:xfrm>
          </p:grpSpPr>
          <p:sp>
            <p:nvSpPr>
              <p:cNvPr id="25" name="Freeform 25" descr="image.png"/>
              <p:cNvSpPr/>
              <p:nvPr/>
            </p:nvSpPr>
            <p:spPr>
              <a:xfrm>
                <a:off x="0" y="0"/>
                <a:ext cx="1714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857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285750"/>
                    </a:lnTo>
                    <a:lnTo>
                      <a:pt x="0" y="285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/>
                </a:stretch>
              </a:blipFill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628650" y="6665709"/>
              <a:ext cx="171450" cy="285750"/>
              <a:chOff x="0" y="0"/>
              <a:chExt cx="171450" cy="285750"/>
            </a:xfrm>
          </p:grpSpPr>
          <p:sp>
            <p:nvSpPr>
              <p:cNvPr id="27" name="Freeform 27" descr="image.png"/>
              <p:cNvSpPr/>
              <p:nvPr/>
            </p:nvSpPr>
            <p:spPr>
              <a:xfrm>
                <a:off x="0" y="0"/>
                <a:ext cx="1714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857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285750"/>
                    </a:lnTo>
                    <a:lnTo>
                      <a:pt x="0" y="285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/>
                </a:stretch>
              </a:blipFill>
            </p:spPr>
          </p:sp>
        </p:grpSp>
      </p:grpSp>
      <p:grpSp>
        <p:nvGrpSpPr>
          <p:cNvPr id="28" name="Group 28"/>
          <p:cNvGrpSpPr/>
          <p:nvPr/>
        </p:nvGrpSpPr>
        <p:grpSpPr>
          <a:xfrm>
            <a:off x="9394031" y="2014538"/>
            <a:ext cx="8022431" cy="7654976"/>
            <a:chOff x="0" y="0"/>
            <a:chExt cx="10696575" cy="10206634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10696575" cy="10206634"/>
              <a:chOff x="0" y="0"/>
              <a:chExt cx="10696575" cy="10206634"/>
            </a:xfrm>
          </p:grpSpPr>
          <p:sp>
            <p:nvSpPr>
              <p:cNvPr id="30" name="Freeform 30" descr="image.png"/>
              <p:cNvSpPr/>
              <p:nvPr/>
            </p:nvSpPr>
            <p:spPr>
              <a:xfrm>
                <a:off x="0" y="0"/>
                <a:ext cx="10696575" cy="10206609"/>
              </a:xfrm>
              <a:custGeom>
                <a:avLst/>
                <a:gdLst/>
                <a:ahLst/>
                <a:cxnLst/>
                <a:rect l="l" t="t" r="r" b="b"/>
                <a:pathLst>
                  <a:path w="10696575" h="10206609">
                    <a:moveTo>
                      <a:pt x="0" y="0"/>
                    </a:moveTo>
                    <a:lnTo>
                      <a:pt x="10696575" y="0"/>
                    </a:lnTo>
                    <a:lnTo>
                      <a:pt x="10696575" y="10206609"/>
                    </a:lnTo>
                    <a:lnTo>
                      <a:pt x="0" y="1020660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l="-113" r="-113"/>
                </a:stretch>
              </a:blipFill>
            </p:spPr>
          </p:sp>
        </p:grpSp>
        <p:grpSp>
          <p:nvGrpSpPr>
            <p:cNvPr id="31" name="Group 31"/>
            <p:cNvGrpSpPr/>
            <p:nvPr/>
          </p:nvGrpSpPr>
          <p:grpSpPr>
            <a:xfrm>
              <a:off x="628650" y="762000"/>
              <a:ext cx="990600" cy="990600"/>
              <a:chOff x="0" y="0"/>
              <a:chExt cx="990600" cy="990600"/>
            </a:xfrm>
          </p:grpSpPr>
          <p:sp>
            <p:nvSpPr>
              <p:cNvPr id="32" name="Freeform 32" descr="image.png"/>
              <p:cNvSpPr/>
              <p:nvPr/>
            </p:nvSpPr>
            <p:spPr>
              <a:xfrm>
                <a:off x="0" y="0"/>
                <a:ext cx="990600" cy="990600"/>
              </a:xfrm>
              <a:custGeom>
                <a:avLst/>
                <a:gdLst/>
                <a:ahLst/>
                <a:cxnLst/>
                <a:rect l="l" t="t" r="r" b="b"/>
                <a:pathLst>
                  <a:path w="990600" h="990600">
                    <a:moveTo>
                      <a:pt x="0" y="0"/>
                    </a:moveTo>
                    <a:lnTo>
                      <a:pt x="990600" y="0"/>
                    </a:lnTo>
                    <a:lnTo>
                      <a:pt x="990600" y="990600"/>
                    </a:lnTo>
                    <a:lnTo>
                      <a:pt x="0" y="990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961" r="-961"/>
                </a:stretch>
              </a:blipFill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924050" y="954291"/>
              <a:ext cx="5640705" cy="5771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0F172A"/>
                  </a:solidFill>
                  <a:latin typeface="Poppins"/>
                  <a:ea typeface="Poppins"/>
                  <a:cs typeface="Poppins"/>
                  <a:sym typeface="Poppins"/>
                </a:rPr>
                <a:t>APU &amp; Integrated GPUs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62050" y="2105025"/>
              <a:ext cx="8905875" cy="15722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912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Unified Chip Design:</a:t>
              </a:r>
              <a:r>
                <a:rPr lang="en-US" sz="1912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APUs (Accelerated Processing Units) and iGPUs integrate both CPU and GPU computational cores onto a single silicon die.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62050" y="3915372"/>
              <a:ext cx="8905875" cy="15722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912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Workload Versatility:</a:t>
              </a:r>
              <a:r>
                <a:rPr lang="en-US" sz="1912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Excellent performance for low to medium-level graphics tasks without requiring a dedicated discrete graphics card.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62050" y="5725719"/>
              <a:ext cx="8905875" cy="10703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912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Key Applications:</a:t>
              </a:r>
              <a:r>
                <a:rPr lang="en-US" sz="1912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Video editing, file compression, mid-level gaming, and light numerical simulations.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62050" y="7034213"/>
              <a:ext cx="8905875" cy="15722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912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Space &amp; Power Saver:</a:t>
              </a:r>
              <a:r>
                <a:rPr lang="en-US" sz="1912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Reduces overall power draw, heat generation, and physical space within computing hardware.</a:t>
              </a:r>
            </a:p>
          </p:txBody>
        </p:sp>
        <p:grpSp>
          <p:nvGrpSpPr>
            <p:cNvPr id="38" name="Group 38"/>
            <p:cNvGrpSpPr/>
            <p:nvPr/>
          </p:nvGrpSpPr>
          <p:grpSpPr>
            <a:xfrm>
              <a:off x="628650" y="8987434"/>
              <a:ext cx="3143250" cy="533400"/>
              <a:chOff x="0" y="0"/>
              <a:chExt cx="3143250" cy="533400"/>
            </a:xfrm>
          </p:grpSpPr>
          <p:sp>
            <p:nvSpPr>
              <p:cNvPr id="39" name="Freeform 39" descr="image.png"/>
              <p:cNvSpPr/>
              <p:nvPr/>
            </p:nvSpPr>
            <p:spPr>
              <a:xfrm>
                <a:off x="0" y="0"/>
                <a:ext cx="31432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3143250" h="533400">
                    <a:moveTo>
                      <a:pt x="0" y="0"/>
                    </a:moveTo>
                    <a:lnTo>
                      <a:pt x="3143250" y="0"/>
                    </a:lnTo>
                    <a:lnTo>
                      <a:pt x="314325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l="-303" r="-303"/>
                </a:stretch>
              </a:blipFill>
            </p:spPr>
          </p:sp>
        </p:grpSp>
        <p:grpSp>
          <p:nvGrpSpPr>
            <p:cNvPr id="40" name="Group 40"/>
            <p:cNvGrpSpPr/>
            <p:nvPr/>
          </p:nvGrpSpPr>
          <p:grpSpPr>
            <a:xfrm>
              <a:off x="3962400" y="8987434"/>
              <a:ext cx="2667000" cy="533400"/>
              <a:chOff x="0" y="0"/>
              <a:chExt cx="2667000" cy="533400"/>
            </a:xfrm>
          </p:grpSpPr>
          <p:sp>
            <p:nvSpPr>
              <p:cNvPr id="41" name="Freeform 41" descr="image.png"/>
              <p:cNvSpPr/>
              <p:nvPr/>
            </p:nvSpPr>
            <p:spPr>
              <a:xfrm>
                <a:off x="0" y="0"/>
                <a:ext cx="26670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667000" h="533400">
                    <a:moveTo>
                      <a:pt x="0" y="0"/>
                    </a:moveTo>
                    <a:lnTo>
                      <a:pt x="2667000" y="0"/>
                    </a:lnTo>
                    <a:lnTo>
                      <a:pt x="266700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l="-357" r="-357"/>
                </a:stretch>
              </a:blipFill>
            </p:spPr>
          </p:sp>
        </p:grpSp>
        <p:grpSp>
          <p:nvGrpSpPr>
            <p:cNvPr id="42" name="Group 42"/>
            <p:cNvGrpSpPr/>
            <p:nvPr/>
          </p:nvGrpSpPr>
          <p:grpSpPr>
            <a:xfrm>
              <a:off x="6819900" y="8987434"/>
              <a:ext cx="2381250" cy="533400"/>
              <a:chOff x="0" y="0"/>
              <a:chExt cx="2381250" cy="533400"/>
            </a:xfrm>
          </p:grpSpPr>
          <p:sp>
            <p:nvSpPr>
              <p:cNvPr id="43" name="Freeform 43" descr="image.png"/>
              <p:cNvSpPr/>
              <p:nvPr/>
            </p:nvSpPr>
            <p:spPr>
              <a:xfrm>
                <a:off x="0" y="0"/>
                <a:ext cx="238125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2381250" h="533400">
                    <a:moveTo>
                      <a:pt x="0" y="0"/>
                    </a:moveTo>
                    <a:lnTo>
                      <a:pt x="2381250" y="0"/>
                    </a:lnTo>
                    <a:lnTo>
                      <a:pt x="238125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l="-400" r="-400"/>
                </a:stretch>
              </a:blipFill>
            </p:spPr>
          </p:sp>
        </p:grpSp>
        <p:grpSp>
          <p:nvGrpSpPr>
            <p:cNvPr id="44" name="Group 44"/>
            <p:cNvGrpSpPr/>
            <p:nvPr/>
          </p:nvGrpSpPr>
          <p:grpSpPr>
            <a:xfrm>
              <a:off x="847725" y="1009650"/>
              <a:ext cx="552450" cy="495300"/>
              <a:chOff x="0" y="0"/>
              <a:chExt cx="552450" cy="495300"/>
            </a:xfrm>
          </p:grpSpPr>
          <p:sp>
            <p:nvSpPr>
              <p:cNvPr id="45" name="Freeform 45" descr="image.png"/>
              <p:cNvSpPr/>
              <p:nvPr/>
            </p:nvSpPr>
            <p:spPr>
              <a:xfrm>
                <a:off x="0" y="0"/>
                <a:ext cx="55245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552450" h="495300">
                    <a:moveTo>
                      <a:pt x="0" y="0"/>
                    </a:moveTo>
                    <a:lnTo>
                      <a:pt x="552450" y="0"/>
                    </a:lnTo>
                    <a:lnTo>
                      <a:pt x="552450" y="495300"/>
                    </a:lnTo>
                    <a:lnTo>
                      <a:pt x="0" y="4953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/>
                </a:stretch>
              </a:blipFill>
            </p:spPr>
          </p:sp>
        </p:grpSp>
        <p:grpSp>
          <p:nvGrpSpPr>
            <p:cNvPr id="46" name="Group 46"/>
            <p:cNvGrpSpPr/>
            <p:nvPr/>
          </p:nvGrpSpPr>
          <p:grpSpPr>
            <a:xfrm>
              <a:off x="628650" y="2238375"/>
              <a:ext cx="171450" cy="285750"/>
              <a:chOff x="0" y="0"/>
              <a:chExt cx="171450" cy="285750"/>
            </a:xfrm>
          </p:grpSpPr>
          <p:sp>
            <p:nvSpPr>
              <p:cNvPr id="47" name="Freeform 47" descr="image.png"/>
              <p:cNvSpPr/>
              <p:nvPr/>
            </p:nvSpPr>
            <p:spPr>
              <a:xfrm>
                <a:off x="0" y="0"/>
                <a:ext cx="1714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857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285750"/>
                    </a:lnTo>
                    <a:lnTo>
                      <a:pt x="0" y="285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/>
                </a:stretch>
              </a:blipFill>
            </p:spPr>
          </p:sp>
        </p:grpSp>
        <p:grpSp>
          <p:nvGrpSpPr>
            <p:cNvPr id="48" name="Group 48"/>
            <p:cNvGrpSpPr/>
            <p:nvPr/>
          </p:nvGrpSpPr>
          <p:grpSpPr>
            <a:xfrm>
              <a:off x="628650" y="4048722"/>
              <a:ext cx="171450" cy="285750"/>
              <a:chOff x="0" y="0"/>
              <a:chExt cx="171450" cy="285750"/>
            </a:xfrm>
          </p:grpSpPr>
          <p:sp>
            <p:nvSpPr>
              <p:cNvPr id="49" name="Freeform 49" descr="image.png"/>
              <p:cNvSpPr/>
              <p:nvPr/>
            </p:nvSpPr>
            <p:spPr>
              <a:xfrm>
                <a:off x="0" y="0"/>
                <a:ext cx="1714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857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285750"/>
                    </a:lnTo>
                    <a:lnTo>
                      <a:pt x="0" y="285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/>
                </a:stretch>
              </a:blipFill>
            </p:spPr>
          </p:sp>
        </p:grpSp>
        <p:grpSp>
          <p:nvGrpSpPr>
            <p:cNvPr id="50" name="Group 50"/>
            <p:cNvGrpSpPr/>
            <p:nvPr/>
          </p:nvGrpSpPr>
          <p:grpSpPr>
            <a:xfrm>
              <a:off x="628650" y="5859069"/>
              <a:ext cx="171450" cy="285750"/>
              <a:chOff x="0" y="0"/>
              <a:chExt cx="171450" cy="285750"/>
            </a:xfrm>
          </p:grpSpPr>
          <p:sp>
            <p:nvSpPr>
              <p:cNvPr id="51" name="Freeform 51" descr="image.png"/>
              <p:cNvSpPr/>
              <p:nvPr/>
            </p:nvSpPr>
            <p:spPr>
              <a:xfrm>
                <a:off x="0" y="0"/>
                <a:ext cx="1714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857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285750"/>
                    </a:lnTo>
                    <a:lnTo>
                      <a:pt x="0" y="285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/>
                </a:stretch>
              </a:blipFill>
            </p:spPr>
          </p:sp>
        </p:grpSp>
        <p:grpSp>
          <p:nvGrpSpPr>
            <p:cNvPr id="52" name="Group 52"/>
            <p:cNvGrpSpPr/>
            <p:nvPr/>
          </p:nvGrpSpPr>
          <p:grpSpPr>
            <a:xfrm>
              <a:off x="628650" y="7167562"/>
              <a:ext cx="171450" cy="285750"/>
              <a:chOff x="0" y="0"/>
              <a:chExt cx="171450" cy="285750"/>
            </a:xfrm>
          </p:grpSpPr>
          <p:sp>
            <p:nvSpPr>
              <p:cNvPr id="53" name="Freeform 53" descr="image.png"/>
              <p:cNvSpPr/>
              <p:nvPr/>
            </p:nvSpPr>
            <p:spPr>
              <a:xfrm>
                <a:off x="0" y="0"/>
                <a:ext cx="1714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85750">
                    <a:moveTo>
                      <a:pt x="0" y="0"/>
                    </a:moveTo>
                    <a:lnTo>
                      <a:pt x="171450" y="0"/>
                    </a:lnTo>
                    <a:lnTo>
                      <a:pt x="171450" y="285750"/>
                    </a:lnTo>
                    <a:lnTo>
                      <a:pt x="0" y="285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/>
                </a:stretch>
              </a:blipFill>
            </p:spPr>
          </p:sp>
        </p:grpSp>
      </p:grpSp>
      <p:sp>
        <p:nvSpPr>
          <p:cNvPr id="54" name="TextBox 54"/>
          <p:cNvSpPr txBox="1"/>
          <p:nvPr/>
        </p:nvSpPr>
        <p:spPr>
          <a:xfrm>
            <a:off x="871538" y="690562"/>
            <a:ext cx="17372171" cy="647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4050" b="1">
                <a:solidFill>
                  <a:srgbClr val="0F172A"/>
                </a:solidFill>
                <a:latin typeface="Poppins Bold"/>
                <a:ea typeface="Poppins Bold"/>
                <a:cs typeface="Poppins Bold"/>
                <a:sym typeface="Poppins Bold"/>
              </a:rPr>
              <a:t>Desktop CPU Evolution &amp; </a:t>
            </a:r>
            <a:r>
              <a:rPr lang="en-US" sz="4050" b="1">
                <a:solidFill>
                  <a:srgbClr val="2563EB"/>
                </a:solidFill>
                <a:latin typeface="Poppins Bold"/>
                <a:ea typeface="Poppins Bold"/>
                <a:cs typeface="Poppins Bold"/>
                <a:sym typeface="Poppins Bold"/>
              </a:rPr>
              <a:t>APUs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71334" y="2247900"/>
            <a:ext cx="8058151" cy="6612720"/>
            <a:chOff x="12095838" y="-1"/>
            <a:chExt cx="10744198" cy="8816955"/>
          </a:xfrm>
        </p:grpSpPr>
        <p:grpSp>
          <p:nvGrpSpPr>
            <p:cNvPr id="5" name="Group 5"/>
            <p:cNvGrpSpPr/>
            <p:nvPr/>
          </p:nvGrpSpPr>
          <p:grpSpPr>
            <a:xfrm>
              <a:off x="12600662" y="7915885"/>
              <a:ext cx="533400" cy="533400"/>
              <a:chOff x="0" y="0"/>
              <a:chExt cx="533400" cy="533400"/>
            </a:xfrm>
          </p:grpSpPr>
          <p:sp>
            <p:nvSpPr>
              <p:cNvPr id="6" name="Freeform 6" descr="image.png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533400">
                    <a:moveTo>
                      <a:pt x="0" y="0"/>
                    </a:moveTo>
                    <a:lnTo>
                      <a:pt x="533400" y="0"/>
                    </a:lnTo>
                    <a:lnTo>
                      <a:pt x="53340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2"/>
                <a:stretch>
                  <a:fillRect t="-1785" b="-1785"/>
                </a:stretch>
              </a:blipFill>
            </p:spPr>
          </p:sp>
        </p:grpSp>
        <p:grpSp>
          <p:nvGrpSpPr>
            <p:cNvPr id="7" name="Group 7"/>
            <p:cNvGrpSpPr/>
            <p:nvPr/>
          </p:nvGrpSpPr>
          <p:grpSpPr>
            <a:xfrm>
              <a:off x="12095838" y="-1"/>
              <a:ext cx="10744198" cy="6686548"/>
              <a:chOff x="0" y="0"/>
              <a:chExt cx="10744200" cy="6686550"/>
            </a:xfrm>
          </p:grpSpPr>
          <p:sp>
            <p:nvSpPr>
              <p:cNvPr id="8" name="Freeform 8" descr="image.png"/>
              <p:cNvSpPr/>
              <p:nvPr/>
            </p:nvSpPr>
            <p:spPr>
              <a:xfrm>
                <a:off x="0" y="0"/>
                <a:ext cx="10744200" cy="6686550"/>
              </a:xfrm>
              <a:custGeom>
                <a:avLst/>
                <a:gdLst/>
                <a:ahLst/>
                <a:cxnLst/>
                <a:rect l="l" t="t" r="r" b="b"/>
                <a:pathLst>
                  <a:path w="10744200" h="6686550">
                    <a:moveTo>
                      <a:pt x="0" y="0"/>
                    </a:moveTo>
                    <a:lnTo>
                      <a:pt x="10744200" y="0"/>
                    </a:lnTo>
                    <a:lnTo>
                      <a:pt x="10744200" y="6686550"/>
                    </a:lnTo>
                    <a:lnTo>
                      <a:pt x="0" y="66865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l="-8799" r="-8799"/>
                </a:stretch>
              </a:blipFill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12610189" y="1390649"/>
              <a:ext cx="4724400" cy="2152649"/>
              <a:chOff x="0" y="0"/>
              <a:chExt cx="4724400" cy="2152650"/>
            </a:xfrm>
          </p:grpSpPr>
          <p:sp>
            <p:nvSpPr>
              <p:cNvPr id="10" name="Freeform 10" descr="image.png"/>
              <p:cNvSpPr/>
              <p:nvPr/>
            </p:nvSpPr>
            <p:spPr>
              <a:xfrm>
                <a:off x="0" y="0"/>
                <a:ext cx="4724400" cy="2152650"/>
              </a:xfrm>
              <a:custGeom>
                <a:avLst/>
                <a:gdLst/>
                <a:ahLst/>
                <a:cxnLst/>
                <a:rect l="l" t="t" r="r" b="b"/>
                <a:pathLst>
                  <a:path w="4724400" h="2152650">
                    <a:moveTo>
                      <a:pt x="0" y="0"/>
                    </a:moveTo>
                    <a:lnTo>
                      <a:pt x="4724400" y="0"/>
                    </a:lnTo>
                    <a:lnTo>
                      <a:pt x="4724400" y="2152650"/>
                    </a:lnTo>
                    <a:lnTo>
                      <a:pt x="0" y="21526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806" r="-806"/>
                </a:stretch>
              </a:blip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17601289" y="1390649"/>
              <a:ext cx="4724400" cy="2152649"/>
              <a:chOff x="0" y="0"/>
              <a:chExt cx="4724400" cy="2152650"/>
            </a:xfrm>
          </p:grpSpPr>
          <p:sp>
            <p:nvSpPr>
              <p:cNvPr id="12" name="Freeform 12" descr="image.png"/>
              <p:cNvSpPr/>
              <p:nvPr/>
            </p:nvSpPr>
            <p:spPr>
              <a:xfrm>
                <a:off x="0" y="0"/>
                <a:ext cx="4724400" cy="2152650"/>
              </a:xfrm>
              <a:custGeom>
                <a:avLst/>
                <a:gdLst/>
                <a:ahLst/>
                <a:cxnLst/>
                <a:rect l="l" t="t" r="r" b="b"/>
                <a:pathLst>
                  <a:path w="4724400" h="2152650">
                    <a:moveTo>
                      <a:pt x="0" y="0"/>
                    </a:moveTo>
                    <a:lnTo>
                      <a:pt x="4724400" y="0"/>
                    </a:lnTo>
                    <a:lnTo>
                      <a:pt x="4724400" y="2152650"/>
                    </a:lnTo>
                    <a:lnTo>
                      <a:pt x="0" y="21526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806" r="-806"/>
                </a:stretch>
              </a:blipFill>
            </p:spPr>
          </p:sp>
        </p:grpSp>
        <p:grpSp>
          <p:nvGrpSpPr>
            <p:cNvPr id="13" name="Group 13"/>
            <p:cNvGrpSpPr/>
            <p:nvPr/>
          </p:nvGrpSpPr>
          <p:grpSpPr>
            <a:xfrm>
              <a:off x="12610190" y="3809998"/>
              <a:ext cx="9715499" cy="2362199"/>
              <a:chOff x="0" y="0"/>
              <a:chExt cx="9715500" cy="2362200"/>
            </a:xfrm>
          </p:grpSpPr>
          <p:sp>
            <p:nvSpPr>
              <p:cNvPr id="14" name="Freeform 14" descr="image.png"/>
              <p:cNvSpPr/>
              <p:nvPr/>
            </p:nvSpPr>
            <p:spPr>
              <a:xfrm>
                <a:off x="0" y="0"/>
                <a:ext cx="9715500" cy="2362200"/>
              </a:xfrm>
              <a:custGeom>
                <a:avLst/>
                <a:gdLst/>
                <a:ahLst/>
                <a:cxnLst/>
                <a:rect l="l" t="t" r="r" b="b"/>
                <a:pathLst>
                  <a:path w="9715500" h="2362200">
                    <a:moveTo>
                      <a:pt x="0" y="0"/>
                    </a:moveTo>
                    <a:lnTo>
                      <a:pt x="9715500" y="0"/>
                    </a:lnTo>
                    <a:lnTo>
                      <a:pt x="9715500" y="2362200"/>
                    </a:lnTo>
                    <a:lnTo>
                      <a:pt x="0" y="2362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5469" r="-15469"/>
                </a:stretch>
              </a:blipFill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2883242" y="504824"/>
              <a:ext cx="9442451" cy="428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sz="1575" b="1">
                  <a:solidFill>
                    <a:srgbClr val="38BDF8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SINGLE SILICON DIE (SOC SYSTEM)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12610191" y="1066799"/>
              <a:ext cx="9715500" cy="19051"/>
              <a:chOff x="0" y="0"/>
              <a:chExt cx="9715500" cy="1905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97155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715500" h="19050">
                    <a:moveTo>
                      <a:pt x="0" y="0"/>
                    </a:moveTo>
                    <a:lnTo>
                      <a:pt x="9715500" y="0"/>
                    </a:lnTo>
                    <a:lnTo>
                      <a:pt x="971550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334155"/>
              </a:solidFill>
            </p:spPr>
          </p:sp>
        </p:grpSp>
        <p:grpSp>
          <p:nvGrpSpPr>
            <p:cNvPr id="18" name="Group 18"/>
            <p:cNvGrpSpPr/>
            <p:nvPr/>
          </p:nvGrpSpPr>
          <p:grpSpPr>
            <a:xfrm>
              <a:off x="14415179" y="571499"/>
              <a:ext cx="295275" cy="266700"/>
              <a:chOff x="0" y="0"/>
              <a:chExt cx="295275" cy="266700"/>
            </a:xfrm>
          </p:grpSpPr>
          <p:sp>
            <p:nvSpPr>
              <p:cNvPr id="19" name="Freeform 19" descr="image.png"/>
              <p:cNvSpPr/>
              <p:nvPr/>
            </p:nvSpPr>
            <p:spPr>
              <a:xfrm>
                <a:off x="0" y="0"/>
                <a:ext cx="29527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95275" h="266700">
                    <a:moveTo>
                      <a:pt x="0" y="0"/>
                    </a:moveTo>
                    <a:lnTo>
                      <a:pt x="295275" y="0"/>
                    </a:lnTo>
                    <a:lnTo>
                      <a:pt x="295275" y="266700"/>
                    </a:lnTo>
                    <a:lnTo>
                      <a:pt x="0" y="266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t="-1895" b="-1900"/>
                </a:stretch>
              </a:blipFill>
            </p:spPr>
          </p:sp>
        </p:grpSp>
        <p:grpSp>
          <p:nvGrpSpPr>
            <p:cNvPr id="20" name="Group 20"/>
            <p:cNvGrpSpPr/>
            <p:nvPr/>
          </p:nvGrpSpPr>
          <p:grpSpPr>
            <a:xfrm>
              <a:off x="14686642" y="1752598"/>
              <a:ext cx="571500" cy="457200"/>
              <a:chOff x="0" y="0"/>
              <a:chExt cx="571500" cy="457200"/>
            </a:xfrm>
          </p:grpSpPr>
          <p:sp>
            <p:nvSpPr>
              <p:cNvPr id="21" name="Freeform 21" descr="image.png"/>
              <p:cNvSpPr/>
              <p:nvPr/>
            </p:nvSpPr>
            <p:spPr>
              <a:xfrm>
                <a:off x="0" y="0"/>
                <a:ext cx="5715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457200">
                    <a:moveTo>
                      <a:pt x="0" y="0"/>
                    </a:moveTo>
                    <a:lnTo>
                      <a:pt x="571500" y="0"/>
                    </a:lnTo>
                    <a:lnTo>
                      <a:pt x="57150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l="-1666" r="-1666"/>
                </a:stretch>
              </a:blipFill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238967" y="2352674"/>
              <a:ext cx="1466851" cy="4095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93C5FD"/>
                  </a:solidFill>
                  <a:latin typeface="Poppins"/>
                  <a:ea typeface="Poppins"/>
                  <a:cs typeface="Poppins"/>
                  <a:sym typeface="Poppins"/>
                </a:rPr>
                <a:t>CPU Cores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3886542" y="2905123"/>
              <a:ext cx="2171700" cy="2762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85"/>
                </a:lnSpc>
              </a:pPr>
              <a:r>
                <a:rPr lang="en-US" sz="1237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Orchestration &amp; Logic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19706317" y="1752598"/>
              <a:ext cx="514351" cy="457200"/>
              <a:chOff x="0" y="0"/>
              <a:chExt cx="514350" cy="457200"/>
            </a:xfrm>
          </p:grpSpPr>
          <p:sp>
            <p:nvSpPr>
              <p:cNvPr id="25" name="Freeform 25" descr="image.png"/>
              <p:cNvSpPr/>
              <p:nvPr/>
            </p:nvSpPr>
            <p:spPr>
              <a:xfrm>
                <a:off x="0" y="0"/>
                <a:ext cx="51435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457200">
                    <a:moveTo>
                      <a:pt x="0" y="0"/>
                    </a:moveTo>
                    <a:lnTo>
                      <a:pt x="514350" y="0"/>
                    </a:lnTo>
                    <a:lnTo>
                      <a:pt x="514350" y="457200"/>
                    </a:lnTo>
                    <a:lnTo>
                      <a:pt x="0" y="4572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l="-1851" r="-1851"/>
                </a:stretch>
              </a:blipFill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9182442" y="2352674"/>
              <a:ext cx="1562100" cy="4095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E9D5FF"/>
                  </a:solidFill>
                  <a:latin typeface="Poppins"/>
                  <a:ea typeface="Poppins"/>
                  <a:cs typeface="Poppins"/>
                  <a:sym typeface="Poppins"/>
                </a:rPr>
                <a:t>GPU Engine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877642" y="2905123"/>
              <a:ext cx="2171700" cy="2762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485"/>
                </a:lnSpc>
              </a:pPr>
              <a:r>
                <a:rPr lang="en-US" sz="1237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Rendering &amp; Graphics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17201241" y="4190998"/>
              <a:ext cx="533400" cy="533400"/>
              <a:chOff x="0" y="0"/>
              <a:chExt cx="533400" cy="533400"/>
            </a:xfrm>
          </p:grpSpPr>
          <p:sp>
            <p:nvSpPr>
              <p:cNvPr id="29" name="Freeform 29" descr="image.png"/>
              <p:cNvSpPr/>
              <p:nvPr/>
            </p:nvSpPr>
            <p:spPr>
              <a:xfrm>
                <a:off x="0" y="0"/>
                <a:ext cx="533400" cy="53340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533400">
                    <a:moveTo>
                      <a:pt x="0" y="0"/>
                    </a:moveTo>
                    <a:lnTo>
                      <a:pt x="533400" y="0"/>
                    </a:lnTo>
                    <a:lnTo>
                      <a:pt x="533400" y="533400"/>
                    </a:lnTo>
                    <a:lnTo>
                      <a:pt x="0" y="5334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785" r="-1785"/>
                </a:stretch>
              </a:blipFill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5124792" y="4857747"/>
              <a:ext cx="4686301" cy="495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1" dirty="0">
                  <a:solidFill>
                    <a:srgbClr val="A7F3D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NPU (Neural Processing Unit)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838916" y="5505448"/>
              <a:ext cx="7258050" cy="28575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en-US" sz="1350">
                  <a:solidFill>
                    <a:srgbClr val="6EE7B7"/>
                  </a:solidFill>
                  <a:latin typeface="Inter"/>
                  <a:ea typeface="Inter"/>
                  <a:cs typeface="Inter"/>
                  <a:sym typeface="Inter"/>
                </a:rPr>
                <a:t>Specialized On-Die Hardware for Real-Time AI &amp; Machine Learning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366295" y="7510124"/>
              <a:ext cx="8896351" cy="1306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77"/>
                </a:lnSpc>
              </a:pPr>
              <a:r>
                <a:rPr lang="en-US" sz="1912" b="1">
                  <a:solidFill>
                    <a:srgbClr val="0F172A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An </a:t>
              </a:r>
              <a:r>
                <a:rPr lang="en-US" sz="1912" b="1">
                  <a:solidFill>
                    <a:srgbClr val="04785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NPU does not have to be a separate chip</a:t>
              </a:r>
              <a:r>
                <a:rPr lang="en-US" sz="1912" b="1">
                  <a:solidFill>
                    <a:srgbClr val="0F172A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. It operates directly inside the SoC alongside the CPU &amp; GPU as one unified, high-efficiency system.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21858" y="724241"/>
            <a:ext cx="9746751" cy="735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84"/>
              </a:lnSpc>
            </a:pPr>
            <a:r>
              <a:rPr lang="en-US" sz="4570" b="1">
                <a:solidFill>
                  <a:srgbClr val="0F172A"/>
                </a:solidFill>
                <a:latin typeface="Poppins Bold"/>
                <a:ea typeface="Poppins Bold"/>
                <a:cs typeface="Poppins Bold"/>
                <a:sym typeface="Poppins Bold"/>
              </a:rPr>
              <a:t>NPU Integration inside the </a:t>
            </a:r>
            <a:r>
              <a:rPr lang="en-US" sz="4570" b="1">
                <a:solidFill>
                  <a:srgbClr val="2563EB"/>
                </a:solidFill>
                <a:latin typeface="Poppins Bold"/>
                <a:ea typeface="Poppins Bold"/>
                <a:cs typeface="Poppins Bold"/>
                <a:sym typeface="Poppins Bold"/>
              </a:rPr>
              <a:t>SoC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0104455" y="374148"/>
            <a:ext cx="7783701" cy="9419852"/>
            <a:chOff x="0" y="0"/>
            <a:chExt cx="10378268" cy="12559803"/>
          </a:xfrm>
        </p:grpSpPr>
        <p:sp>
          <p:nvSpPr>
            <p:cNvPr id="35" name="Freeform 35"/>
            <p:cNvSpPr/>
            <p:nvPr/>
          </p:nvSpPr>
          <p:spPr>
            <a:xfrm>
              <a:off x="5110038" y="0"/>
              <a:ext cx="5268229" cy="4293607"/>
            </a:xfrm>
            <a:custGeom>
              <a:avLst/>
              <a:gdLst/>
              <a:ahLst/>
              <a:cxnLst/>
              <a:rect l="l" t="t" r="r" b="b"/>
              <a:pathLst>
                <a:path w="5268229" h="4293607">
                  <a:moveTo>
                    <a:pt x="0" y="0"/>
                  </a:moveTo>
                  <a:lnTo>
                    <a:pt x="5268230" y="0"/>
                  </a:lnTo>
                  <a:lnTo>
                    <a:pt x="5268230" y="4293607"/>
                  </a:lnTo>
                  <a:lnTo>
                    <a:pt x="0" y="42936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</p:sp>
        <p:sp>
          <p:nvSpPr>
            <p:cNvPr id="36" name="Freeform 36"/>
            <p:cNvSpPr/>
            <p:nvPr/>
          </p:nvSpPr>
          <p:spPr>
            <a:xfrm>
              <a:off x="0" y="4839707"/>
              <a:ext cx="5167159" cy="3668683"/>
            </a:xfrm>
            <a:custGeom>
              <a:avLst/>
              <a:gdLst/>
              <a:ahLst/>
              <a:cxnLst/>
              <a:rect l="l" t="t" r="r" b="b"/>
              <a:pathLst>
                <a:path w="5167159" h="3668683">
                  <a:moveTo>
                    <a:pt x="0" y="0"/>
                  </a:moveTo>
                  <a:lnTo>
                    <a:pt x="5167159" y="0"/>
                  </a:lnTo>
                  <a:lnTo>
                    <a:pt x="5167159" y="3668683"/>
                  </a:lnTo>
                  <a:lnTo>
                    <a:pt x="0" y="36686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7" name="Freeform 37"/>
            <p:cNvSpPr/>
            <p:nvPr/>
          </p:nvSpPr>
          <p:spPr>
            <a:xfrm>
              <a:off x="5394916" y="9223887"/>
              <a:ext cx="4698473" cy="3335916"/>
            </a:xfrm>
            <a:custGeom>
              <a:avLst/>
              <a:gdLst/>
              <a:ahLst/>
              <a:cxnLst/>
              <a:rect l="l" t="t" r="r" b="b"/>
              <a:pathLst>
                <a:path w="4698473" h="3335916">
                  <a:moveTo>
                    <a:pt x="0" y="0"/>
                  </a:moveTo>
                  <a:lnTo>
                    <a:pt x="4698473" y="0"/>
                  </a:lnTo>
                  <a:lnTo>
                    <a:pt x="4698473" y="3335916"/>
                  </a:lnTo>
                  <a:lnTo>
                    <a:pt x="0" y="33359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8" name="Freeform 38"/>
            <p:cNvSpPr/>
            <p:nvPr/>
          </p:nvSpPr>
          <p:spPr>
            <a:xfrm>
              <a:off x="2506070" y="2146803"/>
              <a:ext cx="2603968" cy="2593088"/>
            </a:xfrm>
            <a:custGeom>
              <a:avLst/>
              <a:gdLst/>
              <a:ahLst/>
              <a:cxnLst/>
              <a:rect l="l" t="t" r="r" b="b"/>
              <a:pathLst>
                <a:path w="2603968" h="2593088">
                  <a:moveTo>
                    <a:pt x="2603968" y="0"/>
                  </a:moveTo>
                  <a:lnTo>
                    <a:pt x="1606784" y="0"/>
                  </a:lnTo>
                  <a:cubicBezTo>
                    <a:pt x="1438448" y="0"/>
                    <a:pt x="1301984" y="136464"/>
                    <a:pt x="1301984" y="304800"/>
                  </a:cubicBezTo>
                  <a:lnTo>
                    <a:pt x="1301984" y="2288288"/>
                  </a:lnTo>
                  <a:cubicBezTo>
                    <a:pt x="1301984" y="2369126"/>
                    <a:pt x="1269872" y="2446653"/>
                    <a:pt x="1212710" y="2503814"/>
                  </a:cubicBezTo>
                  <a:cubicBezTo>
                    <a:pt x="1155550" y="2560976"/>
                    <a:pt x="1078022" y="2593088"/>
                    <a:pt x="997184" y="2593088"/>
                  </a:cubicBezTo>
                  <a:lnTo>
                    <a:pt x="0" y="2593088"/>
                  </a:lnTo>
                </a:path>
              </a:pathLst>
            </a:cu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sp>
          <p:nvSpPr>
            <p:cNvPr id="39" name="Freeform 39"/>
            <p:cNvSpPr/>
            <p:nvPr/>
          </p:nvSpPr>
          <p:spPr>
            <a:xfrm>
              <a:off x="7744153" y="8747168"/>
              <a:ext cx="0" cy="476719"/>
            </a:xfrm>
            <a:custGeom>
              <a:avLst/>
              <a:gdLst/>
              <a:ahLst/>
              <a:cxnLst/>
              <a:rect l="l" t="t" r="r" b="b"/>
              <a:pathLst>
                <a:path h="476719">
                  <a:moveTo>
                    <a:pt x="0" y="0"/>
                  </a:moveTo>
                  <a:lnTo>
                    <a:pt x="0" y="476719"/>
                  </a:lnTo>
                </a:path>
              </a:pathLst>
            </a:cu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  <p:sp>
          <p:nvSpPr>
            <p:cNvPr id="40" name="Freeform 40"/>
            <p:cNvSpPr/>
            <p:nvPr/>
          </p:nvSpPr>
          <p:spPr>
            <a:xfrm>
              <a:off x="2540754" y="8415684"/>
              <a:ext cx="2957301" cy="2662412"/>
            </a:xfrm>
            <a:custGeom>
              <a:avLst/>
              <a:gdLst/>
              <a:ahLst/>
              <a:cxnLst/>
              <a:rect l="l" t="t" r="r" b="b"/>
              <a:pathLst>
                <a:path w="2957301" h="2662412">
                  <a:moveTo>
                    <a:pt x="0" y="0"/>
                  </a:moveTo>
                  <a:lnTo>
                    <a:pt x="0" y="2357612"/>
                  </a:lnTo>
                  <a:cubicBezTo>
                    <a:pt x="0" y="2438450"/>
                    <a:pt x="32113" y="2515977"/>
                    <a:pt x="89274" y="2573138"/>
                  </a:cubicBezTo>
                  <a:cubicBezTo>
                    <a:pt x="146435" y="2630299"/>
                    <a:pt x="223962" y="2662412"/>
                    <a:pt x="304800" y="2662412"/>
                  </a:cubicBezTo>
                  <a:lnTo>
                    <a:pt x="2957301" y="2662412"/>
                  </a:lnTo>
                </a:path>
              </a:pathLst>
            </a:custGeom>
            <a:ln w="508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4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image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3286125" y="1550194"/>
            <a:ext cx="11715750" cy="7186612"/>
            <a:chOff x="0" y="0"/>
            <a:chExt cx="15621000" cy="9582150"/>
          </a:xfrm>
        </p:grpSpPr>
        <p:sp>
          <p:nvSpPr>
            <p:cNvPr id="5" name="Freeform 5" descr="image.png"/>
            <p:cNvSpPr/>
            <p:nvPr/>
          </p:nvSpPr>
          <p:spPr>
            <a:xfrm>
              <a:off x="0" y="0"/>
              <a:ext cx="15621000" cy="9582150"/>
            </a:xfrm>
            <a:custGeom>
              <a:avLst/>
              <a:gdLst/>
              <a:ahLst/>
              <a:cxnLst/>
              <a:rect l="l" t="t" r="r" b="b"/>
              <a:pathLst>
                <a:path w="15621000" h="9582150">
                  <a:moveTo>
                    <a:pt x="0" y="0"/>
                  </a:moveTo>
                  <a:lnTo>
                    <a:pt x="15621000" y="0"/>
                  </a:lnTo>
                  <a:lnTo>
                    <a:pt x="15621000" y="9582150"/>
                  </a:lnTo>
                  <a:lnTo>
                    <a:pt x="0" y="9582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9" b="-99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000625" y="5722144"/>
            <a:ext cx="8286750" cy="1357312"/>
            <a:chOff x="0" y="0"/>
            <a:chExt cx="11049000" cy="1809750"/>
          </a:xfrm>
        </p:grpSpPr>
        <p:sp>
          <p:nvSpPr>
            <p:cNvPr id="7" name="Freeform 7" descr="image.png"/>
            <p:cNvSpPr/>
            <p:nvPr/>
          </p:nvSpPr>
          <p:spPr>
            <a:xfrm>
              <a:off x="0" y="0"/>
              <a:ext cx="11049000" cy="1809750"/>
            </a:xfrm>
            <a:custGeom>
              <a:avLst/>
              <a:gdLst/>
              <a:ahLst/>
              <a:cxnLst/>
              <a:rect l="l" t="t" r="r" b="b"/>
              <a:pathLst>
                <a:path w="11049000" h="1809750">
                  <a:moveTo>
                    <a:pt x="0" y="0"/>
                  </a:moveTo>
                  <a:lnTo>
                    <a:pt x="11049000" y="0"/>
                  </a:lnTo>
                  <a:lnTo>
                    <a:pt x="11049000" y="1809750"/>
                  </a:lnTo>
                  <a:lnTo>
                    <a:pt x="0" y="18097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5851084" y="2421731"/>
            <a:ext cx="6585823" cy="2928938"/>
            <a:chOff x="0" y="0"/>
            <a:chExt cx="8781098" cy="3905250"/>
          </a:xfrm>
        </p:grpSpPr>
        <p:grpSp>
          <p:nvGrpSpPr>
            <p:cNvPr id="9" name="Group 9"/>
            <p:cNvGrpSpPr/>
            <p:nvPr/>
          </p:nvGrpSpPr>
          <p:grpSpPr>
            <a:xfrm>
              <a:off x="3666655" y="0"/>
              <a:ext cx="1447800" cy="1447800"/>
              <a:chOff x="0" y="0"/>
              <a:chExt cx="1447800" cy="1447800"/>
            </a:xfrm>
          </p:grpSpPr>
          <p:sp>
            <p:nvSpPr>
              <p:cNvPr id="10" name="Freeform 10" descr="image.png"/>
              <p:cNvSpPr/>
              <p:nvPr/>
            </p:nvSpPr>
            <p:spPr>
              <a:xfrm>
                <a:off x="0" y="0"/>
                <a:ext cx="1447800" cy="1447800"/>
              </a:xfrm>
              <a:custGeom>
                <a:avLst/>
                <a:gdLst/>
                <a:ahLst/>
                <a:cxnLst/>
                <a:rect l="l" t="t" r="r" b="b"/>
                <a:pathLst>
                  <a:path w="1447800" h="1447800">
                    <a:moveTo>
                      <a:pt x="0" y="0"/>
                    </a:moveTo>
                    <a:lnTo>
                      <a:pt x="1447800" y="0"/>
                    </a:lnTo>
                    <a:lnTo>
                      <a:pt x="1447800" y="1447800"/>
                    </a:lnTo>
                    <a:lnTo>
                      <a:pt x="0" y="14478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0" y="1828800"/>
              <a:ext cx="8781098" cy="2076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905"/>
                </a:lnSpc>
              </a:pPr>
              <a:r>
                <a:rPr lang="en-US" sz="4725" b="1">
                  <a:solidFill>
                    <a:srgbClr val="0F172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Thank You Everyone</a:t>
              </a:r>
            </a:p>
            <a:p>
              <a:pPr algn="ctr">
                <a:lnSpc>
                  <a:spcPts val="5905"/>
                </a:lnSpc>
              </a:pPr>
              <a:r>
                <a:rPr lang="en-US" sz="4725" b="1">
                  <a:solidFill>
                    <a:srgbClr val="0F172A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for Your </a:t>
              </a:r>
              <a:r>
                <a:rPr lang="en-US" sz="4725" b="1">
                  <a:solidFill>
                    <a:srgbClr val="2563EB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Attention</a:t>
              </a: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4066705" y="400050"/>
              <a:ext cx="647700" cy="647700"/>
              <a:chOff x="0" y="0"/>
              <a:chExt cx="647700" cy="647700"/>
            </a:xfrm>
          </p:grpSpPr>
          <p:sp>
            <p:nvSpPr>
              <p:cNvPr id="13" name="Freeform 13" descr="image.png"/>
              <p:cNvSpPr/>
              <p:nvPr/>
            </p:nvSpPr>
            <p:spPr>
              <a:xfrm>
                <a:off x="0" y="0"/>
                <a:ext cx="647700" cy="647700"/>
              </a:xfrm>
              <a:custGeom>
                <a:avLst/>
                <a:gdLst/>
                <a:ahLst/>
                <a:cxnLst/>
                <a:rect l="l" t="t" r="r" b="b"/>
                <a:pathLst>
                  <a:path w="647700" h="647700">
                    <a:moveTo>
                      <a:pt x="0" y="0"/>
                    </a:moveTo>
                    <a:lnTo>
                      <a:pt x="647700" y="0"/>
                    </a:lnTo>
                    <a:lnTo>
                      <a:pt x="647700" y="647700"/>
                    </a:lnTo>
                    <a:lnTo>
                      <a:pt x="0" y="6477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</p:sp>
        </p:grpSp>
      </p:grpSp>
      <p:sp>
        <p:nvSpPr>
          <p:cNvPr id="14" name="TextBox 14"/>
          <p:cNvSpPr txBox="1"/>
          <p:nvPr/>
        </p:nvSpPr>
        <p:spPr>
          <a:xfrm>
            <a:off x="5996997" y="6141211"/>
            <a:ext cx="4793818" cy="533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1E293B"/>
                </a:solidFill>
                <a:latin typeface="Inter Bold"/>
                <a:ea typeface="Inter Bold"/>
                <a:cs typeface="Inter Bold"/>
                <a:sym typeface="Inter Bold"/>
              </a:rPr>
              <a:t>“Attention Is All You Need”</a:t>
            </a:r>
            <a:r>
              <a:rPr lang="en-US" sz="18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— Vaswani et al. (Google Research,  2017)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007894" y="7508081"/>
            <a:ext cx="2386012" cy="428625"/>
            <a:chOff x="0" y="0"/>
            <a:chExt cx="3181350" cy="571500"/>
          </a:xfrm>
        </p:grpSpPr>
        <p:sp>
          <p:nvSpPr>
            <p:cNvPr id="16" name="Freeform 16" descr="image.png"/>
            <p:cNvSpPr/>
            <p:nvPr/>
          </p:nvSpPr>
          <p:spPr>
            <a:xfrm>
              <a:off x="0" y="0"/>
              <a:ext cx="3181350" cy="571500"/>
            </a:xfrm>
            <a:custGeom>
              <a:avLst/>
              <a:gdLst/>
              <a:ahLst/>
              <a:cxnLst/>
              <a:rect l="l" t="t" r="r" b="b"/>
              <a:pathLst>
                <a:path w="3181350" h="571500">
                  <a:moveTo>
                    <a:pt x="0" y="0"/>
                  </a:moveTo>
                  <a:lnTo>
                    <a:pt x="3181350" y="0"/>
                  </a:lnTo>
                  <a:lnTo>
                    <a:pt x="3181350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4933" b="-4935"/>
              </a:stretch>
            </a:blipFill>
          </p:spPr>
        </p:sp>
      </p:grpSp>
      <p:grpSp>
        <p:nvGrpSpPr>
          <p:cNvPr id="17" name="Group 17"/>
          <p:cNvGrpSpPr/>
          <p:nvPr/>
        </p:nvGrpSpPr>
        <p:grpSpPr>
          <a:xfrm>
            <a:off x="8601075" y="7481933"/>
            <a:ext cx="4552718" cy="480921"/>
            <a:chOff x="0" y="0"/>
            <a:chExt cx="5410200" cy="571500"/>
          </a:xfrm>
        </p:grpSpPr>
        <p:sp>
          <p:nvSpPr>
            <p:cNvPr id="18" name="Freeform 18" descr="image.png"/>
            <p:cNvSpPr/>
            <p:nvPr/>
          </p:nvSpPr>
          <p:spPr>
            <a:xfrm>
              <a:off x="0" y="0"/>
              <a:ext cx="5410200" cy="571500"/>
            </a:xfrm>
            <a:custGeom>
              <a:avLst/>
              <a:gdLst/>
              <a:ahLst/>
              <a:cxnLst/>
              <a:rect l="l" t="t" r="r" b="b"/>
              <a:pathLst>
                <a:path w="5410200" h="571500">
                  <a:moveTo>
                    <a:pt x="0" y="0"/>
                  </a:moveTo>
                  <a:lnTo>
                    <a:pt x="5410200" y="0"/>
                  </a:lnTo>
                  <a:lnTo>
                    <a:pt x="5410200" y="571500"/>
                  </a:lnTo>
                  <a:lnTo>
                    <a:pt x="0" y="571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2397" b="-2399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5472112" y="6222206"/>
            <a:ext cx="328612" cy="371475"/>
            <a:chOff x="0" y="0"/>
            <a:chExt cx="438150" cy="495300"/>
          </a:xfrm>
        </p:grpSpPr>
        <p:sp>
          <p:nvSpPr>
            <p:cNvPr id="20" name="Freeform 20" descr="image.png"/>
            <p:cNvSpPr/>
            <p:nvPr/>
          </p:nvSpPr>
          <p:spPr>
            <a:xfrm>
              <a:off x="0" y="0"/>
              <a:ext cx="438150" cy="495300"/>
            </a:xfrm>
            <a:custGeom>
              <a:avLst/>
              <a:gdLst/>
              <a:ahLst/>
              <a:cxnLst/>
              <a:rect l="l" t="t" r="r" b="b"/>
              <a:pathLst>
                <a:path w="438150" h="495300">
                  <a:moveTo>
                    <a:pt x="0" y="0"/>
                  </a:moveTo>
                  <a:lnTo>
                    <a:pt x="438150" y="0"/>
                  </a:lnTo>
                  <a:lnTo>
                    <a:pt x="43815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</p:grpSp>
      <p:grpSp>
        <p:nvGrpSpPr>
          <p:cNvPr id="21" name="Group 21"/>
          <p:cNvGrpSpPr/>
          <p:nvPr/>
        </p:nvGrpSpPr>
        <p:grpSpPr>
          <a:xfrm>
            <a:off x="6079331" y="7629525"/>
            <a:ext cx="228600" cy="185738"/>
            <a:chOff x="0" y="0"/>
            <a:chExt cx="304800" cy="247650"/>
          </a:xfrm>
        </p:grpSpPr>
        <p:sp>
          <p:nvSpPr>
            <p:cNvPr id="22" name="Freeform 22" descr="image.png"/>
            <p:cNvSpPr/>
            <p:nvPr/>
          </p:nvSpPr>
          <p:spPr>
            <a:xfrm>
              <a:off x="0" y="0"/>
              <a:ext cx="304800" cy="247650"/>
            </a:xfrm>
            <a:custGeom>
              <a:avLst/>
              <a:gdLst/>
              <a:ahLst/>
              <a:cxnLst/>
              <a:rect l="l" t="t" r="r" b="b"/>
              <a:pathLst>
                <a:path w="304800" h="247650">
                  <a:moveTo>
                    <a:pt x="0" y="0"/>
                  </a:moveTo>
                  <a:lnTo>
                    <a:pt x="304800" y="0"/>
                  </a:lnTo>
                  <a:lnTo>
                    <a:pt x="304800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t="-676" b="-682"/>
              </a:stretch>
            </a:blipFill>
          </p:spPr>
        </p:sp>
      </p:grpSp>
      <p:grpSp>
        <p:nvGrpSpPr>
          <p:cNvPr id="23" name="Group 23"/>
          <p:cNvGrpSpPr/>
          <p:nvPr/>
        </p:nvGrpSpPr>
        <p:grpSpPr>
          <a:xfrm>
            <a:off x="8636794" y="7629525"/>
            <a:ext cx="185738" cy="185738"/>
            <a:chOff x="0" y="0"/>
            <a:chExt cx="247650" cy="247650"/>
          </a:xfrm>
        </p:grpSpPr>
        <p:sp>
          <p:nvSpPr>
            <p:cNvPr id="24" name="Freeform 24" descr="image.png"/>
            <p:cNvSpPr/>
            <p:nvPr/>
          </p:nvSpPr>
          <p:spPr>
            <a:xfrm>
              <a:off x="0" y="0"/>
              <a:ext cx="247650" cy="247650"/>
            </a:xfrm>
            <a:custGeom>
              <a:avLst/>
              <a:gdLst/>
              <a:ahLst/>
              <a:cxnLst/>
              <a:rect l="l" t="t" r="r" b="b"/>
              <a:pathLst>
                <a:path w="247650" h="247650">
                  <a:moveTo>
                    <a:pt x="0" y="0"/>
                  </a:moveTo>
                  <a:lnTo>
                    <a:pt x="247650" y="0"/>
                  </a:lnTo>
                  <a:lnTo>
                    <a:pt x="247650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1030</Words>
  <Application>Microsoft Office PowerPoint</Application>
  <PresentationFormat>Custom</PresentationFormat>
  <Paragraphs>127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30" baseType="lpstr">
      <vt:lpstr>League Spartan</vt:lpstr>
      <vt:lpstr>Poppins Bold</vt:lpstr>
      <vt:lpstr>Inter</vt:lpstr>
      <vt:lpstr>Arimo</vt:lpstr>
      <vt:lpstr>Calibri</vt:lpstr>
      <vt:lpstr>Inter Medium</vt:lpstr>
      <vt:lpstr>Arimo Bold</vt:lpstr>
      <vt:lpstr>Helvetica World Bold</vt:lpstr>
      <vt:lpstr>Poppins</vt:lpstr>
      <vt:lpstr>DM Sans Bold</vt:lpstr>
      <vt:lpstr>Inter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CA-presentation-1(team-5)</dc:title>
  <cp:lastModifiedBy>Asem Hamid</cp:lastModifiedBy>
  <cp:revision>4</cp:revision>
  <dcterms:created xsi:type="dcterms:W3CDTF">2006-08-16T00:00:00Z</dcterms:created>
  <dcterms:modified xsi:type="dcterms:W3CDTF">2026-08-24T22:54:58Z</dcterms:modified>
  <dc:identifier>DAHTOPaYaz8</dc:identifier>
</cp:coreProperties>
</file>