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mo" charset="1" panose="020B0604020202020204"/>
      <p:regular r:id="rId23"/>
    </p:embeddedFont>
    <p:embeddedFont>
      <p:font typeface="Arimo Bold" charset="1" panose="020B0704020202020204"/>
      <p:regular r:id="rId24"/>
    </p:embeddedFont>
    <p:embeddedFont>
      <p:font typeface="Inter" charset="1" panose="02000503000000020004"/>
      <p:regular r:id="rId25"/>
    </p:embeddedFont>
    <p:embeddedFont>
      <p:font typeface="Inter Bold" charset="1" panose="02000503000000020004"/>
      <p:regular r:id="rId26"/>
    </p:embeddedFont>
    <p:embeddedFont>
      <p:font typeface="Poppins Bold" charset="1" panose="00000800000000000000"/>
      <p:regular r:id="rId27"/>
    </p:embeddedFont>
    <p:embeddedFont>
      <p:font typeface="Inter Medium" charset="1" panose="02000503000000020004"/>
      <p:regular r:id="rId28"/>
    </p:embeddedFont>
    <p:embeddedFont>
      <p:font typeface="Poppins" charset="1" panose="00000500000000000000"/>
      <p:regular r:id="rId29"/>
    </p:embeddedFont>
    <p:embeddedFont>
      <p:font typeface="Helvetica World Bold" charset="1" panose="020B0800040000020004"/>
      <p:regular r:id="rId30"/>
    </p:embeddedFont>
    <p:embeddedFont>
      <p:font typeface="DM Sans Bold" charset="1" panose="00000000000000000000"/>
      <p:regular r:id="rId31"/>
    </p:embeddedFont>
    <p:embeddedFont>
      <p:font typeface="League Spartan" charset="1" panose="000008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jpe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2.jpe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12.jpe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2" Target="../media/image15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12.jpe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33.pn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19" Target="../media/image72.png" Type="http://schemas.openxmlformats.org/officeDocument/2006/relationships/image"/><Relationship Id="rId2" Target="../media/image55.png" Type="http://schemas.openxmlformats.org/officeDocument/2006/relationships/image"/><Relationship Id="rId20" Target="../media/image73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2" Target="../media/image51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2" Target="../media/image85.png" Type="http://schemas.openxmlformats.org/officeDocument/2006/relationships/image"/><Relationship Id="rId3" Target="../media/image86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6.png" Type="http://schemas.openxmlformats.org/officeDocument/2006/relationships/image"/><Relationship Id="rId3" Target="../media/image97.jpeg" Type="http://schemas.openxmlformats.org/officeDocument/2006/relationships/image"/><Relationship Id="rId4" Target="../media/image98.jpeg" Type="http://schemas.openxmlformats.org/officeDocument/2006/relationships/image"/><Relationship Id="rId5" Target="../media/image9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14" Target="../media/image112.png" Type="http://schemas.openxmlformats.org/officeDocument/2006/relationships/image"/><Relationship Id="rId15" Target="../media/image113.png" Type="http://schemas.openxmlformats.org/officeDocument/2006/relationships/image"/><Relationship Id="rId2" Target="../media/image100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png" Type="http://schemas.openxmlformats.org/officeDocument/2006/relationships/image"/><Relationship Id="rId11" Target="../media/image123.png" Type="http://schemas.openxmlformats.org/officeDocument/2006/relationships/image"/><Relationship Id="rId12" Target="../media/image124.png" Type="http://schemas.openxmlformats.org/officeDocument/2006/relationships/image"/><Relationship Id="rId13" Target="../media/image125.png" Type="http://schemas.openxmlformats.org/officeDocument/2006/relationships/image"/><Relationship Id="rId14" Target="../media/image126.svg" Type="http://schemas.openxmlformats.org/officeDocument/2006/relationships/image"/><Relationship Id="rId15" Target="../media/image127.png" Type="http://schemas.openxmlformats.org/officeDocument/2006/relationships/image"/><Relationship Id="rId16" Target="../media/image128.svg" Type="http://schemas.openxmlformats.org/officeDocument/2006/relationships/image"/><Relationship Id="rId2" Target="../media/image114.png" Type="http://schemas.openxmlformats.org/officeDocument/2006/relationships/image"/><Relationship Id="rId3" Target="../media/image115.png" Type="http://schemas.openxmlformats.org/officeDocument/2006/relationships/image"/><Relationship Id="rId4" Target="../media/image116.png" Type="http://schemas.openxmlformats.org/officeDocument/2006/relationships/image"/><Relationship Id="rId5" Target="../media/image117.png" Type="http://schemas.openxmlformats.org/officeDocument/2006/relationships/image"/><Relationship Id="rId6" Target="../media/image118.png" Type="http://schemas.openxmlformats.org/officeDocument/2006/relationships/image"/><Relationship Id="rId7" Target="../media/image119.png" Type="http://schemas.openxmlformats.org/officeDocument/2006/relationships/image"/><Relationship Id="rId8" Target="../media/image120.png" Type="http://schemas.openxmlformats.org/officeDocument/2006/relationships/image"/><Relationship Id="rId9" Target="../media/image1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6.png" Type="http://schemas.openxmlformats.org/officeDocument/2006/relationships/image"/><Relationship Id="rId11" Target="../media/image137.png" Type="http://schemas.openxmlformats.org/officeDocument/2006/relationships/image"/><Relationship Id="rId2" Target="../media/image100.png" Type="http://schemas.openxmlformats.org/officeDocument/2006/relationships/image"/><Relationship Id="rId3" Target="../media/image129.png" Type="http://schemas.openxmlformats.org/officeDocument/2006/relationships/image"/><Relationship Id="rId4" Target="../media/image130.png" Type="http://schemas.openxmlformats.org/officeDocument/2006/relationships/image"/><Relationship Id="rId5" Target="../media/image131.png" Type="http://schemas.openxmlformats.org/officeDocument/2006/relationships/image"/><Relationship Id="rId6" Target="../media/image132.png" Type="http://schemas.openxmlformats.org/officeDocument/2006/relationships/image"/><Relationship Id="rId7" Target="../media/image133.png" Type="http://schemas.openxmlformats.org/officeDocument/2006/relationships/image"/><Relationship Id="rId8" Target="../media/image134.png" Type="http://schemas.openxmlformats.org/officeDocument/2006/relationships/image"/><Relationship Id="rId9" Target="../media/image1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44338" y="-2128838"/>
            <a:ext cx="7858125" cy="7858125"/>
            <a:chOff x="0" y="0"/>
            <a:chExt cx="10477500" cy="1047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10477500"/>
            </a:xfrm>
            <a:custGeom>
              <a:avLst/>
              <a:gdLst/>
              <a:ahLst/>
              <a:cxnLst/>
              <a:rect r="r" b="b" t="t" l="l"/>
              <a:pathLst>
                <a:path h="104775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0477500"/>
                  </a:lnTo>
                  <a:lnTo>
                    <a:pt x="0" y="1047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2528888"/>
            <a:ext cx="7858125" cy="7858125"/>
            <a:chOff x="0" y="0"/>
            <a:chExt cx="10477500" cy="10477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10477500"/>
            </a:xfrm>
            <a:custGeom>
              <a:avLst/>
              <a:gdLst/>
              <a:ahLst/>
              <a:cxnLst/>
              <a:rect r="r" b="b" t="t" l="l"/>
              <a:pathLst>
                <a:path h="104775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0477500"/>
                  </a:lnTo>
                  <a:lnTo>
                    <a:pt x="0" y="1047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6428" y="2614612"/>
            <a:ext cx="5990034" cy="3857625"/>
            <a:chOff x="0" y="0"/>
            <a:chExt cx="7986712" cy="5143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986649" cy="5143500"/>
            </a:xfrm>
            <a:custGeom>
              <a:avLst/>
              <a:gdLst/>
              <a:ahLst/>
              <a:cxnLst/>
              <a:rect r="r" b="b" t="t" l="l"/>
              <a:pathLst>
                <a:path h="5143500" w="7986649">
                  <a:moveTo>
                    <a:pt x="0" y="0"/>
                  </a:moveTo>
                  <a:lnTo>
                    <a:pt x="7986649" y="0"/>
                  </a:lnTo>
                  <a:lnTo>
                    <a:pt x="7986649" y="5143500"/>
                  </a:lnTo>
                  <a:lnTo>
                    <a:pt x="0" y="514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" t="0" r="-9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0716" y="2628900"/>
            <a:ext cx="5961459" cy="3829050"/>
            <a:chOff x="0" y="0"/>
            <a:chExt cx="7948612" cy="5105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948549" cy="5105400"/>
            </a:xfrm>
            <a:custGeom>
              <a:avLst/>
              <a:gdLst/>
              <a:ahLst/>
              <a:cxnLst/>
              <a:rect r="r" b="b" t="t" l="l"/>
              <a:pathLst>
                <a:path h="5105400" w="7948549">
                  <a:moveTo>
                    <a:pt x="0" y="0"/>
                  </a:moveTo>
                  <a:lnTo>
                    <a:pt x="7948549" y="0"/>
                  </a:lnTo>
                  <a:lnTo>
                    <a:pt x="7948549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3" r="0" b="-4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538" y="8472488"/>
            <a:ext cx="3964781" cy="942975"/>
            <a:chOff x="0" y="0"/>
            <a:chExt cx="5286375" cy="1257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286375" cy="1257300"/>
            </a:xfrm>
            <a:custGeom>
              <a:avLst/>
              <a:gdLst/>
              <a:ahLst/>
              <a:cxnLst/>
              <a:rect r="r" b="b" t="t" l="l"/>
              <a:pathLst>
                <a:path h="1257300" w="5286375">
                  <a:moveTo>
                    <a:pt x="0" y="0"/>
                  </a:moveTo>
                  <a:lnTo>
                    <a:pt x="5286375" y="0"/>
                  </a:lnTo>
                  <a:lnTo>
                    <a:pt x="5286375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0" t="0" r="-9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064919" y="8472488"/>
            <a:ext cx="3964781" cy="942975"/>
            <a:chOff x="0" y="0"/>
            <a:chExt cx="5286375" cy="12573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286375" cy="1257300"/>
            </a:xfrm>
            <a:custGeom>
              <a:avLst/>
              <a:gdLst/>
              <a:ahLst/>
              <a:cxnLst/>
              <a:rect r="r" b="b" t="t" l="l"/>
              <a:pathLst>
                <a:path h="1257300" w="5286375">
                  <a:moveTo>
                    <a:pt x="0" y="0"/>
                  </a:moveTo>
                  <a:lnTo>
                    <a:pt x="5286375" y="0"/>
                  </a:lnTo>
                  <a:lnTo>
                    <a:pt x="5286375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0" t="0" r="-9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58300" y="8472488"/>
            <a:ext cx="3964781" cy="942975"/>
            <a:chOff x="0" y="0"/>
            <a:chExt cx="5286375" cy="1257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286375" cy="1257300"/>
            </a:xfrm>
            <a:custGeom>
              <a:avLst/>
              <a:gdLst/>
              <a:ahLst/>
              <a:cxnLst/>
              <a:rect r="r" b="b" t="t" l="l"/>
              <a:pathLst>
                <a:path h="1257300" w="5286375">
                  <a:moveTo>
                    <a:pt x="0" y="0"/>
                  </a:moveTo>
                  <a:lnTo>
                    <a:pt x="5286375" y="0"/>
                  </a:lnTo>
                  <a:lnTo>
                    <a:pt x="5286375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0" t="0" r="-9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51681" y="8472488"/>
            <a:ext cx="3964781" cy="942975"/>
            <a:chOff x="0" y="0"/>
            <a:chExt cx="5286375" cy="12573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286375" cy="1257300"/>
            </a:xfrm>
            <a:custGeom>
              <a:avLst/>
              <a:gdLst/>
              <a:ahLst/>
              <a:cxnLst/>
              <a:rect r="r" b="b" t="t" l="l"/>
              <a:pathLst>
                <a:path h="1257300" w="5286375">
                  <a:moveTo>
                    <a:pt x="0" y="0"/>
                  </a:moveTo>
                  <a:lnTo>
                    <a:pt x="5286375" y="0"/>
                  </a:lnTo>
                  <a:lnTo>
                    <a:pt x="5286375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0" t="0" r="-9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14425" y="8658225"/>
            <a:ext cx="571500" cy="571500"/>
            <a:chOff x="0" y="0"/>
            <a:chExt cx="762000" cy="762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07806" y="8658225"/>
            <a:ext cx="571500" cy="571500"/>
            <a:chOff x="0" y="0"/>
            <a:chExt cx="762000" cy="762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501188" y="8658225"/>
            <a:ext cx="571500" cy="571500"/>
            <a:chOff x="0" y="0"/>
            <a:chExt cx="762000" cy="7620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694569" y="8658225"/>
            <a:ext cx="571500" cy="571500"/>
            <a:chOff x="0" y="0"/>
            <a:chExt cx="762000" cy="762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71538" y="7729538"/>
            <a:ext cx="16544925" cy="1685925"/>
            <a:chOff x="0" y="0"/>
            <a:chExt cx="22059900" cy="22479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20599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6" t="0" r="-86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1581" y="8058150"/>
            <a:ext cx="16194881" cy="214312"/>
            <a:chOff x="0" y="0"/>
            <a:chExt cx="21593175" cy="2857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593173" cy="285750"/>
            </a:xfrm>
            <a:custGeom>
              <a:avLst/>
              <a:gdLst/>
              <a:ahLst/>
              <a:cxnLst/>
              <a:rect r="r" b="b" t="t" l="l"/>
              <a:pathLst>
                <a:path h="285750" w="21593173">
                  <a:moveTo>
                    <a:pt x="0" y="0"/>
                  </a:moveTo>
                  <a:lnTo>
                    <a:pt x="21593173" y="0"/>
                  </a:lnTo>
                  <a:lnTo>
                    <a:pt x="21593173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422419" r="0" b="-14224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1593175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75569"/>
                  </a:solidFill>
                  <a:latin typeface="Arimo"/>
                  <a:ea typeface="Arimo"/>
                  <a:cs typeface="Arimo"/>
                  <a:sym typeface="Arimo"/>
                </a:rPr>
                <a:t>PRESENTED BY TEAM MEMBERS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09477" y="1973824"/>
            <a:ext cx="10482558" cy="152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51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Neural Processing Unit (NPU) &amp; SoC: System on Chip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9477" y="3906009"/>
            <a:ext cx="88582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Next-Generation Hardware Acceleration &amp; Deep Learning System Architecture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440716" y="2496309"/>
            <a:ext cx="5961459" cy="3829050"/>
            <a:chOff x="0" y="0"/>
            <a:chExt cx="7948612" cy="51054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7948549" cy="5105400"/>
            </a:xfrm>
            <a:custGeom>
              <a:avLst/>
              <a:gdLst/>
              <a:ahLst/>
              <a:cxnLst/>
              <a:rect r="r" b="b" t="t" l="l"/>
              <a:pathLst>
                <a:path h="5105400" w="7948549">
                  <a:moveTo>
                    <a:pt x="0" y="0"/>
                  </a:moveTo>
                  <a:lnTo>
                    <a:pt x="7948549" y="0"/>
                  </a:lnTo>
                  <a:lnTo>
                    <a:pt x="7948549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3" r="0" b="-4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71538" y="8079581"/>
            <a:ext cx="235744" cy="171450"/>
            <a:chOff x="0" y="0"/>
            <a:chExt cx="314325" cy="2286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314325" cy="228600"/>
            </a:xfrm>
            <a:custGeom>
              <a:avLst/>
              <a:gdLst/>
              <a:ahLst/>
              <a:cxnLst/>
              <a:rect r="r" b="b" t="t" l="l"/>
              <a:pathLst>
                <a:path h="228600" w="314325">
                  <a:moveTo>
                    <a:pt x="0" y="0"/>
                  </a:moveTo>
                  <a:lnTo>
                    <a:pt x="314325" y="0"/>
                  </a:lnTo>
                  <a:lnTo>
                    <a:pt x="314325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572" r="0" b="-2572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857375" y="8682038"/>
            <a:ext cx="167401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Lamia Ahmed</a:t>
            </a:r>
            <a:r>
              <a:rPr lang="en-US" sz="18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Team Lead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50756" y="8682038"/>
            <a:ext cx="167401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Afrin Sultana</a:t>
            </a:r>
            <a:r>
              <a:rPr lang="en-US" sz="18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Presenter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44138" y="8682038"/>
            <a:ext cx="191452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Fahim Abrar Mahir</a:t>
            </a:r>
            <a:r>
              <a:rPr lang="en-US" sz="18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Presenter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37519" y="8682038"/>
            <a:ext cx="151724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Asem Hamid</a:t>
            </a:r>
            <a:r>
              <a:rPr lang="en-US" sz="18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Presenter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94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896044"/>
            <a:ext cx="13090448" cy="2256600"/>
            <a:chOff x="0" y="0"/>
            <a:chExt cx="17453931" cy="3008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8100"/>
              <a:ext cx="15975350" cy="1302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05"/>
                </a:lnSpc>
              </a:pPr>
              <a:r>
                <a:rPr lang="en-US" sz="6642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Neural Processing Unit (NPU)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62169"/>
              <a:ext cx="17453931" cy="1346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51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overview of NPU architecture, core capabilities, key advantages over traditional CPUs, and real-world AI applications.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0" y="2678906"/>
            <a:ext cx="7986712" cy="6000750"/>
            <a:chOff x="0" y="0"/>
            <a:chExt cx="10648950" cy="8001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4895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0648950">
                  <a:moveTo>
                    <a:pt x="0" y="0"/>
                  </a:moveTo>
                  <a:lnTo>
                    <a:pt x="10648950" y="0"/>
                  </a:lnTo>
                  <a:lnTo>
                    <a:pt x="1064895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44038" y="2693194"/>
            <a:ext cx="7958138" cy="5972175"/>
            <a:chOff x="0" y="0"/>
            <a:chExt cx="10610850" cy="796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10850" cy="7962900"/>
            </a:xfrm>
            <a:custGeom>
              <a:avLst/>
              <a:gdLst/>
              <a:ahLst/>
              <a:cxnLst/>
              <a:rect r="r" b="b" t="t" l="l"/>
              <a:pathLst>
                <a:path h="7962900" w="10610850">
                  <a:moveTo>
                    <a:pt x="0" y="0"/>
                  </a:moveTo>
                  <a:lnTo>
                    <a:pt x="10610850" y="0"/>
                  </a:lnTo>
                  <a:lnTo>
                    <a:pt x="10610850" y="7962900"/>
                  </a:lnTo>
                  <a:lnTo>
                    <a:pt x="0" y="796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968" r="0" b="-189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1538" y="728662"/>
            <a:ext cx="17372171" cy="642938"/>
            <a:chOff x="0" y="0"/>
            <a:chExt cx="23162895" cy="857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62895" cy="857250"/>
            </a:xfrm>
            <a:custGeom>
              <a:avLst/>
              <a:gdLst/>
              <a:ahLst/>
              <a:cxnLst/>
              <a:rect r="r" b="b" t="t" l="l"/>
              <a:pathLst>
                <a:path h="857250" w="23162895">
                  <a:moveTo>
                    <a:pt x="0" y="0"/>
                  </a:moveTo>
                  <a:lnTo>
                    <a:pt x="23162895" y="0"/>
                  </a:lnTo>
                  <a:lnTo>
                    <a:pt x="23162895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6485" r="0" b="-4764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3162895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 is a Neural Processing Unit (NPU)?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1538" y="2257425"/>
            <a:ext cx="7986712" cy="2128838"/>
            <a:chOff x="0" y="0"/>
            <a:chExt cx="10648950" cy="283845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648950" cy="2838450"/>
              <a:chOff x="0" y="0"/>
              <a:chExt cx="10648950" cy="2838450"/>
            </a:xfrm>
          </p:grpSpPr>
          <p:sp>
            <p:nvSpPr>
              <p:cNvPr name="Freeform 13" id="13" descr="image.png"/>
              <p:cNvSpPr/>
              <p:nvPr/>
            </p:nvSpPr>
            <p:spPr>
              <a:xfrm flipH="false" flipV="false" rot="0">
                <a:off x="0" y="0"/>
                <a:ext cx="10648950" cy="2838450"/>
              </a:xfrm>
              <a:custGeom>
                <a:avLst/>
                <a:gdLst/>
                <a:ahLst/>
                <a:cxnLst/>
                <a:rect r="r" b="b" t="t" l="l"/>
                <a:pathLst>
                  <a:path h="2838450" w="10648950">
                    <a:moveTo>
                      <a:pt x="0" y="0"/>
                    </a:moveTo>
                    <a:lnTo>
                      <a:pt x="10648950" y="0"/>
                    </a:lnTo>
                    <a:lnTo>
                      <a:pt x="10648950" y="2838450"/>
                    </a:lnTo>
                    <a:lnTo>
                      <a:pt x="0" y="28384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89" t="0" r="-89" b="0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040308" y="438150"/>
              <a:ext cx="9589008" cy="476250"/>
              <a:chOff x="0" y="0"/>
              <a:chExt cx="9589008" cy="4762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589010" cy="476250"/>
              </a:xfrm>
              <a:custGeom>
                <a:avLst/>
                <a:gdLst/>
                <a:ahLst/>
                <a:cxnLst/>
                <a:rect r="r" b="b" t="t" l="l"/>
                <a:pathLst>
                  <a:path h="476250" w="9589010">
                    <a:moveTo>
                      <a:pt x="0" y="0"/>
                    </a:moveTo>
                    <a:lnTo>
                      <a:pt x="9589010" y="0"/>
                    </a:lnTo>
                    <a:lnTo>
                      <a:pt x="9589010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42319" r="0" b="-342319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9589008" cy="4953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1D4ED8"/>
                    </a:solidFill>
                    <a:latin typeface="Arimo"/>
                    <a:ea typeface="Arimo"/>
                    <a:cs typeface="Arimo"/>
                    <a:sym typeface="Arimo"/>
                  </a:rPr>
                  <a:t>Specialized AI Accelerator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76250" y="485775"/>
              <a:ext cx="373558" cy="381000"/>
              <a:chOff x="0" y="0"/>
              <a:chExt cx="373558" cy="381000"/>
            </a:xfrm>
          </p:grpSpPr>
          <p:sp>
            <p:nvSpPr>
              <p:cNvPr name="Freeform 18" id="18" descr="image.png"/>
              <p:cNvSpPr/>
              <p:nvPr/>
            </p:nvSpPr>
            <p:spPr>
              <a:xfrm flipH="false" flipV="false" rot="0">
                <a:off x="0" y="0"/>
                <a:ext cx="373507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73507">
                    <a:moveTo>
                      <a:pt x="0" y="0"/>
                    </a:moveTo>
                    <a:lnTo>
                      <a:pt x="373507" y="0"/>
                    </a:lnTo>
                    <a:lnTo>
                      <a:pt x="373507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1473" r="-13" b="-1476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476250" y="971550"/>
              <a:ext cx="969645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 NPU is a dedicated microprocessor designed specifically to accelerate Artificial Intelligence (AI) and Machine Learning (ML) tasks efficiently.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1538" y="4614862"/>
            <a:ext cx="7986712" cy="2128838"/>
            <a:chOff x="0" y="0"/>
            <a:chExt cx="10648950" cy="283845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648950" cy="2838450"/>
              <a:chOff x="0" y="0"/>
              <a:chExt cx="10648950" cy="2838450"/>
            </a:xfrm>
          </p:grpSpPr>
          <p:sp>
            <p:nvSpPr>
              <p:cNvPr name="Freeform 22" id="22" descr="image.png"/>
              <p:cNvSpPr/>
              <p:nvPr/>
            </p:nvSpPr>
            <p:spPr>
              <a:xfrm flipH="false" flipV="false" rot="0">
                <a:off x="0" y="0"/>
                <a:ext cx="10648950" cy="2838450"/>
              </a:xfrm>
              <a:custGeom>
                <a:avLst/>
                <a:gdLst/>
                <a:ahLst/>
                <a:cxnLst/>
                <a:rect r="r" b="b" t="t" l="l"/>
                <a:pathLst>
                  <a:path h="2838450" w="10648950">
                    <a:moveTo>
                      <a:pt x="0" y="0"/>
                    </a:moveTo>
                    <a:lnTo>
                      <a:pt x="10648950" y="0"/>
                    </a:lnTo>
                    <a:lnTo>
                      <a:pt x="10648950" y="2838450"/>
                    </a:lnTo>
                    <a:lnTo>
                      <a:pt x="0" y="28384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89" t="0" r="-89" b="0"/>
                </a:stretch>
              </a:blip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945058" y="438150"/>
              <a:ext cx="9689020" cy="476250"/>
              <a:chOff x="0" y="0"/>
              <a:chExt cx="9689020" cy="4762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689022" cy="476250"/>
              </a:xfrm>
              <a:custGeom>
                <a:avLst/>
                <a:gdLst/>
                <a:ahLst/>
                <a:cxnLst/>
                <a:rect r="r" b="b" t="t" l="l"/>
                <a:pathLst>
                  <a:path h="476250" w="9689022">
                    <a:moveTo>
                      <a:pt x="0" y="0"/>
                    </a:moveTo>
                    <a:lnTo>
                      <a:pt x="9689022" y="0"/>
                    </a:lnTo>
                    <a:lnTo>
                      <a:pt x="9689022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46411" r="0" b="-346411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9689020" cy="4953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1D4ED8"/>
                    </a:solidFill>
                    <a:latin typeface="Arimo"/>
                    <a:ea typeface="Arimo"/>
                    <a:cs typeface="Arimo"/>
                    <a:sym typeface="Arimo"/>
                  </a:rPr>
                  <a:t>Matrix &amp; Tensor Optimization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76250" y="485775"/>
              <a:ext cx="278308" cy="381000"/>
              <a:chOff x="0" y="0"/>
              <a:chExt cx="278308" cy="381000"/>
            </a:xfrm>
          </p:grpSpPr>
          <p:sp>
            <p:nvSpPr>
              <p:cNvPr name="Freeform 27" id="27" descr="image.png"/>
              <p:cNvSpPr/>
              <p:nvPr/>
            </p:nvSpPr>
            <p:spPr>
              <a:xfrm flipH="false" flipV="false" rot="0">
                <a:off x="0" y="0"/>
                <a:ext cx="278257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78257">
                    <a:moveTo>
                      <a:pt x="0" y="0"/>
                    </a:moveTo>
                    <a:lnTo>
                      <a:pt x="278257" y="0"/>
                    </a:lnTo>
                    <a:lnTo>
                      <a:pt x="278257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133" r="-18" b="-1133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476250" y="971550"/>
              <a:ext cx="969645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Unlike general-purpose processors, NPUs are engineered specifically for mathematical operations essential to neural networks, such as complex matrix calculations.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1538" y="6972300"/>
            <a:ext cx="7986712" cy="2128838"/>
            <a:chOff x="0" y="0"/>
            <a:chExt cx="10648950" cy="283845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648950" cy="2838450"/>
              <a:chOff x="0" y="0"/>
              <a:chExt cx="10648950" cy="2838450"/>
            </a:xfrm>
          </p:grpSpPr>
          <p:sp>
            <p:nvSpPr>
              <p:cNvPr name="Freeform 31" id="31" descr="image.png"/>
              <p:cNvSpPr/>
              <p:nvPr/>
            </p:nvSpPr>
            <p:spPr>
              <a:xfrm flipH="false" flipV="false" rot="0">
                <a:off x="0" y="0"/>
                <a:ext cx="10648950" cy="2838450"/>
              </a:xfrm>
              <a:custGeom>
                <a:avLst/>
                <a:gdLst/>
                <a:ahLst/>
                <a:cxnLst/>
                <a:rect r="r" b="b" t="t" l="l"/>
                <a:pathLst>
                  <a:path h="2838450" w="10648950">
                    <a:moveTo>
                      <a:pt x="0" y="0"/>
                    </a:moveTo>
                    <a:lnTo>
                      <a:pt x="10648950" y="0"/>
                    </a:lnTo>
                    <a:lnTo>
                      <a:pt x="10648950" y="2838450"/>
                    </a:lnTo>
                    <a:lnTo>
                      <a:pt x="0" y="28384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89" t="0" r="-89" b="0"/>
                </a:stretch>
              </a:blip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097458" y="438150"/>
              <a:ext cx="9529000" cy="476250"/>
              <a:chOff x="0" y="0"/>
              <a:chExt cx="9529000" cy="4762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529002" cy="476250"/>
              </a:xfrm>
              <a:custGeom>
                <a:avLst/>
                <a:gdLst/>
                <a:ahLst/>
                <a:cxnLst/>
                <a:rect r="r" b="b" t="t" l="l"/>
                <a:pathLst>
                  <a:path h="476250" w="9529002">
                    <a:moveTo>
                      <a:pt x="0" y="0"/>
                    </a:moveTo>
                    <a:lnTo>
                      <a:pt x="9529002" y="0"/>
                    </a:lnTo>
                    <a:lnTo>
                      <a:pt x="9529002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39864" r="0" b="-339864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9529000" cy="4953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1D4ED8"/>
                    </a:solidFill>
                    <a:latin typeface="Arimo"/>
                    <a:ea typeface="Arimo"/>
                    <a:cs typeface="Arimo"/>
                    <a:sym typeface="Arimo"/>
                  </a:rPr>
                  <a:t>System Integration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76250" y="485775"/>
              <a:ext cx="430708" cy="381000"/>
              <a:chOff x="0" y="0"/>
              <a:chExt cx="430708" cy="381000"/>
            </a:xfrm>
          </p:grpSpPr>
          <p:sp>
            <p:nvSpPr>
              <p:cNvPr name="Freeform 36" id="36" descr="image.png"/>
              <p:cNvSpPr/>
              <p:nvPr/>
            </p:nvSpPr>
            <p:spPr>
              <a:xfrm flipH="false" flipV="false" rot="0">
                <a:off x="0" y="0"/>
                <a:ext cx="430657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430657">
                    <a:moveTo>
                      <a:pt x="0" y="0"/>
                    </a:moveTo>
                    <a:lnTo>
                      <a:pt x="430657" y="0"/>
                    </a:lnTo>
                    <a:lnTo>
                      <a:pt x="430657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-1606" r="-11" b="-1610"/>
                </a:stretch>
              </a:blip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476250" y="971550"/>
              <a:ext cx="969645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NPUs are commonly integrated directly into modern System-on-Chips (SoCs) alongside CPUs and GPUs to power intelligent features seamlessly.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3400425"/>
            <a:ext cx="16530638" cy="4457700"/>
            <a:chOff x="0" y="0"/>
            <a:chExt cx="22040850" cy="5943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9050" y="2019300"/>
              <a:ext cx="4644326" cy="19050"/>
              <a:chOff x="0" y="0"/>
              <a:chExt cx="4644326" cy="190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644390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4644390">
                    <a:moveTo>
                      <a:pt x="0" y="0"/>
                    </a:moveTo>
                    <a:lnTo>
                      <a:pt x="4644390" y="0"/>
                    </a:lnTo>
                    <a:lnTo>
                      <a:pt x="464439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4663376" y="2019300"/>
              <a:ext cx="8155178" cy="19050"/>
              <a:chOff x="0" y="0"/>
              <a:chExt cx="8155178" cy="190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55178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8155178">
                    <a:moveTo>
                      <a:pt x="0" y="0"/>
                    </a:moveTo>
                    <a:lnTo>
                      <a:pt x="8155178" y="0"/>
                    </a:lnTo>
                    <a:lnTo>
                      <a:pt x="8155178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818567" y="2019300"/>
              <a:ext cx="9222283" cy="19050"/>
              <a:chOff x="0" y="0"/>
              <a:chExt cx="9222283" cy="190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222232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9222232">
                    <a:moveTo>
                      <a:pt x="0" y="0"/>
                    </a:moveTo>
                    <a:lnTo>
                      <a:pt x="9222232" y="0"/>
                    </a:lnTo>
                    <a:lnTo>
                      <a:pt x="9222232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050" y="3028950"/>
              <a:ext cx="4644326" cy="19050"/>
              <a:chOff x="0" y="0"/>
              <a:chExt cx="4644326" cy="190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44390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4644390">
                    <a:moveTo>
                      <a:pt x="0" y="0"/>
                    </a:moveTo>
                    <a:lnTo>
                      <a:pt x="4644390" y="0"/>
                    </a:lnTo>
                    <a:lnTo>
                      <a:pt x="464439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4663376" y="3028950"/>
              <a:ext cx="8155178" cy="19050"/>
              <a:chOff x="0" y="0"/>
              <a:chExt cx="8155178" cy="190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55178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8155178">
                    <a:moveTo>
                      <a:pt x="0" y="0"/>
                    </a:moveTo>
                    <a:lnTo>
                      <a:pt x="8155178" y="0"/>
                    </a:lnTo>
                    <a:lnTo>
                      <a:pt x="8155178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2818567" y="3028950"/>
              <a:ext cx="9222283" cy="19050"/>
              <a:chOff x="0" y="0"/>
              <a:chExt cx="9222283" cy="190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222232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9222232">
                    <a:moveTo>
                      <a:pt x="0" y="0"/>
                    </a:moveTo>
                    <a:lnTo>
                      <a:pt x="9222232" y="0"/>
                    </a:lnTo>
                    <a:lnTo>
                      <a:pt x="9222232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9050" y="4038600"/>
              <a:ext cx="4644326" cy="19050"/>
              <a:chOff x="0" y="0"/>
              <a:chExt cx="4644326" cy="190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644390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4644390">
                    <a:moveTo>
                      <a:pt x="0" y="0"/>
                    </a:moveTo>
                    <a:lnTo>
                      <a:pt x="4644390" y="0"/>
                    </a:lnTo>
                    <a:lnTo>
                      <a:pt x="464439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663376" y="4038600"/>
              <a:ext cx="8155178" cy="19050"/>
              <a:chOff x="0" y="0"/>
              <a:chExt cx="8155178" cy="190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55178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8155178">
                    <a:moveTo>
                      <a:pt x="0" y="0"/>
                    </a:moveTo>
                    <a:lnTo>
                      <a:pt x="8155178" y="0"/>
                    </a:lnTo>
                    <a:lnTo>
                      <a:pt x="8155178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818567" y="4038600"/>
              <a:ext cx="9222283" cy="19050"/>
              <a:chOff x="0" y="0"/>
              <a:chExt cx="9222283" cy="1905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22232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9222232">
                    <a:moveTo>
                      <a:pt x="0" y="0"/>
                    </a:moveTo>
                    <a:lnTo>
                      <a:pt x="9222232" y="0"/>
                    </a:lnTo>
                    <a:lnTo>
                      <a:pt x="9222232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9050" y="5048250"/>
              <a:ext cx="4644326" cy="19050"/>
              <a:chOff x="0" y="0"/>
              <a:chExt cx="4644326" cy="1905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644390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4644390">
                    <a:moveTo>
                      <a:pt x="0" y="0"/>
                    </a:moveTo>
                    <a:lnTo>
                      <a:pt x="4644390" y="0"/>
                    </a:lnTo>
                    <a:lnTo>
                      <a:pt x="464439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4663376" y="5048250"/>
              <a:ext cx="8155178" cy="19050"/>
              <a:chOff x="0" y="0"/>
              <a:chExt cx="8155178" cy="190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55178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8155178">
                    <a:moveTo>
                      <a:pt x="0" y="0"/>
                    </a:moveTo>
                    <a:lnTo>
                      <a:pt x="8155178" y="0"/>
                    </a:lnTo>
                    <a:lnTo>
                      <a:pt x="8155178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818567" y="5048250"/>
              <a:ext cx="9222283" cy="19050"/>
              <a:chOff x="0" y="0"/>
              <a:chExt cx="9222283" cy="1905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222232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9222232">
                    <a:moveTo>
                      <a:pt x="0" y="0"/>
                    </a:moveTo>
                    <a:lnTo>
                      <a:pt x="9222232" y="0"/>
                    </a:lnTo>
                    <a:lnTo>
                      <a:pt x="9222232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0" y="0"/>
          <a:ext cx="16497300" cy="4457700"/>
        </p:xfrm>
        <a:graphic>
          <a:graphicData uri="http://schemas.openxmlformats.org/drawingml/2006/table">
            <a:tbl>
              <a:tblPr/>
              <a:tblGrid>
                <a:gridCol w="3479231"/>
                <a:gridCol w="6109334"/>
                <a:gridCol w="6908735"/>
              </a:tblGrid>
              <a:tr h="7429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Feature / Metric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CBD5E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Central Processing Unit (CPU)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Neural Processing Unit (NPU)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429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Primary Focus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General-purpose computing tasks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D4E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Specialized AI &amp; ML computations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7429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Execution Style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Sequential execution / Few complex cores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D4E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Massively parallel / Tensor matrix engines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7429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AI Efficiency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Lower efficiency for neural networks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D4E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Ultra-high throughput &amp; optimized performance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7429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Power Consumption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Higher energy draw under heavy AI load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D4E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power draw optimized for battery devices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7429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Primary Workloads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OS operations, logic, web browsing, apps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D4E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Facial recognition, speech, generative AI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grpSp>
        <p:nvGrpSpPr>
          <p:cNvPr name="Group 30" id="30"/>
          <p:cNvGrpSpPr/>
          <p:nvPr/>
        </p:nvGrpSpPr>
        <p:grpSpPr>
          <a:xfrm rot="0">
            <a:off x="871538" y="728662"/>
            <a:ext cx="17372171" cy="642938"/>
            <a:chOff x="0" y="0"/>
            <a:chExt cx="23162895" cy="857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162895" cy="857250"/>
            </a:xfrm>
            <a:custGeom>
              <a:avLst/>
              <a:gdLst/>
              <a:ahLst/>
              <a:cxnLst/>
              <a:rect r="r" b="b" t="t" l="l"/>
              <a:pathLst>
                <a:path h="857250" w="23162895">
                  <a:moveTo>
                    <a:pt x="0" y="0"/>
                  </a:moveTo>
                  <a:lnTo>
                    <a:pt x="23162895" y="0"/>
                  </a:lnTo>
                  <a:lnTo>
                    <a:pt x="23162895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485" r="0" b="-47648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3162895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NPU vs. CPU: Architectural Comparison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2500312"/>
            <a:ext cx="8143161" cy="3036094"/>
            <a:chOff x="0" y="0"/>
            <a:chExt cx="10857548" cy="404812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39450" cy="4048125"/>
              <a:chOff x="0" y="0"/>
              <a:chExt cx="10839450" cy="4048125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10839450" cy="4048125"/>
              </a:xfrm>
              <a:custGeom>
                <a:avLst/>
                <a:gdLst/>
                <a:ahLst/>
                <a:cxnLst/>
                <a:rect r="r" b="b" t="t" l="l"/>
                <a:pathLst>
                  <a:path h="4048125" w="10839450">
                    <a:moveTo>
                      <a:pt x="0" y="0"/>
                    </a:moveTo>
                    <a:lnTo>
                      <a:pt x="10839450" y="0"/>
                    </a:lnTo>
                    <a:lnTo>
                      <a:pt x="10839450" y="4048125"/>
                    </a:lnTo>
                    <a:lnTo>
                      <a:pt x="0" y="40481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29" r="0" b="-29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76250" y="476250"/>
              <a:ext cx="914400" cy="914400"/>
              <a:chOff x="0" y="0"/>
              <a:chExt cx="914400" cy="914400"/>
            </a:xfrm>
          </p:grpSpPr>
          <p:sp>
            <p:nvSpPr>
              <p:cNvPr name="Freeform 8" id="8" descr="image.png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476250" y="1638300"/>
              <a:ext cx="10381298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Optimized for AI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76250" y="2238375"/>
              <a:ext cx="9886950" cy="90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Designed with dedicated hardware architecture specifically tuned for neural network algorithms, deep learning layers, and tensor operations.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752475" y="723900"/>
              <a:ext cx="361950" cy="419100"/>
              <a:chOff x="0" y="0"/>
              <a:chExt cx="361950" cy="41910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36195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36195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419100"/>
                    </a:ln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631" t="0" r="-2631" b="0"/>
                </a:stretch>
              </a:blipFill>
            </p:spPr>
          </p:sp>
        </p:grpSp>
      </p:grpSp>
      <p:grpSp>
        <p:nvGrpSpPr>
          <p:cNvPr name="Group 13" id="13"/>
          <p:cNvGrpSpPr/>
          <p:nvPr/>
        </p:nvGrpSpPr>
        <p:grpSpPr>
          <a:xfrm rot="0">
            <a:off x="9286875" y="2500312"/>
            <a:ext cx="8143161" cy="3036094"/>
            <a:chOff x="0" y="0"/>
            <a:chExt cx="10857548" cy="404812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839450" cy="4048125"/>
              <a:chOff x="0" y="0"/>
              <a:chExt cx="10839450" cy="4048125"/>
            </a:xfrm>
          </p:grpSpPr>
          <p:sp>
            <p:nvSpPr>
              <p:cNvPr name="Freeform 15" id="15" descr="image.png"/>
              <p:cNvSpPr/>
              <p:nvPr/>
            </p:nvSpPr>
            <p:spPr>
              <a:xfrm flipH="false" flipV="false" rot="0">
                <a:off x="0" y="0"/>
                <a:ext cx="10839450" cy="4048125"/>
              </a:xfrm>
              <a:custGeom>
                <a:avLst/>
                <a:gdLst/>
                <a:ahLst/>
                <a:cxnLst/>
                <a:rect r="r" b="b" t="t" l="l"/>
                <a:pathLst>
                  <a:path h="4048125" w="10839450">
                    <a:moveTo>
                      <a:pt x="0" y="0"/>
                    </a:moveTo>
                    <a:lnTo>
                      <a:pt x="10839450" y="0"/>
                    </a:lnTo>
                    <a:lnTo>
                      <a:pt x="10839450" y="4048125"/>
                    </a:lnTo>
                    <a:lnTo>
                      <a:pt x="0" y="40481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29" r="0" b="-29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76250" y="476250"/>
              <a:ext cx="914400" cy="914400"/>
              <a:chOff x="0" y="0"/>
              <a:chExt cx="914400" cy="914400"/>
            </a:xfrm>
          </p:grpSpPr>
          <p:sp>
            <p:nvSpPr>
              <p:cNvPr name="Freeform 17" id="17" descr="image.png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76250" y="1638300"/>
              <a:ext cx="10381298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Parallel Processing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76250" y="2238375"/>
              <a:ext cx="98869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Executes thousands of matrix math calculations simultaneously, providing the extreme data throughput essential for real-time AI workloads.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695325" y="723900"/>
              <a:ext cx="476250" cy="419100"/>
              <a:chOff x="0" y="0"/>
              <a:chExt cx="476250" cy="419100"/>
            </a:xfrm>
          </p:grpSpPr>
          <p:sp>
            <p:nvSpPr>
              <p:cNvPr name="Freeform 21" id="21" descr="image.png"/>
              <p:cNvSpPr/>
              <p:nvPr/>
            </p:nvSpPr>
            <p:spPr>
              <a:xfrm flipH="false" flipV="false" rot="0">
                <a:off x="0" y="0"/>
                <a:ext cx="47625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76250">
                    <a:moveTo>
                      <a:pt x="0" y="0"/>
                    </a:moveTo>
                    <a:lnTo>
                      <a:pt x="476250" y="0"/>
                    </a:lnTo>
                    <a:lnTo>
                      <a:pt x="476250" y="419100"/>
                    </a:ln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2000" t="0" r="-2000" b="0"/>
                </a:stretch>
              </a:blipFill>
            </p:spPr>
          </p:sp>
        </p:grpSp>
      </p:grpSp>
      <p:grpSp>
        <p:nvGrpSpPr>
          <p:cNvPr name="Group 22" id="22"/>
          <p:cNvGrpSpPr/>
          <p:nvPr/>
        </p:nvGrpSpPr>
        <p:grpSpPr>
          <a:xfrm rot="0">
            <a:off x="9286875" y="5822156"/>
            <a:ext cx="8143161" cy="3036094"/>
            <a:chOff x="0" y="0"/>
            <a:chExt cx="10857548" cy="404812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0839450" cy="4048125"/>
              <a:chOff x="0" y="0"/>
              <a:chExt cx="10839450" cy="4048125"/>
            </a:xfrm>
          </p:grpSpPr>
          <p:sp>
            <p:nvSpPr>
              <p:cNvPr name="Freeform 24" id="24" descr="image.png"/>
              <p:cNvSpPr/>
              <p:nvPr/>
            </p:nvSpPr>
            <p:spPr>
              <a:xfrm flipH="false" flipV="false" rot="0">
                <a:off x="0" y="0"/>
                <a:ext cx="10839450" cy="4048125"/>
              </a:xfrm>
              <a:custGeom>
                <a:avLst/>
                <a:gdLst/>
                <a:ahLst/>
                <a:cxnLst/>
                <a:rect r="r" b="b" t="t" l="l"/>
                <a:pathLst>
                  <a:path h="4048125" w="10839450">
                    <a:moveTo>
                      <a:pt x="0" y="0"/>
                    </a:moveTo>
                    <a:lnTo>
                      <a:pt x="10839450" y="0"/>
                    </a:lnTo>
                    <a:lnTo>
                      <a:pt x="10839450" y="4048125"/>
                    </a:lnTo>
                    <a:lnTo>
                      <a:pt x="0" y="40481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29" r="0" b="-29"/>
                </a:stretch>
              </a:blip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76250" y="476250"/>
              <a:ext cx="914400" cy="914400"/>
              <a:chOff x="0" y="0"/>
              <a:chExt cx="914400" cy="914400"/>
            </a:xfrm>
          </p:grpSpPr>
          <p:sp>
            <p:nvSpPr>
              <p:cNvPr name="Freeform 26" id="26" descr="image.png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041" r="0" b="-1041"/>
                </a:stretch>
              </a:blip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476250" y="1638300"/>
              <a:ext cx="10381298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On-Device Privacy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76250" y="2238375"/>
              <a:ext cx="98869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Enables local AI processing directly on the hardware. Reduces latency and keeps sensitive personal data on the device without cloud dependency.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723900" y="723900"/>
              <a:ext cx="419100" cy="419100"/>
              <a:chOff x="0" y="0"/>
              <a:chExt cx="419100" cy="419100"/>
            </a:xfrm>
          </p:grpSpPr>
          <p:sp>
            <p:nvSpPr>
              <p:cNvPr name="Freeform 30" id="30" descr="image.png"/>
              <p:cNvSpPr/>
              <p:nvPr/>
            </p:nvSpPr>
            <p:spPr>
              <a:xfrm flipH="false" flipV="false" rot="0">
                <a:off x="0" y="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0" y="0"/>
                    </a:moveTo>
                    <a:lnTo>
                      <a:pt x="419100" y="0"/>
                    </a:lnTo>
                    <a:lnTo>
                      <a:pt x="419100" y="419100"/>
                    </a:ln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2272" r="0" b="-2272"/>
                </a:stretch>
              </a:blipFill>
            </p:spPr>
          </p:sp>
        </p:grpSp>
      </p:grpSp>
      <p:grpSp>
        <p:nvGrpSpPr>
          <p:cNvPr name="Group 31" id="31"/>
          <p:cNvGrpSpPr/>
          <p:nvPr/>
        </p:nvGrpSpPr>
        <p:grpSpPr>
          <a:xfrm rot="0">
            <a:off x="871538" y="728662"/>
            <a:ext cx="17372171" cy="642938"/>
            <a:chOff x="0" y="0"/>
            <a:chExt cx="23162895" cy="85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162895" cy="857250"/>
            </a:xfrm>
            <a:custGeom>
              <a:avLst/>
              <a:gdLst/>
              <a:ahLst/>
              <a:cxnLst/>
              <a:rect r="r" b="b" t="t" l="l"/>
              <a:pathLst>
                <a:path h="857250" w="23162895">
                  <a:moveTo>
                    <a:pt x="0" y="0"/>
                  </a:moveTo>
                  <a:lnTo>
                    <a:pt x="23162895" y="0"/>
                  </a:lnTo>
                  <a:lnTo>
                    <a:pt x="23162895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76485" r="0" b="-4764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3162895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Key Features &amp; Technical Advantages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1538" y="5822156"/>
            <a:ext cx="8143161" cy="3036094"/>
            <a:chOff x="0" y="0"/>
            <a:chExt cx="10857548" cy="4048125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839450" cy="4048125"/>
              <a:chOff x="0" y="0"/>
              <a:chExt cx="10839450" cy="4048125"/>
            </a:xfrm>
          </p:grpSpPr>
          <p:sp>
            <p:nvSpPr>
              <p:cNvPr name="Freeform 36" id="36" descr="image.png"/>
              <p:cNvSpPr/>
              <p:nvPr/>
            </p:nvSpPr>
            <p:spPr>
              <a:xfrm flipH="false" flipV="false" rot="0">
                <a:off x="0" y="0"/>
                <a:ext cx="10839450" cy="4048125"/>
              </a:xfrm>
              <a:custGeom>
                <a:avLst/>
                <a:gdLst/>
                <a:ahLst/>
                <a:cxnLst/>
                <a:rect r="r" b="b" t="t" l="l"/>
                <a:pathLst>
                  <a:path h="4048125" w="10839450">
                    <a:moveTo>
                      <a:pt x="0" y="0"/>
                    </a:moveTo>
                    <a:lnTo>
                      <a:pt x="10839450" y="0"/>
                    </a:lnTo>
                    <a:lnTo>
                      <a:pt x="10839450" y="4048125"/>
                    </a:lnTo>
                    <a:lnTo>
                      <a:pt x="0" y="40481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29" r="0" b="-29"/>
                </a:stretch>
              </a:blip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476250" y="476250"/>
              <a:ext cx="914400" cy="914400"/>
              <a:chOff x="0" y="0"/>
              <a:chExt cx="914400" cy="914400"/>
            </a:xfrm>
          </p:grpSpPr>
          <p:sp>
            <p:nvSpPr>
              <p:cNvPr name="Freeform 38" id="38" descr="image.png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041" r="0" b="-1041"/>
                </a:stretch>
              </a:blip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476250" y="1638300"/>
              <a:ext cx="10381298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Low Power Consumption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76250" y="2238375"/>
              <a:ext cx="9886950" cy="90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Delivers significantly higher performance-per-watt, dramatically saving battery life in mobile devices like smartphones and laptops.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671694" y="684215"/>
              <a:ext cx="523512" cy="498470"/>
              <a:chOff x="0" y="0"/>
              <a:chExt cx="280098" cy="266700"/>
            </a:xfrm>
          </p:grpSpPr>
          <p:sp>
            <p:nvSpPr>
              <p:cNvPr name="Freeform 42" id="42" descr="image.png"/>
              <p:cNvSpPr/>
              <p:nvPr/>
            </p:nvSpPr>
            <p:spPr>
              <a:xfrm flipH="false" flipV="false" rot="0">
                <a:off x="0" y="0"/>
                <a:ext cx="280035" cy="266700"/>
              </a:xfrm>
              <a:custGeom>
                <a:avLst/>
                <a:gdLst/>
                <a:ahLst/>
                <a:cxnLst/>
                <a:rect r="r" b="b" t="t" l="l"/>
                <a:pathLst>
                  <a:path h="266700" w="280035">
                    <a:moveTo>
                      <a:pt x="0" y="0"/>
                    </a:moveTo>
                    <a:lnTo>
                      <a:pt x="280035" y="0"/>
                    </a:lnTo>
                    <a:lnTo>
                      <a:pt x="280035" y="266700"/>
                    </a:lnTo>
                    <a:lnTo>
                      <a:pt x="0" y="266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0" t="-2509" r="-22" b="-2514"/>
                </a:stretch>
              </a:blipFill>
            </p:spPr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291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4438" y="7733557"/>
            <a:ext cx="257175" cy="257175"/>
            <a:chOff x="0" y="0"/>
            <a:chExt cx="342900" cy="342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77" r="0" b="-277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43062" y="7590682"/>
            <a:ext cx="1547336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SoC Integration Note: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NPUs rarely operate in isolation. They are integrated alongside CPUs and GPUs into a single chip known as a </a:t>
            </a:r>
            <a:r>
              <a:rPr lang="en-US" sz="168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System on Chip (SoC)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3039218"/>
            <a:ext cx="5343525" cy="1911401"/>
            <a:chOff x="0" y="0"/>
            <a:chExt cx="7124700" cy="254853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124700" cy="2548534"/>
              <a:chOff x="0" y="0"/>
              <a:chExt cx="7124700" cy="2548534"/>
            </a:xfrm>
          </p:grpSpPr>
          <p:sp>
            <p:nvSpPr>
              <p:cNvPr name="Freeform 9" id="9" descr="image.png"/>
              <p:cNvSpPr/>
              <p:nvPr/>
            </p:nvSpPr>
            <p:spPr>
              <a:xfrm flipH="false" flipV="false" rot="0">
                <a:off x="0" y="0"/>
                <a:ext cx="7124700" cy="2548509"/>
              </a:xfrm>
              <a:custGeom>
                <a:avLst/>
                <a:gdLst/>
                <a:ahLst/>
                <a:cxnLst/>
                <a:rect r="r" b="b" t="t" l="l"/>
                <a:pathLst>
                  <a:path h="2548509" w="7124700">
                    <a:moveTo>
                      <a:pt x="0" y="0"/>
                    </a:moveTo>
                    <a:lnTo>
                      <a:pt x="7124700" y="0"/>
                    </a:lnTo>
                    <a:lnTo>
                      <a:pt x="7124700" y="2548509"/>
                    </a:lnTo>
                    <a:lnTo>
                      <a:pt x="0" y="25485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320" r="0" b="-321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00050" y="990600"/>
              <a:ext cx="6324600" cy="1157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Powers biometric face recognition, computational camera enhancements, scene detection, and virtual assistants.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400050" y="428625"/>
              <a:ext cx="285750" cy="381000"/>
              <a:chOff x="0" y="0"/>
              <a:chExt cx="285750" cy="38100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28575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85750">
                    <a:moveTo>
                      <a:pt x="0" y="0"/>
                    </a:moveTo>
                    <a:lnTo>
                      <a:pt x="285750" y="0"/>
                    </a:lnTo>
                    <a:lnTo>
                      <a:pt x="28575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914400" y="390525"/>
              <a:ext cx="2301227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Smartphones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2238" y="3039218"/>
            <a:ext cx="5343525" cy="1911401"/>
            <a:chOff x="0" y="0"/>
            <a:chExt cx="7124700" cy="254853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124700" cy="2548534"/>
              <a:chOff x="0" y="0"/>
              <a:chExt cx="7124700" cy="2548534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7124700" cy="2548509"/>
              </a:xfrm>
              <a:custGeom>
                <a:avLst/>
                <a:gdLst/>
                <a:ahLst/>
                <a:cxnLst/>
                <a:rect r="r" b="b" t="t" l="l"/>
                <a:pathLst>
                  <a:path h="2548509" w="7124700">
                    <a:moveTo>
                      <a:pt x="0" y="0"/>
                    </a:moveTo>
                    <a:lnTo>
                      <a:pt x="7124700" y="0"/>
                    </a:lnTo>
                    <a:lnTo>
                      <a:pt x="7124700" y="2548509"/>
                    </a:lnTo>
                    <a:lnTo>
                      <a:pt x="0" y="25485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187" r="0" b="-187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400050" y="990600"/>
              <a:ext cx="6324600" cy="1157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Enables real-time visual analysis, object detection, spatial tracking, and automated image segmentation.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400050" y="428625"/>
              <a:ext cx="438150" cy="381000"/>
              <a:chOff x="0" y="0"/>
              <a:chExt cx="438150" cy="381000"/>
            </a:xfrm>
          </p:grpSpPr>
          <p:sp>
            <p:nvSpPr>
              <p:cNvPr name="Freeform 19" id="19" descr="image.png"/>
              <p:cNvSpPr/>
              <p:nvPr/>
            </p:nvSpPr>
            <p:spPr>
              <a:xfrm flipH="false" flipV="false" rot="0">
                <a:off x="0" y="0"/>
                <a:ext cx="43815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438150">
                    <a:moveTo>
                      <a:pt x="0" y="0"/>
                    </a:moveTo>
                    <a:lnTo>
                      <a:pt x="438150" y="0"/>
                    </a:lnTo>
                    <a:lnTo>
                      <a:pt x="43815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313" r="0" b="-313"/>
                </a:stretch>
              </a:blip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066800" y="390525"/>
              <a:ext cx="2812542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Computer Vision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72938" y="3039218"/>
            <a:ext cx="5343525" cy="1911401"/>
            <a:chOff x="0" y="0"/>
            <a:chExt cx="7124700" cy="254853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124700" cy="2548534"/>
              <a:chOff x="0" y="0"/>
              <a:chExt cx="7124700" cy="2548534"/>
            </a:xfrm>
          </p:grpSpPr>
          <p:sp>
            <p:nvSpPr>
              <p:cNvPr name="Freeform 23" id="23" descr="image.png"/>
              <p:cNvSpPr/>
              <p:nvPr/>
            </p:nvSpPr>
            <p:spPr>
              <a:xfrm flipH="false" flipV="false" rot="0">
                <a:off x="0" y="0"/>
                <a:ext cx="7124700" cy="2548509"/>
              </a:xfrm>
              <a:custGeom>
                <a:avLst/>
                <a:gdLst/>
                <a:ahLst/>
                <a:cxnLst/>
                <a:rect r="r" b="b" t="t" l="l"/>
                <a:pathLst>
                  <a:path h="2548509" w="7124700">
                    <a:moveTo>
                      <a:pt x="0" y="0"/>
                    </a:moveTo>
                    <a:lnTo>
                      <a:pt x="7124700" y="0"/>
                    </a:lnTo>
                    <a:lnTo>
                      <a:pt x="7124700" y="2548509"/>
                    </a:lnTo>
                    <a:lnTo>
                      <a:pt x="0" y="25485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320" r="0" b="-321"/>
                </a:stretch>
              </a:blip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400050" y="428625"/>
              <a:ext cx="285750" cy="381000"/>
              <a:chOff x="0" y="0"/>
              <a:chExt cx="285750" cy="381000"/>
            </a:xfrm>
          </p:grpSpPr>
          <p:sp>
            <p:nvSpPr>
              <p:cNvPr name="Freeform 25" id="25" descr="image.png"/>
              <p:cNvSpPr/>
              <p:nvPr/>
            </p:nvSpPr>
            <p:spPr>
              <a:xfrm flipH="false" flipV="false" rot="0">
                <a:off x="0" y="0"/>
                <a:ext cx="28575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85750">
                    <a:moveTo>
                      <a:pt x="0" y="0"/>
                    </a:moveTo>
                    <a:lnTo>
                      <a:pt x="285750" y="0"/>
                    </a:lnTo>
                    <a:lnTo>
                      <a:pt x="28575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795" t="0" r="-791" b="0"/>
                </a:stretch>
              </a:blip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400050" y="990600"/>
              <a:ext cx="6324600" cy="784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Accelerates on-device speech-to-text conversion, real-time audio translation, and noise suppression.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14400" y="390525"/>
              <a:ext cx="3038196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Voice Recognition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1538" y="5207794"/>
            <a:ext cx="5343525" cy="1911401"/>
            <a:chOff x="0" y="0"/>
            <a:chExt cx="7124700" cy="254853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124700" cy="2548534"/>
              <a:chOff x="0" y="0"/>
              <a:chExt cx="7124700" cy="2548534"/>
            </a:xfrm>
          </p:grpSpPr>
          <p:sp>
            <p:nvSpPr>
              <p:cNvPr name="Freeform 30" id="30" descr="image.png"/>
              <p:cNvSpPr/>
              <p:nvPr/>
            </p:nvSpPr>
            <p:spPr>
              <a:xfrm flipH="false" flipV="false" rot="0">
                <a:off x="0" y="0"/>
                <a:ext cx="7124700" cy="2548509"/>
              </a:xfrm>
              <a:custGeom>
                <a:avLst/>
                <a:gdLst/>
                <a:ahLst/>
                <a:cxnLst/>
                <a:rect r="r" b="b" t="t" l="l"/>
                <a:pathLst>
                  <a:path h="2548509" w="7124700">
                    <a:moveTo>
                      <a:pt x="0" y="0"/>
                    </a:moveTo>
                    <a:lnTo>
                      <a:pt x="7124700" y="0"/>
                    </a:lnTo>
                    <a:lnTo>
                      <a:pt x="7124700" y="2548509"/>
                    </a:lnTo>
                    <a:lnTo>
                      <a:pt x="0" y="25485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320" r="0" b="-321"/>
                </a:stretch>
              </a:blip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400050" y="990600"/>
              <a:ext cx="6324600" cy="784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Runs local Large Language Models (LLMs) and image generation tools directly on user hardware.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400050" y="428625"/>
              <a:ext cx="476250" cy="381000"/>
              <a:chOff x="0" y="0"/>
              <a:chExt cx="476250" cy="381000"/>
            </a:xfrm>
          </p:grpSpPr>
          <p:sp>
            <p:nvSpPr>
              <p:cNvPr name="Freeform 33" id="33" descr="image.png"/>
              <p:cNvSpPr/>
              <p:nvPr/>
            </p:nvSpPr>
            <p:spPr>
              <a:xfrm flipH="false" flipV="false" rot="0">
                <a:off x="0" y="0"/>
                <a:ext cx="47625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476250">
                    <a:moveTo>
                      <a:pt x="0" y="0"/>
                    </a:moveTo>
                    <a:lnTo>
                      <a:pt x="476250" y="0"/>
                    </a:lnTo>
                    <a:lnTo>
                      <a:pt x="47625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1104900" y="390525"/>
              <a:ext cx="2246846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Generative AI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72238" y="5207794"/>
            <a:ext cx="5343525" cy="1911401"/>
            <a:chOff x="0" y="0"/>
            <a:chExt cx="7124700" cy="254853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7124700" cy="2548534"/>
              <a:chOff x="0" y="0"/>
              <a:chExt cx="7124700" cy="2548534"/>
            </a:xfrm>
          </p:grpSpPr>
          <p:sp>
            <p:nvSpPr>
              <p:cNvPr name="Freeform 37" id="37" descr="image.png"/>
              <p:cNvSpPr/>
              <p:nvPr/>
            </p:nvSpPr>
            <p:spPr>
              <a:xfrm flipH="false" flipV="false" rot="0">
                <a:off x="0" y="0"/>
                <a:ext cx="7124700" cy="2548509"/>
              </a:xfrm>
              <a:custGeom>
                <a:avLst/>
                <a:gdLst/>
                <a:ahLst/>
                <a:cxnLst/>
                <a:rect r="r" b="b" t="t" l="l"/>
                <a:pathLst>
                  <a:path h="2548509" w="7124700">
                    <a:moveTo>
                      <a:pt x="0" y="0"/>
                    </a:moveTo>
                    <a:lnTo>
                      <a:pt x="7124700" y="0"/>
                    </a:lnTo>
                    <a:lnTo>
                      <a:pt x="7124700" y="2548509"/>
                    </a:lnTo>
                    <a:lnTo>
                      <a:pt x="0" y="25485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87" r="0" b="-187"/>
                </a:stretch>
              </a:blip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400050" y="990600"/>
              <a:ext cx="6324600" cy="1157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Processes real-time camera feeds and sensor arrays for instantaneous intelligent driving decisions.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400050" y="428625"/>
              <a:ext cx="381000" cy="381000"/>
              <a:chOff x="0" y="0"/>
              <a:chExt cx="381000" cy="381000"/>
            </a:xfrm>
          </p:grpSpPr>
          <p:sp>
            <p:nvSpPr>
              <p:cNvPr name="Freeform 40" id="40" descr="image.png"/>
              <p:cNvSpPr/>
              <p:nvPr/>
            </p:nvSpPr>
            <p:spPr>
              <a:xfrm flipH="false" flipV="false" rot="0">
                <a:off x="0" y="0"/>
                <a:ext cx="3810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-2500" t="0" r="-2500" b="0"/>
                </a:stretch>
              </a:blipFill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1009650" y="390525"/>
              <a:ext cx="3643897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Autonomous Vehicles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72938" y="5207794"/>
            <a:ext cx="5343525" cy="1911401"/>
            <a:chOff x="0" y="0"/>
            <a:chExt cx="7124700" cy="2548534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7124700" cy="2548534"/>
              <a:chOff x="0" y="0"/>
              <a:chExt cx="7124700" cy="2548534"/>
            </a:xfrm>
          </p:grpSpPr>
          <p:sp>
            <p:nvSpPr>
              <p:cNvPr name="Freeform 44" id="44" descr="image.png"/>
              <p:cNvSpPr/>
              <p:nvPr/>
            </p:nvSpPr>
            <p:spPr>
              <a:xfrm flipH="false" flipV="false" rot="0">
                <a:off x="0" y="0"/>
                <a:ext cx="7124700" cy="2548509"/>
              </a:xfrm>
              <a:custGeom>
                <a:avLst/>
                <a:gdLst/>
                <a:ahLst/>
                <a:cxnLst/>
                <a:rect r="r" b="b" t="t" l="l"/>
                <a:pathLst>
                  <a:path h="2548509" w="7124700">
                    <a:moveTo>
                      <a:pt x="0" y="0"/>
                    </a:moveTo>
                    <a:lnTo>
                      <a:pt x="7124700" y="0"/>
                    </a:lnTo>
                    <a:lnTo>
                      <a:pt x="7124700" y="2548509"/>
                    </a:lnTo>
                    <a:lnTo>
                      <a:pt x="0" y="25485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320" r="0" b="-321"/>
                </a:stretch>
              </a:blip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400050" y="428625"/>
              <a:ext cx="342900" cy="381000"/>
              <a:chOff x="0" y="0"/>
              <a:chExt cx="342900" cy="381000"/>
            </a:xfrm>
          </p:grpSpPr>
          <p:sp>
            <p:nvSpPr>
              <p:cNvPr name="Freeform 46" id="46" descr="image.png"/>
              <p:cNvSpPr/>
              <p:nvPr/>
            </p:nvSpPr>
            <p:spPr>
              <a:xfrm flipH="false" flipV="false" rot="0">
                <a:off x="0" y="0"/>
                <a:ext cx="3429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429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-2777" t="0" r="-2777" b="0"/>
                </a:stretch>
              </a:blip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400050" y="990600"/>
              <a:ext cx="6324600" cy="784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Drives smart surveillance systems with real-time video analytics and instant threat detection.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971550" y="390525"/>
              <a:ext cx="2905366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Security Systems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1538" y="728662"/>
            <a:ext cx="17372171" cy="642938"/>
            <a:chOff x="0" y="0"/>
            <a:chExt cx="23162895" cy="8572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162895" cy="857250"/>
            </a:xfrm>
            <a:custGeom>
              <a:avLst/>
              <a:gdLst/>
              <a:ahLst/>
              <a:cxnLst/>
              <a:rect r="r" b="b" t="t" l="l"/>
              <a:pathLst>
                <a:path h="857250" w="23162895">
                  <a:moveTo>
                    <a:pt x="0" y="0"/>
                  </a:moveTo>
                  <a:lnTo>
                    <a:pt x="23162895" y="0"/>
                  </a:lnTo>
                  <a:lnTo>
                    <a:pt x="23162895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76485" r="0" b="-47648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3162895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Real-World Applications of NPUs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0" y="1714500"/>
            <a:ext cx="7829550" cy="6858000"/>
            <a:chOff x="0" y="0"/>
            <a:chExt cx="104394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394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031" r="0" b="-176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1538" y="2985421"/>
            <a:ext cx="7986712" cy="4316158"/>
            <a:chOff x="0" y="0"/>
            <a:chExt cx="10648950" cy="575487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215793" cy="666750"/>
              <a:chOff x="0" y="0"/>
              <a:chExt cx="8215793" cy="666750"/>
            </a:xfrm>
          </p:grpSpPr>
          <p:sp>
            <p:nvSpPr>
              <p:cNvPr name="Freeform 8" id="8" descr="image.png"/>
              <p:cNvSpPr/>
              <p:nvPr/>
            </p:nvSpPr>
            <p:spPr>
              <a:xfrm flipH="false" flipV="false" rot="0">
                <a:off x="0" y="0"/>
                <a:ext cx="8215712" cy="666750"/>
              </a:xfrm>
              <a:custGeom>
                <a:avLst/>
                <a:gdLst/>
                <a:ahLst/>
                <a:cxnLst/>
                <a:rect r="r" b="b" t="t" l="l"/>
                <a:pathLst>
                  <a:path h="666750" w="8215712">
                    <a:moveTo>
                      <a:pt x="0" y="0"/>
                    </a:moveTo>
                    <a:lnTo>
                      <a:pt x="8215712" y="0"/>
                    </a:lnTo>
                    <a:lnTo>
                      <a:pt x="8215712" y="666750"/>
                    </a:lnTo>
                    <a:lnTo>
                      <a:pt x="0" y="666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7620" r="0" b="-17623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4973828"/>
              <a:ext cx="7990119" cy="781050"/>
              <a:chOff x="0" y="0"/>
              <a:chExt cx="7990119" cy="781050"/>
            </a:xfrm>
          </p:grpSpPr>
          <p:sp>
            <p:nvSpPr>
              <p:cNvPr name="Freeform 10" id="10" descr="image.png"/>
              <p:cNvSpPr/>
              <p:nvPr/>
            </p:nvSpPr>
            <p:spPr>
              <a:xfrm flipH="false" flipV="false" rot="0">
                <a:off x="0" y="0"/>
                <a:ext cx="7990119" cy="781050"/>
              </a:xfrm>
              <a:custGeom>
                <a:avLst/>
                <a:gdLst/>
                <a:ahLst/>
                <a:cxnLst/>
                <a:rect r="r" b="b" t="t" l="l"/>
                <a:pathLst>
                  <a:path h="781050" w="7990119">
                    <a:moveTo>
                      <a:pt x="0" y="0"/>
                    </a:moveTo>
                    <a:lnTo>
                      <a:pt x="7990119" y="0"/>
                    </a:lnTo>
                    <a:lnTo>
                      <a:pt x="7990119" y="781050"/>
                    </a:lnTo>
                    <a:lnTo>
                      <a:pt x="0" y="7810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11205" r="0" b="-11203"/>
                </a:stretch>
              </a:blip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323850" y="200025"/>
              <a:ext cx="280098" cy="266700"/>
              <a:chOff x="0" y="0"/>
              <a:chExt cx="280098" cy="26670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280035" cy="266700"/>
              </a:xfrm>
              <a:custGeom>
                <a:avLst/>
                <a:gdLst/>
                <a:ahLst/>
                <a:cxnLst/>
                <a:rect r="r" b="b" t="t" l="l"/>
                <a:pathLst>
                  <a:path h="266700" w="280035">
                    <a:moveTo>
                      <a:pt x="0" y="0"/>
                    </a:moveTo>
                    <a:lnTo>
                      <a:pt x="280035" y="0"/>
                    </a:lnTo>
                    <a:lnTo>
                      <a:pt x="280035" y="266700"/>
                    </a:lnTo>
                    <a:lnTo>
                      <a:pt x="0" y="266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2509" r="-22" b="-2514"/>
                </a:stretch>
              </a:blip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00050" y="5221478"/>
              <a:ext cx="323850" cy="285750"/>
              <a:chOff x="0" y="0"/>
              <a:chExt cx="323850" cy="285750"/>
            </a:xfrm>
          </p:grpSpPr>
          <p:sp>
            <p:nvSpPr>
              <p:cNvPr name="Freeform 14" id="14" descr="image.png"/>
              <p:cNvSpPr/>
              <p:nvPr/>
            </p:nvSpPr>
            <p:spPr>
              <a:xfrm flipH="false" flipV="false" rot="0">
                <a:off x="0" y="0"/>
                <a:ext cx="3238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323850">
                    <a:moveTo>
                      <a:pt x="0" y="0"/>
                    </a:moveTo>
                    <a:lnTo>
                      <a:pt x="323850" y="0"/>
                    </a:lnTo>
                    <a:lnTo>
                      <a:pt x="3238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3333" r="0" b="-3333"/>
                </a:stretch>
              </a:blip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1123950"/>
              <a:ext cx="9834122" cy="123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85"/>
                </a:lnSpc>
              </a:pPr>
              <a:r>
                <a:rPr lang="en-US" sz="6075">
                  <a:solidFill>
                    <a:srgbClr val="0F172A"/>
                  </a:solidFill>
                  <a:latin typeface="Arimo"/>
                  <a:ea typeface="Arimo"/>
                  <a:cs typeface="Arimo"/>
                  <a:sym typeface="Arimo"/>
                </a:rPr>
                <a:t>SoC: System on Chip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621153"/>
              <a:ext cx="10648950" cy="1781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Integrating CPUs, NPUs, and System Controllers into a single, high-efficiency silicon platform for modern AI workloads.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14500" y="2372620"/>
            <a:ext cx="6415088" cy="2035969"/>
            <a:chOff x="0" y="0"/>
            <a:chExt cx="8553450" cy="27146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553450" cy="2714625"/>
            </a:xfrm>
            <a:custGeom>
              <a:avLst/>
              <a:gdLst/>
              <a:ahLst/>
              <a:cxnLst/>
              <a:rect r="r" b="b" t="t" l="l"/>
              <a:pathLst>
                <a:path h="2714625" w="8553450">
                  <a:moveTo>
                    <a:pt x="0" y="0"/>
                  </a:moveTo>
                  <a:lnTo>
                    <a:pt x="8553450" y="0"/>
                  </a:lnTo>
                  <a:lnTo>
                    <a:pt x="8553450" y="2714625"/>
                  </a:lnTo>
                  <a:lnTo>
                    <a:pt x="0" y="2714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5" r="0" b="-17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57875" y="4751489"/>
            <a:ext cx="1971675" cy="1188539"/>
            <a:chOff x="0" y="0"/>
            <a:chExt cx="2628900" cy="1584719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628900" cy="1584706"/>
            </a:xfrm>
            <a:custGeom>
              <a:avLst/>
              <a:gdLst/>
              <a:ahLst/>
              <a:cxnLst/>
              <a:rect r="r" b="b" t="t" l="l"/>
              <a:pathLst>
                <a:path h="1584706" w="2628900">
                  <a:moveTo>
                    <a:pt x="0" y="0"/>
                  </a:moveTo>
                  <a:lnTo>
                    <a:pt x="2628900" y="0"/>
                  </a:lnTo>
                  <a:lnTo>
                    <a:pt x="2628900" y="1584706"/>
                  </a:lnTo>
                  <a:lnTo>
                    <a:pt x="0" y="1584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" r="0" b="-48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6282928"/>
            <a:ext cx="11101388" cy="1631452"/>
            <a:chOff x="0" y="0"/>
            <a:chExt cx="14801850" cy="2175269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4801850" cy="2175256"/>
            </a:xfrm>
            <a:custGeom>
              <a:avLst/>
              <a:gdLst/>
              <a:ahLst/>
              <a:cxnLst/>
              <a:rect r="r" b="b" t="t" l="l"/>
              <a:pathLst>
                <a:path h="2175256" w="14801850">
                  <a:moveTo>
                    <a:pt x="0" y="0"/>
                  </a:moveTo>
                  <a:lnTo>
                    <a:pt x="14801850" y="0"/>
                  </a:lnTo>
                  <a:lnTo>
                    <a:pt x="14801850" y="2175256"/>
                  </a:lnTo>
                  <a:lnTo>
                    <a:pt x="0" y="217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55" r="0" b="-35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68753" y="4129088"/>
            <a:ext cx="3950494" cy="757238"/>
            <a:chOff x="0" y="0"/>
            <a:chExt cx="5267325" cy="10096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5267325" cy="1009650"/>
            </a:xfrm>
            <a:custGeom>
              <a:avLst/>
              <a:gdLst/>
              <a:ahLst/>
              <a:cxnLst/>
              <a:rect r="r" b="b" t="t" l="l"/>
              <a:pathLst>
                <a:path h="1009650" w="5267325">
                  <a:moveTo>
                    <a:pt x="0" y="0"/>
                  </a:moveTo>
                  <a:lnTo>
                    <a:pt x="5267325" y="0"/>
                  </a:lnTo>
                  <a:lnTo>
                    <a:pt x="5267325" y="1009650"/>
                  </a:lnTo>
                  <a:lnTo>
                    <a:pt x="0" y="100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1" t="0" r="-27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0276" y="2143125"/>
            <a:ext cx="15247439" cy="1643062"/>
            <a:chOff x="0" y="0"/>
            <a:chExt cx="20329919" cy="219075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0329919" cy="2190750"/>
              <a:chOff x="0" y="0"/>
              <a:chExt cx="20329919" cy="2190750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20329906" cy="2190750"/>
              </a:xfrm>
              <a:custGeom>
                <a:avLst/>
                <a:gdLst/>
                <a:ahLst/>
                <a:cxnLst/>
                <a:rect r="r" b="b" t="t" l="l"/>
                <a:pathLst>
                  <a:path h="2190750" w="20329906">
                    <a:moveTo>
                      <a:pt x="0" y="0"/>
                    </a:moveTo>
                    <a:lnTo>
                      <a:pt x="20329906" y="0"/>
                    </a:lnTo>
                    <a:lnTo>
                      <a:pt x="20329906" y="2190750"/>
                    </a:lnTo>
                    <a:lnTo>
                      <a:pt x="0" y="219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8" t="0" r="-38" b="0"/>
                </a:stretch>
              </a:blip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800100" y="419100"/>
              <a:ext cx="18729719" cy="1276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sz="2362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 </a:t>
              </a:r>
              <a:r>
                <a:rPr lang="en-US" sz="2362" b="true">
                  <a:solidFill>
                    <a:srgbClr val="60A5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System on Chip (SoC)</a:t>
              </a:r>
              <a:r>
                <a:rPr lang="en-US" sz="2362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is an integrated circuit that combines most of the major components required to perform a computing system's functions onto a single chip.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364" y="5687132"/>
            <a:ext cx="16573271" cy="2348732"/>
            <a:chOff x="0" y="0"/>
            <a:chExt cx="22097695" cy="313164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397148" cy="3131642"/>
              <a:chOff x="0" y="0"/>
              <a:chExt cx="3397148" cy="3131642"/>
            </a:xfrm>
          </p:grpSpPr>
          <p:sp>
            <p:nvSpPr>
              <p:cNvPr name="Freeform 10" id="10" descr="image.png"/>
              <p:cNvSpPr/>
              <p:nvPr/>
            </p:nvSpPr>
            <p:spPr>
              <a:xfrm flipH="false" flipV="false" rot="0">
                <a:off x="0" y="0"/>
                <a:ext cx="3397123" cy="3131693"/>
              </a:xfrm>
              <a:custGeom>
                <a:avLst/>
                <a:gdLst/>
                <a:ahLst/>
                <a:cxnLst/>
                <a:rect r="r" b="b" t="t" l="l"/>
                <a:pathLst>
                  <a:path h="3131693" w="3397123">
                    <a:moveTo>
                      <a:pt x="0" y="0"/>
                    </a:moveTo>
                    <a:lnTo>
                      <a:pt x="3397123" y="0"/>
                    </a:lnTo>
                    <a:lnTo>
                      <a:pt x="3397123" y="3131693"/>
                    </a:lnTo>
                    <a:lnTo>
                      <a:pt x="0" y="31316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2" t="0" r="-3" b="1"/>
                </a:stretch>
              </a:blip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26922" y="457200"/>
              <a:ext cx="1143000" cy="1143000"/>
              <a:chOff x="0" y="0"/>
              <a:chExt cx="1143000" cy="114300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0" y="0"/>
                    </a:moveTo>
                    <a:lnTo>
                      <a:pt x="1143000" y="0"/>
                    </a:lnTo>
                    <a:lnTo>
                      <a:pt x="11430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833" t="0" r="-833" b="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38377" y="1819275"/>
              <a:ext cx="72009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CPU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69722" y="2400300"/>
              <a:ext cx="2057400" cy="27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Central Processing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431722" y="762000"/>
              <a:ext cx="533400" cy="533400"/>
              <a:chOff x="0" y="0"/>
              <a:chExt cx="533400" cy="533400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1785" t="0" r="-1785" b="0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740048" y="0"/>
              <a:ext cx="3397148" cy="3131642"/>
              <a:chOff x="0" y="0"/>
              <a:chExt cx="3397148" cy="3131642"/>
            </a:xfrm>
          </p:grpSpPr>
          <p:sp>
            <p:nvSpPr>
              <p:cNvPr name="Freeform 18" id="18" descr="image.png"/>
              <p:cNvSpPr/>
              <p:nvPr/>
            </p:nvSpPr>
            <p:spPr>
              <a:xfrm flipH="false" flipV="false" rot="0">
                <a:off x="0" y="0"/>
                <a:ext cx="3397123" cy="3131693"/>
              </a:xfrm>
              <a:custGeom>
                <a:avLst/>
                <a:gdLst/>
                <a:ahLst/>
                <a:cxnLst/>
                <a:rect r="r" b="b" t="t" l="l"/>
                <a:pathLst>
                  <a:path h="3131693" w="3397123">
                    <a:moveTo>
                      <a:pt x="0" y="0"/>
                    </a:moveTo>
                    <a:lnTo>
                      <a:pt x="3397123" y="0"/>
                    </a:lnTo>
                    <a:lnTo>
                      <a:pt x="3397123" y="3131693"/>
                    </a:lnTo>
                    <a:lnTo>
                      <a:pt x="0" y="31316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2" t="0" r="-3" b="1"/>
                </a:stretch>
              </a:blip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866970" y="457200"/>
              <a:ext cx="1143000" cy="1143000"/>
              <a:chOff x="0" y="0"/>
              <a:chExt cx="1143000" cy="1143000"/>
            </a:xfrm>
          </p:grpSpPr>
          <p:sp>
            <p:nvSpPr>
              <p:cNvPr name="Freeform 20" id="20" descr="image.png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0" y="0"/>
                    </a:moveTo>
                    <a:lnTo>
                      <a:pt x="1143000" y="0"/>
                    </a:lnTo>
                    <a:lnTo>
                      <a:pt x="11430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833" t="0" r="-833" b="0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5168443" y="1819275"/>
              <a:ext cx="540068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ISP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743158" y="2400300"/>
              <a:ext cx="1390650" cy="27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Image Signal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5171770" y="762000"/>
              <a:ext cx="533400" cy="533400"/>
              <a:chOff x="0" y="0"/>
              <a:chExt cx="533400" cy="533400"/>
            </a:xfrm>
          </p:grpSpPr>
          <p:sp>
            <p:nvSpPr>
              <p:cNvPr name="Freeform 24" id="24" descr="image.png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785" t="0" r="-1785" b="0"/>
                </a:stretch>
              </a:blip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7480097" y="0"/>
              <a:ext cx="3397148" cy="3131642"/>
              <a:chOff x="0" y="0"/>
              <a:chExt cx="3397148" cy="3131642"/>
            </a:xfrm>
          </p:grpSpPr>
          <p:sp>
            <p:nvSpPr>
              <p:cNvPr name="Freeform 26" id="26" descr="image.png"/>
              <p:cNvSpPr/>
              <p:nvPr/>
            </p:nvSpPr>
            <p:spPr>
              <a:xfrm flipH="false" flipV="false" rot="0">
                <a:off x="0" y="0"/>
                <a:ext cx="3397123" cy="3131693"/>
              </a:xfrm>
              <a:custGeom>
                <a:avLst/>
                <a:gdLst/>
                <a:ahLst/>
                <a:cxnLst/>
                <a:rect r="r" b="b" t="t" l="l"/>
                <a:pathLst>
                  <a:path h="3131693" w="3397123">
                    <a:moveTo>
                      <a:pt x="0" y="0"/>
                    </a:moveTo>
                    <a:lnTo>
                      <a:pt x="3397123" y="0"/>
                    </a:lnTo>
                    <a:lnTo>
                      <a:pt x="3397123" y="3131693"/>
                    </a:lnTo>
                    <a:lnTo>
                      <a:pt x="0" y="31316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2" t="0" r="-3" b="1"/>
                </a:stretch>
              </a:blip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8607031" y="457200"/>
              <a:ext cx="1143000" cy="1143000"/>
              <a:chOff x="0" y="0"/>
              <a:chExt cx="1143000" cy="1143000"/>
            </a:xfrm>
          </p:grpSpPr>
          <p:sp>
            <p:nvSpPr>
              <p:cNvPr name="Freeform 28" id="28" descr="image.png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0" y="0"/>
                    </a:moveTo>
                    <a:lnTo>
                      <a:pt x="1143000" y="0"/>
                    </a:lnTo>
                    <a:lnTo>
                      <a:pt x="11430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833" t="0" r="-833" b="0"/>
                </a:stretch>
              </a:blip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8818486" y="1819275"/>
              <a:ext cx="72009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NPU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187931" y="2400300"/>
              <a:ext cx="1981200" cy="27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Neural Processing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8911831" y="762000"/>
              <a:ext cx="533400" cy="533400"/>
              <a:chOff x="0" y="0"/>
              <a:chExt cx="533400" cy="533400"/>
            </a:xfrm>
          </p:grpSpPr>
          <p:sp>
            <p:nvSpPr>
              <p:cNvPr name="Freeform 32" id="32" descr="image.png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-1785" t="0" r="-1785" b="0"/>
                </a:stretch>
              </a:blip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1220158" y="0"/>
              <a:ext cx="3397453" cy="3131642"/>
              <a:chOff x="0" y="0"/>
              <a:chExt cx="3397453" cy="3131642"/>
            </a:xfrm>
          </p:grpSpPr>
          <p:sp>
            <p:nvSpPr>
              <p:cNvPr name="Freeform 34" id="34" descr="image.png"/>
              <p:cNvSpPr/>
              <p:nvPr/>
            </p:nvSpPr>
            <p:spPr>
              <a:xfrm flipH="false" flipV="false" rot="0">
                <a:off x="0" y="0"/>
                <a:ext cx="3397504" cy="3131693"/>
              </a:xfrm>
              <a:custGeom>
                <a:avLst/>
                <a:gdLst/>
                <a:ahLst/>
                <a:cxnLst/>
                <a:rect r="r" b="b" t="t" l="l"/>
                <a:pathLst>
                  <a:path h="3131693" w="3397504">
                    <a:moveTo>
                      <a:pt x="0" y="0"/>
                    </a:moveTo>
                    <a:lnTo>
                      <a:pt x="3397504" y="0"/>
                    </a:lnTo>
                    <a:lnTo>
                      <a:pt x="3397504" y="3131693"/>
                    </a:lnTo>
                    <a:lnTo>
                      <a:pt x="0" y="31316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-278" t="0" r="-276" b="1"/>
                </a:stretch>
              </a:blip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347372" y="457200"/>
              <a:ext cx="1143000" cy="1143000"/>
              <a:chOff x="0" y="0"/>
              <a:chExt cx="1143000" cy="1143000"/>
            </a:xfrm>
          </p:grpSpPr>
          <p:sp>
            <p:nvSpPr>
              <p:cNvPr name="Freeform 36" id="36" descr="image.png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0" y="0"/>
                    </a:moveTo>
                    <a:lnTo>
                      <a:pt x="1143000" y="0"/>
                    </a:lnTo>
                    <a:lnTo>
                      <a:pt x="11430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-833" t="0" r="-833" b="0"/>
                </a:stretch>
              </a:blip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12548832" y="1819275"/>
              <a:ext cx="740092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GPU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2042572" y="2400300"/>
              <a:ext cx="1752600" cy="27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Graphics Engine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12614072" y="762000"/>
              <a:ext cx="609600" cy="533400"/>
              <a:chOff x="0" y="0"/>
              <a:chExt cx="609600" cy="533400"/>
            </a:xfrm>
          </p:grpSpPr>
          <p:sp>
            <p:nvSpPr>
              <p:cNvPr name="Freeform 40" id="40" descr="image.png"/>
              <p:cNvSpPr/>
              <p:nvPr/>
            </p:nvSpPr>
            <p:spPr>
              <a:xfrm flipH="false" flipV="false" rot="0">
                <a:off x="0" y="0"/>
                <a:ext cx="6096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-1562" t="0" r="-1562" b="0"/>
                </a:stretch>
              </a:blip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4960498" y="0"/>
              <a:ext cx="3397148" cy="3131642"/>
              <a:chOff x="0" y="0"/>
              <a:chExt cx="3397148" cy="3131642"/>
            </a:xfrm>
          </p:grpSpPr>
          <p:sp>
            <p:nvSpPr>
              <p:cNvPr name="Freeform 42" id="42" descr="image.png"/>
              <p:cNvSpPr/>
              <p:nvPr/>
            </p:nvSpPr>
            <p:spPr>
              <a:xfrm flipH="false" flipV="false" rot="0">
                <a:off x="0" y="0"/>
                <a:ext cx="3397123" cy="3131693"/>
              </a:xfrm>
              <a:custGeom>
                <a:avLst/>
                <a:gdLst/>
                <a:ahLst/>
                <a:cxnLst/>
                <a:rect r="r" b="b" t="t" l="l"/>
                <a:pathLst>
                  <a:path h="3131693" w="3397123">
                    <a:moveTo>
                      <a:pt x="0" y="0"/>
                    </a:moveTo>
                    <a:lnTo>
                      <a:pt x="3397123" y="0"/>
                    </a:lnTo>
                    <a:lnTo>
                      <a:pt x="3397123" y="3131693"/>
                    </a:lnTo>
                    <a:lnTo>
                      <a:pt x="0" y="31316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-2" t="0" r="-3" b="1"/>
                </a:stretch>
              </a:blip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6087420" y="457200"/>
              <a:ext cx="1143000" cy="1143000"/>
              <a:chOff x="0" y="0"/>
              <a:chExt cx="1143000" cy="1143000"/>
            </a:xfrm>
          </p:grpSpPr>
          <p:sp>
            <p:nvSpPr>
              <p:cNvPr name="Freeform 44" id="44" descr="image.png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0" y="0"/>
                    </a:moveTo>
                    <a:lnTo>
                      <a:pt x="1143000" y="0"/>
                    </a:lnTo>
                    <a:lnTo>
                      <a:pt x="11430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 l="-833" t="0" r="-833" b="0"/>
                </a:stretch>
              </a:blipFill>
            </p:spPr>
          </p:sp>
        </p:grpSp>
        <p:sp>
          <p:nvSpPr>
            <p:cNvPr name="TextBox 45" id="45"/>
            <p:cNvSpPr txBox="true"/>
            <p:nvPr/>
          </p:nvSpPr>
          <p:spPr>
            <a:xfrm rot="0">
              <a:off x="15928835" y="1819275"/>
              <a:ext cx="1460182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Memory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820720" y="2400300"/>
              <a:ext cx="1676400" cy="27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RAM Controller</a:t>
              </a:r>
            </a:p>
          </p:txBody>
        </p:sp>
        <p:grpSp>
          <p:nvGrpSpPr>
            <p:cNvPr name="Group 47" id="47"/>
            <p:cNvGrpSpPr/>
            <p:nvPr/>
          </p:nvGrpSpPr>
          <p:grpSpPr>
            <a:xfrm rot="0">
              <a:off x="16354120" y="762000"/>
              <a:ext cx="609600" cy="533400"/>
              <a:chOff x="0" y="0"/>
              <a:chExt cx="609600" cy="533400"/>
            </a:xfrm>
          </p:grpSpPr>
          <p:sp>
            <p:nvSpPr>
              <p:cNvPr name="Freeform 48" id="48" descr="image.png"/>
              <p:cNvSpPr/>
              <p:nvPr/>
            </p:nvSpPr>
            <p:spPr>
              <a:xfrm flipH="false" flipV="false" rot="0">
                <a:off x="0" y="0"/>
                <a:ext cx="6096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-1562" t="0" r="-1562" b="0"/>
                </a:stretch>
              </a:blip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8700547" y="0"/>
              <a:ext cx="3397148" cy="3131642"/>
              <a:chOff x="0" y="0"/>
              <a:chExt cx="3397148" cy="3131642"/>
            </a:xfrm>
          </p:grpSpPr>
          <p:sp>
            <p:nvSpPr>
              <p:cNvPr name="Freeform 50" id="50" descr="image.png"/>
              <p:cNvSpPr/>
              <p:nvPr/>
            </p:nvSpPr>
            <p:spPr>
              <a:xfrm flipH="false" flipV="false" rot="0">
                <a:off x="0" y="0"/>
                <a:ext cx="3397123" cy="3131693"/>
              </a:xfrm>
              <a:custGeom>
                <a:avLst/>
                <a:gdLst/>
                <a:ahLst/>
                <a:cxnLst/>
                <a:rect r="r" b="b" t="t" l="l"/>
                <a:pathLst>
                  <a:path h="3131693" w="3397123">
                    <a:moveTo>
                      <a:pt x="0" y="0"/>
                    </a:moveTo>
                    <a:lnTo>
                      <a:pt x="3397123" y="0"/>
                    </a:lnTo>
                    <a:lnTo>
                      <a:pt x="3397123" y="3131693"/>
                    </a:lnTo>
                    <a:lnTo>
                      <a:pt x="0" y="313169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/>
                <a:stretch>
                  <a:fillRect l="-2" t="0" r="-3" b="1"/>
                </a:stretch>
              </a:blip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9827481" y="457200"/>
              <a:ext cx="1143000" cy="1143000"/>
              <a:chOff x="0" y="0"/>
              <a:chExt cx="1143000" cy="1143000"/>
            </a:xfrm>
          </p:grpSpPr>
          <p:sp>
            <p:nvSpPr>
              <p:cNvPr name="Freeform 52" id="52" descr="image.png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0" y="0"/>
                    </a:moveTo>
                    <a:lnTo>
                      <a:pt x="1143000" y="0"/>
                    </a:lnTo>
                    <a:lnTo>
                      <a:pt x="11430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9"/>
                <a:stretch>
                  <a:fillRect l="-833" t="0" r="-833" b="0"/>
                </a:stretch>
              </a:blipFill>
            </p:spPr>
          </p:sp>
        </p:grpSp>
        <p:sp>
          <p:nvSpPr>
            <p:cNvPr name="TextBox 53" id="53"/>
            <p:cNvSpPr txBox="true"/>
            <p:nvPr/>
          </p:nvSpPr>
          <p:spPr>
            <a:xfrm rot="0">
              <a:off x="19628879" y="1819275"/>
              <a:ext cx="1540192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 / I/O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9779856" y="2400300"/>
              <a:ext cx="1238250" cy="27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Peripherals</a:t>
              </a:r>
            </a:p>
          </p:txBody>
        </p:sp>
        <p:grpSp>
          <p:nvGrpSpPr>
            <p:cNvPr name="Group 55" id="55"/>
            <p:cNvGrpSpPr/>
            <p:nvPr/>
          </p:nvGrpSpPr>
          <p:grpSpPr>
            <a:xfrm rot="0">
              <a:off x="20065606" y="762000"/>
              <a:ext cx="666750" cy="533400"/>
              <a:chOff x="0" y="0"/>
              <a:chExt cx="666750" cy="533400"/>
            </a:xfrm>
          </p:grpSpPr>
          <p:sp>
            <p:nvSpPr>
              <p:cNvPr name="Freeform 56" id="56" descr="image.png"/>
              <p:cNvSpPr/>
              <p:nvPr/>
            </p:nvSpPr>
            <p:spPr>
              <a:xfrm flipH="false" flipV="false" rot="0">
                <a:off x="0" y="0"/>
                <a:ext cx="6667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66675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-1428" t="0" r="-1428" b="0"/>
                </a:stretch>
              </a:blipFill>
            </p:spPr>
          </p:sp>
        </p:grpSp>
      </p:grpSp>
      <p:sp>
        <p:nvSpPr>
          <p:cNvPr name="TextBox 57" id="57"/>
          <p:cNvSpPr txBox="true"/>
          <p:nvPr/>
        </p:nvSpPr>
        <p:spPr>
          <a:xfrm rot="0">
            <a:off x="5731069" y="666750"/>
            <a:ext cx="682585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sz="5625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SYSTEM ON CHIP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t="0" r="-3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7608" y="170580"/>
            <a:ext cx="3770539" cy="858120"/>
          </a:xfrm>
          <a:custGeom>
            <a:avLst/>
            <a:gdLst/>
            <a:ahLst/>
            <a:cxnLst/>
            <a:rect r="r" b="b" t="t" l="l"/>
            <a:pathLst>
              <a:path h="858120" w="3770539">
                <a:moveTo>
                  <a:pt x="0" y="0"/>
                </a:moveTo>
                <a:lnTo>
                  <a:pt x="3770539" y="0"/>
                </a:lnTo>
                <a:lnTo>
                  <a:pt x="3770539" y="858120"/>
                </a:lnTo>
                <a:lnTo>
                  <a:pt x="0" y="858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472" r="0" b="-34427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52438" y="8400180"/>
            <a:ext cx="2205710" cy="858120"/>
          </a:xfrm>
          <a:custGeom>
            <a:avLst/>
            <a:gdLst/>
            <a:ahLst/>
            <a:cxnLst/>
            <a:rect r="r" b="b" t="t" l="l"/>
            <a:pathLst>
              <a:path h="858120" w="2205710">
                <a:moveTo>
                  <a:pt x="0" y="0"/>
                </a:moveTo>
                <a:lnTo>
                  <a:pt x="2205709" y="0"/>
                </a:lnTo>
                <a:lnTo>
                  <a:pt x="2205709" y="858120"/>
                </a:lnTo>
                <a:lnTo>
                  <a:pt x="0" y="858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944" t="-35472" r="0" b="-344275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328988"/>
            <a:ext cx="5314950" cy="2278856"/>
            <a:chOff x="0" y="0"/>
            <a:chExt cx="7086600" cy="303847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086600" cy="3038475"/>
              <a:chOff x="0" y="0"/>
              <a:chExt cx="7086600" cy="3038475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7086600" cy="3038475"/>
              </a:xfrm>
              <a:custGeom>
                <a:avLst/>
                <a:gdLst/>
                <a:ahLst/>
                <a:cxnLst/>
                <a:rect r="r" b="b" t="t" l="l"/>
                <a:pathLst>
                  <a:path h="3038475" w="7086600">
                    <a:moveTo>
                      <a:pt x="0" y="0"/>
                    </a:moveTo>
                    <a:lnTo>
                      <a:pt x="7086600" y="0"/>
                    </a:lnTo>
                    <a:lnTo>
                      <a:pt x="7086600" y="3038475"/>
                    </a:lnTo>
                    <a:lnTo>
                      <a:pt x="0" y="303847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156" r="0" b="-156"/>
                </a:stretch>
              </a:blip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571500" y="1228725"/>
              <a:ext cx="60388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Handles general-purpose computing tasks, executing OS instructions and sequential workload logic.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571500" y="533400"/>
              <a:ext cx="457200" cy="457200"/>
              <a:chOff x="0" y="0"/>
              <a:chExt cx="457200" cy="457200"/>
            </a:xfrm>
          </p:grpSpPr>
          <p:sp>
            <p:nvSpPr>
              <p:cNvPr name="Freeform 9" id="9" descr="image.png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0" y="0"/>
                    </a:moveTo>
                    <a:lnTo>
                      <a:pt x="457200" y="0"/>
                    </a:lnTo>
                    <a:lnTo>
                      <a:pt x="4572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57300" y="447675"/>
              <a:ext cx="1920240" cy="600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CPU Core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86525" y="3328988"/>
            <a:ext cx="5314950" cy="2278856"/>
            <a:chOff x="0" y="0"/>
            <a:chExt cx="7086600" cy="303847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86600" cy="3038475"/>
              <a:chOff x="0" y="0"/>
              <a:chExt cx="7086600" cy="3038475"/>
            </a:xfrm>
          </p:grpSpPr>
          <p:sp>
            <p:nvSpPr>
              <p:cNvPr name="Freeform 13" id="13" descr="image.png"/>
              <p:cNvSpPr/>
              <p:nvPr/>
            </p:nvSpPr>
            <p:spPr>
              <a:xfrm flipH="false" flipV="false" rot="0">
                <a:off x="0" y="0"/>
                <a:ext cx="7086600" cy="3038475"/>
              </a:xfrm>
              <a:custGeom>
                <a:avLst/>
                <a:gdLst/>
                <a:ahLst/>
                <a:cxnLst/>
                <a:rect r="r" b="b" t="t" l="l"/>
                <a:pathLst>
                  <a:path h="3038475" w="7086600">
                    <a:moveTo>
                      <a:pt x="0" y="0"/>
                    </a:moveTo>
                    <a:lnTo>
                      <a:pt x="7086600" y="0"/>
                    </a:lnTo>
                    <a:lnTo>
                      <a:pt x="7086600" y="3038475"/>
                    </a:lnTo>
                    <a:lnTo>
                      <a:pt x="0" y="303847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156" r="0" b="-156"/>
                </a:stretch>
              </a:blip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571500" y="1228725"/>
              <a:ext cx="60388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Accelerates complex 2D/3D graphics rendering, video decoding, and parallel math processing.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571500" y="533400"/>
              <a:ext cx="514350" cy="457200"/>
              <a:chOff x="0" y="0"/>
              <a:chExt cx="514350" cy="457200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51435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514350">
                    <a:moveTo>
                      <a:pt x="0" y="0"/>
                    </a:moveTo>
                    <a:lnTo>
                      <a:pt x="514350" y="0"/>
                    </a:lnTo>
                    <a:lnTo>
                      <a:pt x="51435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314450" y="447675"/>
              <a:ext cx="1760220" cy="600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GPU Unit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15800" y="3328988"/>
            <a:ext cx="5314950" cy="2278856"/>
            <a:chOff x="0" y="0"/>
            <a:chExt cx="7086600" cy="303847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086600" cy="3038475"/>
              <a:chOff x="0" y="0"/>
              <a:chExt cx="7086600" cy="3038475"/>
            </a:xfrm>
          </p:grpSpPr>
          <p:sp>
            <p:nvSpPr>
              <p:cNvPr name="Freeform 20" id="20" descr="image.png"/>
              <p:cNvSpPr/>
              <p:nvPr/>
            </p:nvSpPr>
            <p:spPr>
              <a:xfrm flipH="false" flipV="false" rot="0">
                <a:off x="0" y="0"/>
                <a:ext cx="7086600" cy="3038475"/>
              </a:xfrm>
              <a:custGeom>
                <a:avLst/>
                <a:gdLst/>
                <a:ahLst/>
                <a:cxnLst/>
                <a:rect r="r" b="b" t="t" l="l"/>
                <a:pathLst>
                  <a:path h="3038475" w="7086600">
                    <a:moveTo>
                      <a:pt x="0" y="0"/>
                    </a:moveTo>
                    <a:lnTo>
                      <a:pt x="7086600" y="0"/>
                    </a:lnTo>
                    <a:lnTo>
                      <a:pt x="7086600" y="3038475"/>
                    </a:lnTo>
                    <a:lnTo>
                      <a:pt x="0" y="303847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156" r="0" b="-156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1228725"/>
              <a:ext cx="60388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Dedicated neural engine optimized for low-power machine learning models and AI inferencing tasks.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571500" y="533400"/>
              <a:ext cx="457200" cy="457200"/>
              <a:chOff x="0" y="0"/>
              <a:chExt cx="457200" cy="457200"/>
            </a:xfrm>
          </p:grpSpPr>
          <p:sp>
            <p:nvSpPr>
              <p:cNvPr name="Freeform 23" id="23" descr="image.png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0" y="0"/>
                    </a:moveTo>
                    <a:lnTo>
                      <a:pt x="457200" y="0"/>
                    </a:lnTo>
                    <a:lnTo>
                      <a:pt x="4572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1257300" y="447675"/>
              <a:ext cx="3400425" cy="600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NPU Accelerator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250" y="5922169"/>
            <a:ext cx="5314950" cy="2278856"/>
            <a:chOff x="0" y="0"/>
            <a:chExt cx="7086600" cy="303847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086600" cy="3038475"/>
              <a:chOff x="0" y="0"/>
              <a:chExt cx="7086600" cy="3038475"/>
            </a:xfrm>
          </p:grpSpPr>
          <p:sp>
            <p:nvSpPr>
              <p:cNvPr name="Freeform 27" id="27" descr="image.png"/>
              <p:cNvSpPr/>
              <p:nvPr/>
            </p:nvSpPr>
            <p:spPr>
              <a:xfrm flipH="false" flipV="false" rot="0">
                <a:off x="0" y="0"/>
                <a:ext cx="7086600" cy="3038475"/>
              </a:xfrm>
              <a:custGeom>
                <a:avLst/>
                <a:gdLst/>
                <a:ahLst/>
                <a:cxnLst/>
                <a:rect r="r" b="b" t="t" l="l"/>
                <a:pathLst>
                  <a:path h="3038475" w="7086600">
                    <a:moveTo>
                      <a:pt x="0" y="0"/>
                    </a:moveTo>
                    <a:lnTo>
                      <a:pt x="7086600" y="0"/>
                    </a:lnTo>
                    <a:lnTo>
                      <a:pt x="7086600" y="3038475"/>
                    </a:lnTo>
                    <a:lnTo>
                      <a:pt x="0" y="303847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156" r="0" b="-156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571500" y="1228725"/>
              <a:ext cx="60388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Processes raw camera sensor data in real-time, handling auto-focus, noise reduction, and HDR imaging.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571500" y="533400"/>
              <a:ext cx="457200" cy="457200"/>
              <a:chOff x="0" y="0"/>
              <a:chExt cx="457200" cy="457200"/>
            </a:xfrm>
          </p:grpSpPr>
          <p:sp>
            <p:nvSpPr>
              <p:cNvPr name="Freeform 30" id="30" descr="image.png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0" y="0"/>
                    </a:moveTo>
                    <a:lnTo>
                      <a:pt x="457200" y="0"/>
                    </a:lnTo>
                    <a:lnTo>
                      <a:pt x="4572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2083" r="0" b="-2083"/>
                </a:stretch>
              </a:blip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257300" y="447675"/>
              <a:ext cx="2220278" cy="600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ISP Module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86525" y="5922169"/>
            <a:ext cx="5314950" cy="2278856"/>
            <a:chOff x="0" y="0"/>
            <a:chExt cx="7086600" cy="303847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7086600" cy="3038475"/>
              <a:chOff x="0" y="0"/>
              <a:chExt cx="7086600" cy="3038475"/>
            </a:xfrm>
          </p:grpSpPr>
          <p:sp>
            <p:nvSpPr>
              <p:cNvPr name="Freeform 34" id="34" descr="image.png"/>
              <p:cNvSpPr/>
              <p:nvPr/>
            </p:nvSpPr>
            <p:spPr>
              <a:xfrm flipH="false" flipV="false" rot="0">
                <a:off x="0" y="0"/>
                <a:ext cx="7086600" cy="3038475"/>
              </a:xfrm>
              <a:custGeom>
                <a:avLst/>
                <a:gdLst/>
                <a:ahLst/>
                <a:cxnLst/>
                <a:rect r="r" b="b" t="t" l="l"/>
                <a:pathLst>
                  <a:path h="3038475" w="7086600">
                    <a:moveTo>
                      <a:pt x="0" y="0"/>
                    </a:moveTo>
                    <a:lnTo>
                      <a:pt x="7086600" y="0"/>
                    </a:lnTo>
                    <a:lnTo>
                      <a:pt x="7086600" y="3038475"/>
                    </a:lnTo>
                    <a:lnTo>
                      <a:pt x="0" y="303847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156" r="0" b="-156"/>
                </a:stretch>
              </a:blip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571500" y="1228725"/>
              <a:ext cx="60388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Manages high-speed data flow between system caches and unified system RAM (LPDDR memory).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571500" y="533400"/>
              <a:ext cx="514350" cy="457200"/>
              <a:chOff x="0" y="0"/>
              <a:chExt cx="514350" cy="457200"/>
            </a:xfrm>
          </p:grpSpPr>
          <p:sp>
            <p:nvSpPr>
              <p:cNvPr name="Freeform 37" id="37" descr="image.png"/>
              <p:cNvSpPr/>
              <p:nvPr/>
            </p:nvSpPr>
            <p:spPr>
              <a:xfrm flipH="false" flipV="false" rot="0">
                <a:off x="0" y="0"/>
                <a:ext cx="51435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514350">
                    <a:moveTo>
                      <a:pt x="0" y="0"/>
                    </a:moveTo>
                    <a:lnTo>
                      <a:pt x="514350" y="0"/>
                    </a:lnTo>
                    <a:lnTo>
                      <a:pt x="51435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2083" r="0" b="-2083"/>
                </a:stretch>
              </a:blip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1314450" y="447675"/>
              <a:ext cx="3920490" cy="600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Memory Controller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15800" y="5922169"/>
            <a:ext cx="5314950" cy="2278856"/>
            <a:chOff x="0" y="0"/>
            <a:chExt cx="7086600" cy="3038475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7086600" cy="3038475"/>
              <a:chOff x="0" y="0"/>
              <a:chExt cx="7086600" cy="3038475"/>
            </a:xfrm>
          </p:grpSpPr>
          <p:sp>
            <p:nvSpPr>
              <p:cNvPr name="Freeform 41" id="41" descr="image.png"/>
              <p:cNvSpPr/>
              <p:nvPr/>
            </p:nvSpPr>
            <p:spPr>
              <a:xfrm flipH="false" flipV="false" rot="0">
                <a:off x="0" y="0"/>
                <a:ext cx="7086600" cy="3038475"/>
              </a:xfrm>
              <a:custGeom>
                <a:avLst/>
                <a:gdLst/>
                <a:ahLst/>
                <a:cxnLst/>
                <a:rect r="r" b="b" t="t" l="l"/>
                <a:pathLst>
                  <a:path h="3038475" w="7086600">
                    <a:moveTo>
                      <a:pt x="0" y="0"/>
                    </a:moveTo>
                    <a:lnTo>
                      <a:pt x="7086600" y="0"/>
                    </a:lnTo>
                    <a:lnTo>
                      <a:pt x="7086600" y="3038475"/>
                    </a:lnTo>
                    <a:lnTo>
                      <a:pt x="0" y="303847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156" r="0" b="-156"/>
                </a:stretch>
              </a:blip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571500" y="1228725"/>
              <a:ext cx="6038850" cy="133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0"/>
                </a:lnSpc>
              </a:pPr>
              <a:r>
                <a:rPr lang="en-US" sz="168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Houses hardware security enclaves, cryptographic engines, and external bus interfaces.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571500" y="533400"/>
              <a:ext cx="457200" cy="457200"/>
              <a:chOff x="0" y="0"/>
              <a:chExt cx="457200" cy="457200"/>
            </a:xfrm>
          </p:grpSpPr>
          <p:sp>
            <p:nvSpPr>
              <p:cNvPr name="Freeform 44" id="44" descr="image.png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0" y="0"/>
                    </a:moveTo>
                    <a:lnTo>
                      <a:pt x="457200" y="0"/>
                    </a:lnTo>
                    <a:lnTo>
                      <a:pt x="4572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2083" r="0" b="-2083"/>
                </a:stretch>
              </a:blipFill>
            </p:spPr>
          </p:sp>
        </p:grpSp>
        <p:sp>
          <p:nvSpPr>
            <p:cNvPr name="TextBox 45" id="45"/>
            <p:cNvSpPr txBox="true"/>
            <p:nvPr/>
          </p:nvSpPr>
          <p:spPr>
            <a:xfrm rot="0">
              <a:off x="1257300" y="447675"/>
              <a:ext cx="2860358" cy="600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Security &amp; I/O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857250" y="666750"/>
            <a:ext cx="17402175" cy="8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E1B4B"/>
                </a:solidFill>
                <a:latin typeface="Poppins Bold"/>
                <a:ea typeface="Poppins Bold"/>
                <a:cs typeface="Poppins Bold"/>
                <a:sym typeface="Poppins Bold"/>
              </a:rPr>
              <a:t>Core Modules within an SoC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82543" y="-1814972"/>
            <a:ext cx="3824379" cy="925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54"/>
              </a:lnSpc>
            </a:pPr>
            <a:r>
              <a:rPr lang="en-US" b="true" sz="49896">
                <a:solidFill>
                  <a:srgbClr val="30383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83392" y="8279540"/>
            <a:ext cx="13843932" cy="1464215"/>
            <a:chOff x="0" y="0"/>
            <a:chExt cx="18458576" cy="195228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8458576" cy="1952287"/>
              <a:chOff x="0" y="0"/>
              <a:chExt cx="3646139" cy="38563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646139" cy="385637"/>
              </a:xfrm>
              <a:custGeom>
                <a:avLst/>
                <a:gdLst/>
                <a:ahLst/>
                <a:cxnLst/>
                <a:rect r="r" b="b" t="t" l="l"/>
                <a:pathLst>
                  <a:path h="385637" w="3646139">
                    <a:moveTo>
                      <a:pt x="28521" y="0"/>
                    </a:moveTo>
                    <a:lnTo>
                      <a:pt x="3617618" y="0"/>
                    </a:lnTo>
                    <a:cubicBezTo>
                      <a:pt x="3625182" y="0"/>
                      <a:pt x="3632436" y="3005"/>
                      <a:pt x="3637785" y="8354"/>
                    </a:cubicBezTo>
                    <a:cubicBezTo>
                      <a:pt x="3643134" y="13702"/>
                      <a:pt x="3646139" y="20957"/>
                      <a:pt x="3646139" y="28521"/>
                    </a:cubicBezTo>
                    <a:lnTo>
                      <a:pt x="3646139" y="357116"/>
                    </a:lnTo>
                    <a:cubicBezTo>
                      <a:pt x="3646139" y="364680"/>
                      <a:pt x="3643134" y="371935"/>
                      <a:pt x="3637785" y="377283"/>
                    </a:cubicBezTo>
                    <a:cubicBezTo>
                      <a:pt x="3632436" y="382632"/>
                      <a:pt x="3625182" y="385637"/>
                      <a:pt x="3617618" y="385637"/>
                    </a:cubicBezTo>
                    <a:lnTo>
                      <a:pt x="28521" y="385637"/>
                    </a:lnTo>
                    <a:cubicBezTo>
                      <a:pt x="20957" y="385637"/>
                      <a:pt x="13702" y="382632"/>
                      <a:pt x="8354" y="377283"/>
                    </a:cubicBezTo>
                    <a:cubicBezTo>
                      <a:pt x="3005" y="371935"/>
                      <a:pt x="0" y="364680"/>
                      <a:pt x="0" y="357116"/>
                    </a:cubicBezTo>
                    <a:lnTo>
                      <a:pt x="0" y="28521"/>
                    </a:lnTo>
                    <a:cubicBezTo>
                      <a:pt x="0" y="20957"/>
                      <a:pt x="3005" y="13702"/>
                      <a:pt x="8354" y="8354"/>
                    </a:cubicBezTo>
                    <a:cubicBezTo>
                      <a:pt x="13702" y="3005"/>
                      <a:pt x="20957" y="0"/>
                      <a:pt x="28521" y="0"/>
                    </a:cubicBezTo>
                    <a:close/>
                  </a:path>
                </a:pathLst>
              </a:custGeom>
              <a:solidFill>
                <a:srgbClr val="30383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646139" cy="423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8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11167" y="353300"/>
              <a:ext cx="18147409" cy="1150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6"/>
                </a:lnSpc>
              </a:pPr>
              <a:r>
                <a:rPr lang="en-US" sz="5197" b="true">
                  <a:solidFill>
                    <a:srgbClr val="E1E4E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</a:t>
              </a:r>
              <a:r>
                <a:rPr lang="en-US" b="true" sz="5197">
                  <a:solidFill>
                    <a:srgbClr val="E1E4E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hy Integrate Everything Into One Chip?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45760" y="907378"/>
            <a:ext cx="3241395" cy="4766758"/>
          </a:xfrm>
          <a:custGeom>
            <a:avLst/>
            <a:gdLst/>
            <a:ahLst/>
            <a:cxnLst/>
            <a:rect r="r" b="b" t="t" l="l"/>
            <a:pathLst>
              <a:path h="4766758" w="3241395">
                <a:moveTo>
                  <a:pt x="0" y="0"/>
                </a:moveTo>
                <a:lnTo>
                  <a:pt x="3241396" y="0"/>
                </a:lnTo>
                <a:lnTo>
                  <a:pt x="3241396" y="4766758"/>
                </a:lnTo>
                <a:lnTo>
                  <a:pt x="0" y="4766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0966" y="1900042"/>
            <a:ext cx="2895135" cy="182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06"/>
              </a:lnSpc>
            </a:pPr>
            <a:r>
              <a:rPr lang="en-US" sz="10647" b="true">
                <a:solidFill>
                  <a:srgbClr val="30383F"/>
                </a:solidFill>
                <a:latin typeface="DM Sans Bold"/>
                <a:ea typeface="DM Sans Bold"/>
                <a:cs typeface="DM Sans Bold"/>
                <a:sym typeface="DM Sans Bold"/>
              </a:rPr>
              <a:t>BUT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0966" y="2536390"/>
            <a:ext cx="7715699" cy="444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32"/>
              </a:lnSpc>
            </a:pPr>
            <a:r>
              <a:rPr lang="en-US" sz="25951" b="true">
                <a:solidFill>
                  <a:srgbClr val="30383F"/>
                </a:solidFill>
                <a:latin typeface="DM Sans Bold"/>
                <a:ea typeface="DM Sans Bold"/>
                <a:cs typeface="DM Sans Bold"/>
                <a:sym typeface="DM Sans Bold"/>
              </a:rPr>
              <a:t>WHY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570" y="158262"/>
            <a:ext cx="4386802" cy="3673167"/>
            <a:chOff x="0" y="0"/>
            <a:chExt cx="1155372" cy="96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5372" cy="967418"/>
            </a:xfrm>
            <a:custGeom>
              <a:avLst/>
              <a:gdLst/>
              <a:ahLst/>
              <a:cxnLst/>
              <a:rect r="r" b="b" t="t" l="l"/>
              <a:pathLst>
                <a:path h="967418" w="1155372">
                  <a:moveTo>
                    <a:pt x="0" y="0"/>
                  </a:moveTo>
                  <a:lnTo>
                    <a:pt x="1155372" y="0"/>
                  </a:lnTo>
                  <a:lnTo>
                    <a:pt x="1155372" y="967418"/>
                  </a:lnTo>
                  <a:lnTo>
                    <a:pt x="0" y="967418"/>
                  </a:lnTo>
                  <a:close/>
                </a:path>
              </a:pathLst>
            </a:custGeom>
            <a:solidFill>
              <a:srgbClr val="3038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55372" cy="10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10041" y="158262"/>
            <a:ext cx="4144075" cy="3673167"/>
            <a:chOff x="0" y="0"/>
            <a:chExt cx="1091444" cy="967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1444" cy="967418"/>
            </a:xfrm>
            <a:custGeom>
              <a:avLst/>
              <a:gdLst/>
              <a:ahLst/>
              <a:cxnLst/>
              <a:rect r="r" b="b" t="t" l="l"/>
              <a:pathLst>
                <a:path h="967418" w="1091444">
                  <a:moveTo>
                    <a:pt x="0" y="0"/>
                  </a:moveTo>
                  <a:lnTo>
                    <a:pt x="1091444" y="0"/>
                  </a:lnTo>
                  <a:lnTo>
                    <a:pt x="1091444" y="967418"/>
                  </a:lnTo>
                  <a:lnTo>
                    <a:pt x="0" y="967418"/>
                  </a:lnTo>
                  <a:close/>
                </a:path>
              </a:pathLst>
            </a:custGeom>
            <a:solidFill>
              <a:srgbClr val="30383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1444" cy="10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68576" y="-541754"/>
            <a:ext cx="15683328" cy="437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1"/>
              </a:lnSpc>
            </a:pPr>
            <a:r>
              <a:rPr lang="en-US" sz="25551" b="true">
                <a:solidFill>
                  <a:srgbClr val="E1E4EB"/>
                </a:solidFill>
                <a:latin typeface="DM Sans Bold"/>
                <a:ea typeface="DM Sans Bold"/>
                <a:cs typeface="DM Sans Bold"/>
                <a:sym typeface="DM Sans Bold"/>
              </a:rPr>
              <a:t>Eff</a:t>
            </a:r>
            <a:r>
              <a:rPr lang="en-US" sz="25551" b="true">
                <a:solidFill>
                  <a:srgbClr val="30383F"/>
                </a:solidFill>
                <a:latin typeface="DM Sans Bold"/>
                <a:ea typeface="DM Sans Bold"/>
                <a:cs typeface="DM Sans Bold"/>
                <a:sym typeface="DM Sans Bold"/>
              </a:rPr>
              <a:t>icien</a:t>
            </a:r>
            <a:r>
              <a:rPr lang="en-US" sz="25551" b="true">
                <a:solidFill>
                  <a:srgbClr val="E1E4EB"/>
                </a:solidFill>
                <a:latin typeface="DM Sans Bold"/>
                <a:ea typeface="DM Sans Bold"/>
                <a:cs typeface="DM Sans Bold"/>
                <a:sym typeface="DM Sans Bold"/>
              </a:rPr>
              <a:t>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9478" y="4882126"/>
            <a:ext cx="3831167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E1E4EB"/>
                </a:solidFill>
                <a:latin typeface="DM Sans Bold"/>
                <a:ea typeface="DM Sans Bold"/>
                <a:cs typeface="DM Sans Bold"/>
                <a:sym typeface="DM Sans Bold"/>
              </a:rPr>
              <a:t>Smaller Size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0779" y="4260362"/>
            <a:ext cx="16573500" cy="5400675"/>
            <a:chOff x="0" y="0"/>
            <a:chExt cx="22098000" cy="72009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820400" cy="3371850"/>
              <a:chOff x="0" y="0"/>
              <a:chExt cx="10820400" cy="337185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10820400" cy="3371850"/>
              </a:xfrm>
              <a:custGeom>
                <a:avLst/>
                <a:gdLst/>
                <a:ahLst/>
                <a:cxnLst/>
                <a:rect r="r" b="b" t="t" l="l"/>
                <a:pathLst>
                  <a:path h="3371850" w="10820400">
                    <a:moveTo>
                      <a:pt x="0" y="0"/>
                    </a:moveTo>
                    <a:lnTo>
                      <a:pt x="10820400" y="0"/>
                    </a:lnTo>
                    <a:lnTo>
                      <a:pt x="10820400" y="3371850"/>
                    </a:lnTo>
                    <a:lnTo>
                      <a:pt x="0" y="3371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-282" r="0" b="-282"/>
                </a:stretch>
              </a:blip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1277600" y="0"/>
              <a:ext cx="10820400" cy="3371850"/>
              <a:chOff x="0" y="0"/>
              <a:chExt cx="10820400" cy="3371850"/>
            </a:xfrm>
          </p:grpSpPr>
          <p:sp>
            <p:nvSpPr>
              <p:cNvPr name="Freeform 14" id="14" descr="image.png"/>
              <p:cNvSpPr/>
              <p:nvPr/>
            </p:nvSpPr>
            <p:spPr>
              <a:xfrm flipH="false" flipV="false" rot="0">
                <a:off x="0" y="0"/>
                <a:ext cx="10820400" cy="3371850"/>
              </a:xfrm>
              <a:custGeom>
                <a:avLst/>
                <a:gdLst/>
                <a:ahLst/>
                <a:cxnLst/>
                <a:rect r="r" b="b" t="t" l="l"/>
                <a:pathLst>
                  <a:path h="3371850" w="10820400">
                    <a:moveTo>
                      <a:pt x="0" y="0"/>
                    </a:moveTo>
                    <a:lnTo>
                      <a:pt x="10820400" y="0"/>
                    </a:lnTo>
                    <a:lnTo>
                      <a:pt x="10820400" y="3371850"/>
                    </a:lnTo>
                    <a:lnTo>
                      <a:pt x="0" y="3371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282" r="0" b="-282"/>
                </a:stretch>
              </a:blip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3829050"/>
              <a:ext cx="10820400" cy="3371850"/>
              <a:chOff x="0" y="0"/>
              <a:chExt cx="10820400" cy="3371850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10820400" cy="3371850"/>
              </a:xfrm>
              <a:custGeom>
                <a:avLst/>
                <a:gdLst/>
                <a:ahLst/>
                <a:cxnLst/>
                <a:rect r="r" b="b" t="t" l="l"/>
                <a:pathLst>
                  <a:path h="3371850" w="10820400">
                    <a:moveTo>
                      <a:pt x="0" y="0"/>
                    </a:moveTo>
                    <a:lnTo>
                      <a:pt x="10820400" y="0"/>
                    </a:lnTo>
                    <a:lnTo>
                      <a:pt x="10820400" y="3371850"/>
                    </a:lnTo>
                    <a:lnTo>
                      <a:pt x="0" y="3371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282" r="0" b="-282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1277600" y="3829050"/>
              <a:ext cx="10820400" cy="3371850"/>
              <a:chOff x="0" y="0"/>
              <a:chExt cx="10820400" cy="3371850"/>
            </a:xfrm>
          </p:grpSpPr>
          <p:sp>
            <p:nvSpPr>
              <p:cNvPr name="Freeform 18" id="18" descr="image.png"/>
              <p:cNvSpPr/>
              <p:nvPr/>
            </p:nvSpPr>
            <p:spPr>
              <a:xfrm flipH="false" flipV="false" rot="0">
                <a:off x="0" y="0"/>
                <a:ext cx="10820400" cy="3371850"/>
              </a:xfrm>
              <a:custGeom>
                <a:avLst/>
                <a:gdLst/>
                <a:ahLst/>
                <a:cxnLst/>
                <a:rect r="r" b="b" t="t" l="l"/>
                <a:pathLst>
                  <a:path h="3371850" w="10820400">
                    <a:moveTo>
                      <a:pt x="0" y="0"/>
                    </a:moveTo>
                    <a:lnTo>
                      <a:pt x="10820400" y="0"/>
                    </a:lnTo>
                    <a:lnTo>
                      <a:pt x="10820400" y="3371850"/>
                    </a:lnTo>
                    <a:lnTo>
                      <a:pt x="0" y="33718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282" r="0" b="-282"/>
                </a:stretch>
              </a:blip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609600" y="609600"/>
              <a:ext cx="1219200" cy="1219200"/>
              <a:chOff x="0" y="0"/>
              <a:chExt cx="1219200" cy="1219200"/>
            </a:xfrm>
          </p:grpSpPr>
          <p:sp>
            <p:nvSpPr>
              <p:cNvPr name="Freeform 20" id="20" descr="image.png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781" r="0" b="-781"/>
                </a:stretch>
              </a:blip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887200" y="609600"/>
              <a:ext cx="1219200" cy="1219200"/>
              <a:chOff x="0" y="0"/>
              <a:chExt cx="1219200" cy="1219200"/>
            </a:xfrm>
          </p:grpSpPr>
          <p:sp>
            <p:nvSpPr>
              <p:cNvPr name="Freeform 22" id="22" descr="image.png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781" r="0" b="-781"/>
                </a:stretch>
              </a:blip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609600" y="4438650"/>
              <a:ext cx="1219200" cy="1219200"/>
              <a:chOff x="0" y="0"/>
              <a:chExt cx="1219200" cy="1219200"/>
            </a:xfrm>
          </p:grpSpPr>
          <p:sp>
            <p:nvSpPr>
              <p:cNvPr name="Freeform 24" id="24" descr="image.png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781" r="0" b="-781"/>
                </a:stretch>
              </a:blip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1887200" y="4438650"/>
              <a:ext cx="1219200" cy="1219200"/>
              <a:chOff x="0" y="0"/>
              <a:chExt cx="1219200" cy="1219200"/>
            </a:xfrm>
          </p:grpSpPr>
          <p:sp>
            <p:nvSpPr>
              <p:cNvPr name="Freeform 26" id="26" descr="image.png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781" r="0" b="-781"/>
                </a:stretch>
              </a:blip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981075" y="952500"/>
              <a:ext cx="476250" cy="533400"/>
              <a:chOff x="0" y="0"/>
              <a:chExt cx="476250" cy="533400"/>
            </a:xfrm>
          </p:grpSpPr>
          <p:sp>
            <p:nvSpPr>
              <p:cNvPr name="Freeform 28" id="28" descr="image.png"/>
              <p:cNvSpPr/>
              <p:nvPr/>
            </p:nvSpPr>
            <p:spPr>
              <a:xfrm flipH="false" flipV="false" rot="0">
                <a:off x="0" y="0"/>
                <a:ext cx="4762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476250">
                    <a:moveTo>
                      <a:pt x="0" y="0"/>
                    </a:moveTo>
                    <a:lnTo>
                      <a:pt x="476250" y="0"/>
                    </a:lnTo>
                    <a:lnTo>
                      <a:pt x="4762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207" t="0" r="-205" b="0"/>
                </a:stretch>
              </a:blip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2209800" y="581025"/>
              <a:ext cx="8401050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Ultra-Low Power Consumption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209800" y="1333500"/>
              <a:ext cx="800100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Shorter physical wire traces eliminate signal resistance and reduce dynamic power dissipation across motherboard traces.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12230100" y="952500"/>
              <a:ext cx="533400" cy="533400"/>
              <a:chOff x="0" y="0"/>
              <a:chExt cx="533400" cy="533400"/>
            </a:xfrm>
          </p:grpSpPr>
          <p:sp>
            <p:nvSpPr>
              <p:cNvPr name="Freeform 32" id="32" descr="image.png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1785" r="0" b="-1785"/>
                </a:stretch>
              </a:blip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13487400" y="581025"/>
              <a:ext cx="8401050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Sub-nanosecond Latency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3487400" y="1333500"/>
              <a:ext cx="800100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High-speed on-chip interconnect buses allow CPU, GPU, and NPU to share data near-instantly without memory bottlenecking.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981075" y="4781550"/>
              <a:ext cx="476250" cy="533400"/>
              <a:chOff x="0" y="0"/>
              <a:chExt cx="476250" cy="533400"/>
            </a:xfrm>
          </p:grpSpPr>
          <p:sp>
            <p:nvSpPr>
              <p:cNvPr name="Freeform 36" id="36" descr="image.png"/>
              <p:cNvSpPr/>
              <p:nvPr/>
            </p:nvSpPr>
            <p:spPr>
              <a:xfrm flipH="false" flipV="false" rot="0">
                <a:off x="0" y="0"/>
                <a:ext cx="4762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476250">
                    <a:moveTo>
                      <a:pt x="0" y="0"/>
                    </a:moveTo>
                    <a:lnTo>
                      <a:pt x="476250" y="0"/>
                    </a:lnTo>
                    <a:lnTo>
                      <a:pt x="4762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-207" t="0" r="-205" b="0"/>
                </a:stretch>
              </a:blip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2209800" y="4410075"/>
              <a:ext cx="8401050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Miniaturized Form Factor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209800" y="5162550"/>
              <a:ext cx="800100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Combining multiple chips into a single package saves critical board space in smartphones, wearables, and thin laptops.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12334875" y="4781550"/>
              <a:ext cx="323850" cy="533400"/>
              <a:chOff x="0" y="0"/>
              <a:chExt cx="323850" cy="533400"/>
            </a:xfrm>
          </p:grpSpPr>
          <p:sp>
            <p:nvSpPr>
              <p:cNvPr name="Freeform 40" id="40" descr="image.png"/>
              <p:cNvSpPr/>
              <p:nvPr/>
            </p:nvSpPr>
            <p:spPr>
              <a:xfrm flipH="false" flipV="false" rot="0">
                <a:off x="0" y="0"/>
                <a:ext cx="3238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323850">
                    <a:moveTo>
                      <a:pt x="0" y="0"/>
                    </a:moveTo>
                    <a:lnTo>
                      <a:pt x="323850" y="0"/>
                    </a:lnTo>
                    <a:lnTo>
                      <a:pt x="3238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-1113" t="0" r="-1117" b="0"/>
                </a:stretch>
              </a:blipFill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13487400" y="4410075"/>
              <a:ext cx="8401050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E1B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Cost-Effective Mass Production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3487400" y="5162550"/>
              <a:ext cx="800100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Lower overall bill-of-materials (BOM) cost by reducing discrete component assembly, testing, and packaging steps.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982" y="276501"/>
            <a:ext cx="17006746" cy="3701059"/>
          </a:xfrm>
          <a:custGeom>
            <a:avLst/>
            <a:gdLst/>
            <a:ahLst/>
            <a:cxnLst/>
            <a:rect r="r" b="b" t="t" l="l"/>
            <a:pathLst>
              <a:path h="3701059" w="17006746">
                <a:moveTo>
                  <a:pt x="0" y="0"/>
                </a:moveTo>
                <a:lnTo>
                  <a:pt x="17006745" y="0"/>
                </a:lnTo>
                <a:lnTo>
                  <a:pt x="17006745" y="3701059"/>
                </a:lnTo>
                <a:lnTo>
                  <a:pt x="0" y="3701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36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7119" y="4490354"/>
            <a:ext cx="2715259" cy="1284925"/>
            <a:chOff x="0" y="0"/>
            <a:chExt cx="715130" cy="3384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5130" cy="338417"/>
            </a:xfrm>
            <a:custGeom>
              <a:avLst/>
              <a:gdLst/>
              <a:ahLst/>
              <a:cxnLst/>
              <a:rect r="r" b="b" t="t" l="l"/>
              <a:pathLst>
                <a:path h="338417" w="715130">
                  <a:moveTo>
                    <a:pt x="145414" y="0"/>
                  </a:moveTo>
                  <a:lnTo>
                    <a:pt x="569716" y="0"/>
                  </a:lnTo>
                  <a:cubicBezTo>
                    <a:pt x="608282" y="0"/>
                    <a:pt x="645269" y="15320"/>
                    <a:pt x="672539" y="42591"/>
                  </a:cubicBezTo>
                  <a:cubicBezTo>
                    <a:pt x="699810" y="69861"/>
                    <a:pt x="715130" y="106848"/>
                    <a:pt x="715130" y="145414"/>
                  </a:cubicBezTo>
                  <a:lnTo>
                    <a:pt x="715130" y="193002"/>
                  </a:lnTo>
                  <a:cubicBezTo>
                    <a:pt x="715130" y="273312"/>
                    <a:pt x="650026" y="338417"/>
                    <a:pt x="569716" y="338417"/>
                  </a:cubicBezTo>
                  <a:lnTo>
                    <a:pt x="145414" y="338417"/>
                  </a:lnTo>
                  <a:cubicBezTo>
                    <a:pt x="106848" y="338417"/>
                    <a:pt x="69861" y="323096"/>
                    <a:pt x="42591" y="295826"/>
                  </a:cubicBezTo>
                  <a:cubicBezTo>
                    <a:pt x="15320" y="268555"/>
                    <a:pt x="0" y="231568"/>
                    <a:pt x="0" y="193002"/>
                  </a:cubicBezTo>
                  <a:lnTo>
                    <a:pt x="0" y="145414"/>
                  </a:lnTo>
                  <a:cubicBezTo>
                    <a:pt x="0" y="106848"/>
                    <a:pt x="15320" y="69861"/>
                    <a:pt x="42591" y="42591"/>
                  </a:cubicBezTo>
                  <a:cubicBezTo>
                    <a:pt x="69861" y="15320"/>
                    <a:pt x="106848" y="0"/>
                    <a:pt x="145414" y="0"/>
                  </a:cubicBezTo>
                  <a:close/>
                </a:path>
              </a:pathLst>
            </a:custGeom>
            <a:solidFill>
              <a:srgbClr val="3038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15130" cy="37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0982" y="7105659"/>
            <a:ext cx="2511151" cy="1284925"/>
            <a:chOff x="0" y="0"/>
            <a:chExt cx="661373" cy="3384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1373" cy="338417"/>
            </a:xfrm>
            <a:custGeom>
              <a:avLst/>
              <a:gdLst/>
              <a:ahLst/>
              <a:cxnLst/>
              <a:rect r="r" b="b" t="t" l="l"/>
              <a:pathLst>
                <a:path h="338417" w="661373">
                  <a:moveTo>
                    <a:pt x="157234" y="0"/>
                  </a:moveTo>
                  <a:lnTo>
                    <a:pt x="504139" y="0"/>
                  </a:lnTo>
                  <a:cubicBezTo>
                    <a:pt x="590977" y="0"/>
                    <a:pt x="661373" y="70396"/>
                    <a:pt x="661373" y="157234"/>
                  </a:cubicBezTo>
                  <a:lnTo>
                    <a:pt x="661373" y="181183"/>
                  </a:lnTo>
                  <a:cubicBezTo>
                    <a:pt x="661373" y="222884"/>
                    <a:pt x="644807" y="262877"/>
                    <a:pt x="615320" y="292364"/>
                  </a:cubicBezTo>
                  <a:cubicBezTo>
                    <a:pt x="585833" y="321851"/>
                    <a:pt x="545840" y="338417"/>
                    <a:pt x="504139" y="338417"/>
                  </a:cubicBezTo>
                  <a:lnTo>
                    <a:pt x="157234" y="338417"/>
                  </a:lnTo>
                  <a:cubicBezTo>
                    <a:pt x="115533" y="338417"/>
                    <a:pt x="75540" y="321851"/>
                    <a:pt x="46053" y="292364"/>
                  </a:cubicBezTo>
                  <a:cubicBezTo>
                    <a:pt x="16566" y="262877"/>
                    <a:pt x="0" y="222884"/>
                    <a:pt x="0" y="181183"/>
                  </a:cubicBezTo>
                  <a:lnTo>
                    <a:pt x="0" y="157234"/>
                  </a:lnTo>
                  <a:cubicBezTo>
                    <a:pt x="0" y="115533"/>
                    <a:pt x="16566" y="75540"/>
                    <a:pt x="46053" y="46053"/>
                  </a:cubicBezTo>
                  <a:cubicBezTo>
                    <a:pt x="75540" y="16566"/>
                    <a:pt x="115533" y="0"/>
                    <a:pt x="157234" y="0"/>
                  </a:cubicBezTo>
                  <a:close/>
                </a:path>
              </a:pathLst>
            </a:custGeom>
            <a:solidFill>
              <a:srgbClr val="3038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1373" cy="37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620175">
            <a:off x="11004984" y="4468462"/>
            <a:ext cx="2443544" cy="2339346"/>
          </a:xfrm>
          <a:custGeom>
            <a:avLst/>
            <a:gdLst/>
            <a:ahLst/>
            <a:cxnLst/>
            <a:rect r="r" b="b" t="t" l="l"/>
            <a:pathLst>
              <a:path h="2339346" w="2443544">
                <a:moveTo>
                  <a:pt x="0" y="0"/>
                </a:moveTo>
                <a:lnTo>
                  <a:pt x="2443543" y="0"/>
                </a:lnTo>
                <a:lnTo>
                  <a:pt x="2443543" y="2339346"/>
                </a:lnTo>
                <a:lnTo>
                  <a:pt x="0" y="2339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45" t="-30668" r="-10643" b="-4140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45337">
            <a:off x="14686796" y="4505016"/>
            <a:ext cx="3011480" cy="2953774"/>
          </a:xfrm>
          <a:custGeom>
            <a:avLst/>
            <a:gdLst/>
            <a:ahLst/>
            <a:cxnLst/>
            <a:rect r="r" b="b" t="t" l="l"/>
            <a:pathLst>
              <a:path h="2953774" w="3011480">
                <a:moveTo>
                  <a:pt x="0" y="0"/>
                </a:moveTo>
                <a:lnTo>
                  <a:pt x="3011480" y="0"/>
                </a:lnTo>
                <a:lnTo>
                  <a:pt x="3011480" y="2953774"/>
                </a:lnTo>
                <a:lnTo>
                  <a:pt x="0" y="2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901" t="-42189" r="-116575" b="-3086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12952" y="7262123"/>
            <a:ext cx="2809109" cy="2731372"/>
          </a:xfrm>
          <a:custGeom>
            <a:avLst/>
            <a:gdLst/>
            <a:ahLst/>
            <a:cxnLst/>
            <a:rect r="r" b="b" t="t" l="l"/>
            <a:pathLst>
              <a:path h="2731372" w="2809109">
                <a:moveTo>
                  <a:pt x="0" y="0"/>
                </a:moveTo>
                <a:lnTo>
                  <a:pt x="2809110" y="0"/>
                </a:lnTo>
                <a:lnTo>
                  <a:pt x="2809110" y="2731372"/>
                </a:lnTo>
                <a:lnTo>
                  <a:pt x="0" y="2731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075" t="-6993" r="-63675" b="-1166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0405" y="4479938"/>
            <a:ext cx="10361058" cy="400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0"/>
              </a:lnSpc>
            </a:pPr>
            <a:r>
              <a:rPr lang="en-US" sz="7621" b="true">
                <a:solidFill>
                  <a:srgbClr val="E1E4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ARM</a:t>
            </a:r>
            <a:r>
              <a:rPr lang="en-US" sz="7621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</a:t>
            </a:r>
            <a:r>
              <a:rPr lang="en-US" sz="7621" b="true">
                <a:solidFill>
                  <a:srgbClr val="30383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architectures define the mobile </a:t>
            </a:r>
            <a:r>
              <a:rPr lang="en-US" sz="7621" b="true">
                <a:solidFill>
                  <a:srgbClr val="E1E4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SoC  </a:t>
            </a:r>
            <a:r>
              <a:rPr lang="en-US" sz="7621" b="true">
                <a:solidFill>
                  <a:srgbClr val="30383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landscape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0405" y="8580184"/>
            <a:ext cx="6241672" cy="129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30383F"/>
                </a:solidFill>
                <a:latin typeface="Inter"/>
                <a:ea typeface="Inter"/>
                <a:cs typeface="Inter"/>
                <a:sym typeface="Inter"/>
              </a:rPr>
              <a:t>In smartphones, chips based on the ARM architecture are all built on this SoC concept.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2014538"/>
            <a:ext cx="8022431" cy="7654976"/>
            <a:chOff x="0" y="0"/>
            <a:chExt cx="10696575" cy="1020663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696575" cy="10206634"/>
              <a:chOff x="0" y="0"/>
              <a:chExt cx="10696575" cy="10206634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10696575" cy="10206609"/>
              </a:xfrm>
              <a:custGeom>
                <a:avLst/>
                <a:gdLst/>
                <a:ahLst/>
                <a:cxnLst/>
                <a:rect r="r" b="b" t="t" l="l"/>
                <a:pathLst>
                  <a:path h="10206609" w="10696575">
                    <a:moveTo>
                      <a:pt x="0" y="0"/>
                    </a:moveTo>
                    <a:lnTo>
                      <a:pt x="10696575" y="0"/>
                    </a:lnTo>
                    <a:lnTo>
                      <a:pt x="10696575" y="10206609"/>
                    </a:lnTo>
                    <a:lnTo>
                      <a:pt x="0" y="102066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13" t="0" r="-113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628650" y="762000"/>
              <a:ext cx="990600" cy="990600"/>
              <a:chOff x="0" y="0"/>
              <a:chExt cx="990600" cy="990600"/>
            </a:xfrm>
          </p:grpSpPr>
          <p:sp>
            <p:nvSpPr>
              <p:cNvPr name="Freeform 8" id="8" descr="image.png"/>
              <p:cNvSpPr/>
              <p:nvPr/>
            </p:nvSpPr>
            <p:spPr>
              <a:xfrm flipH="false" flipV="false" rot="0">
                <a:off x="0" y="0"/>
                <a:ext cx="9906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990600">
                    <a:moveTo>
                      <a:pt x="0" y="0"/>
                    </a:moveTo>
                    <a:lnTo>
                      <a:pt x="990600" y="0"/>
                    </a:lnTo>
                    <a:lnTo>
                      <a:pt x="990600" y="990600"/>
                    </a:lnTo>
                    <a:lnTo>
                      <a:pt x="0" y="990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1924050" y="954291"/>
              <a:ext cx="5120640" cy="577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Integration Evolution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162050" y="2105025"/>
              <a:ext cx="8905875" cy="943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Core-Only Era: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Early Intel and AMD processors provided only CPU processing cores on the die.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62050" y="3413519"/>
              <a:ext cx="8905875" cy="943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On-Die Cache: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Intel pioneered adding high-speed Cache memory directly into the CPU chip.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62050" y="4722012"/>
              <a:ext cx="8905875" cy="1439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Integrated Memory Controller: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AMD moved the memory controller off the motherboard directly onto the CPU silicon.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62050" y="6532359"/>
              <a:ext cx="8905875" cy="1572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 Benefit: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Dramatically increased output, boosted overall system efficiency, and significantly reduced memory access latency.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682795" y="8777504"/>
              <a:ext cx="3515720" cy="688393"/>
              <a:chOff x="0" y="0"/>
              <a:chExt cx="2724150" cy="533400"/>
            </a:xfrm>
          </p:grpSpPr>
          <p:sp>
            <p:nvSpPr>
              <p:cNvPr name="Freeform 15" id="15" descr="image.png"/>
              <p:cNvSpPr/>
              <p:nvPr/>
            </p:nvSpPr>
            <p:spPr>
              <a:xfrm flipH="false" flipV="false" rot="0">
                <a:off x="0" y="0"/>
                <a:ext cx="27241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724150">
                    <a:moveTo>
                      <a:pt x="0" y="0"/>
                    </a:moveTo>
                    <a:lnTo>
                      <a:pt x="2724150" y="0"/>
                    </a:lnTo>
                    <a:lnTo>
                      <a:pt x="27241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1785" r="0" b="-1785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6322267" y="8777504"/>
              <a:ext cx="3265345" cy="743331"/>
              <a:chOff x="0" y="0"/>
              <a:chExt cx="2343150" cy="533400"/>
            </a:xfrm>
          </p:grpSpPr>
          <p:sp>
            <p:nvSpPr>
              <p:cNvPr name="Freeform 17" id="17" descr="image.png"/>
              <p:cNvSpPr/>
              <p:nvPr/>
            </p:nvSpPr>
            <p:spPr>
              <a:xfrm flipH="false" flipV="false" rot="0">
                <a:off x="0" y="0"/>
                <a:ext cx="23431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343150">
                    <a:moveTo>
                      <a:pt x="0" y="0"/>
                    </a:moveTo>
                    <a:lnTo>
                      <a:pt x="2343150" y="0"/>
                    </a:lnTo>
                    <a:lnTo>
                      <a:pt x="23431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1785" r="0" b="-1785"/>
                </a:stretch>
              </a:blip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876300" y="1009650"/>
              <a:ext cx="495300" cy="495300"/>
              <a:chOff x="0" y="0"/>
              <a:chExt cx="495300" cy="495300"/>
            </a:xfrm>
          </p:grpSpPr>
          <p:sp>
            <p:nvSpPr>
              <p:cNvPr name="Freeform 19" id="19" descr="image.png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0" y="0"/>
                    </a:moveTo>
                    <a:lnTo>
                      <a:pt x="495300" y="0"/>
                    </a:lnTo>
                    <a:lnTo>
                      <a:pt x="495300" y="495300"/>
                    </a:lnTo>
                    <a:lnTo>
                      <a:pt x="0" y="49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628650" y="2238375"/>
              <a:ext cx="171450" cy="285750"/>
              <a:chOff x="0" y="0"/>
              <a:chExt cx="171450" cy="285750"/>
            </a:xfrm>
          </p:grpSpPr>
          <p:sp>
            <p:nvSpPr>
              <p:cNvPr name="Freeform 21" id="21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628650" y="3546869"/>
              <a:ext cx="171450" cy="285750"/>
              <a:chOff x="0" y="0"/>
              <a:chExt cx="171450" cy="285750"/>
            </a:xfrm>
          </p:grpSpPr>
          <p:sp>
            <p:nvSpPr>
              <p:cNvPr name="Freeform 23" id="23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628650" y="4855362"/>
              <a:ext cx="171450" cy="285750"/>
              <a:chOff x="0" y="0"/>
              <a:chExt cx="171450" cy="285750"/>
            </a:xfrm>
          </p:grpSpPr>
          <p:sp>
            <p:nvSpPr>
              <p:cNvPr name="Freeform 25" id="25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628650" y="6665709"/>
              <a:ext cx="171450" cy="285750"/>
              <a:chOff x="0" y="0"/>
              <a:chExt cx="171450" cy="285750"/>
            </a:xfrm>
          </p:grpSpPr>
          <p:sp>
            <p:nvSpPr>
              <p:cNvPr name="Freeform 27" id="27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28" id="28"/>
          <p:cNvGrpSpPr/>
          <p:nvPr/>
        </p:nvGrpSpPr>
        <p:grpSpPr>
          <a:xfrm rot="0">
            <a:off x="9394031" y="2014538"/>
            <a:ext cx="8022431" cy="7654976"/>
            <a:chOff x="0" y="0"/>
            <a:chExt cx="10696575" cy="1020663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696575" cy="10206634"/>
              <a:chOff x="0" y="0"/>
              <a:chExt cx="10696575" cy="10206634"/>
            </a:xfrm>
          </p:grpSpPr>
          <p:sp>
            <p:nvSpPr>
              <p:cNvPr name="Freeform 30" id="30" descr="image.png"/>
              <p:cNvSpPr/>
              <p:nvPr/>
            </p:nvSpPr>
            <p:spPr>
              <a:xfrm flipH="false" flipV="false" rot="0">
                <a:off x="0" y="0"/>
                <a:ext cx="10696575" cy="10206609"/>
              </a:xfrm>
              <a:custGeom>
                <a:avLst/>
                <a:gdLst/>
                <a:ahLst/>
                <a:cxnLst/>
                <a:rect r="r" b="b" t="t" l="l"/>
                <a:pathLst>
                  <a:path h="10206609" w="10696575">
                    <a:moveTo>
                      <a:pt x="0" y="0"/>
                    </a:moveTo>
                    <a:lnTo>
                      <a:pt x="10696575" y="0"/>
                    </a:lnTo>
                    <a:lnTo>
                      <a:pt x="10696575" y="10206609"/>
                    </a:lnTo>
                    <a:lnTo>
                      <a:pt x="0" y="102066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113" t="0" r="-113" b="0"/>
                </a:stretch>
              </a:blip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628650" y="762000"/>
              <a:ext cx="990600" cy="990600"/>
              <a:chOff x="0" y="0"/>
              <a:chExt cx="990600" cy="990600"/>
            </a:xfrm>
          </p:grpSpPr>
          <p:sp>
            <p:nvSpPr>
              <p:cNvPr name="Freeform 32" id="32" descr="image.png"/>
              <p:cNvSpPr/>
              <p:nvPr/>
            </p:nvSpPr>
            <p:spPr>
              <a:xfrm flipH="false" flipV="false" rot="0">
                <a:off x="0" y="0"/>
                <a:ext cx="9906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990600">
                    <a:moveTo>
                      <a:pt x="0" y="0"/>
                    </a:moveTo>
                    <a:lnTo>
                      <a:pt x="990600" y="0"/>
                    </a:lnTo>
                    <a:lnTo>
                      <a:pt x="990600" y="990600"/>
                    </a:lnTo>
                    <a:lnTo>
                      <a:pt x="0" y="990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961" t="0" r="-961" b="0"/>
                </a:stretch>
              </a:blip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1924050" y="954291"/>
              <a:ext cx="5640705" cy="577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APU &amp; Integrated GPUs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162050" y="2105025"/>
              <a:ext cx="8905875" cy="1572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Unified Chip Design: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APUs (Accelerated Processing Units) and iGPUs integrate both CPU and GPU computational cores onto a single silicon die.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62050" y="3915372"/>
              <a:ext cx="8905875" cy="1572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Workload Versatility: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Excellent performance for low to medium-level graphics tasks without requiring a dedicated discrete graphics card.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162050" y="5725719"/>
              <a:ext cx="8905875" cy="1070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Applications: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Video editing, file compression, mid-level gaming, and light numerical simulations.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162050" y="7034213"/>
              <a:ext cx="8905875" cy="1572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91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Space &amp; Power Saver:</a:t>
              </a:r>
              <a:r>
                <a:rPr lang="en-US" sz="191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Reduces overall power draw, heat generation, and physical space within computing hardware.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628650" y="8987434"/>
              <a:ext cx="3143250" cy="533400"/>
              <a:chOff x="0" y="0"/>
              <a:chExt cx="3143250" cy="533400"/>
            </a:xfrm>
          </p:grpSpPr>
          <p:sp>
            <p:nvSpPr>
              <p:cNvPr name="Freeform 39" id="39" descr="image.png"/>
              <p:cNvSpPr/>
              <p:nvPr/>
            </p:nvSpPr>
            <p:spPr>
              <a:xfrm flipH="false" flipV="false" rot="0">
                <a:off x="0" y="0"/>
                <a:ext cx="31432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3143250">
                    <a:moveTo>
                      <a:pt x="0" y="0"/>
                    </a:moveTo>
                    <a:lnTo>
                      <a:pt x="3143250" y="0"/>
                    </a:lnTo>
                    <a:lnTo>
                      <a:pt x="31432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-303" t="0" r="-303" b="0"/>
                </a:stretch>
              </a:blip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3962400" y="8987434"/>
              <a:ext cx="2667000" cy="533400"/>
              <a:chOff x="0" y="0"/>
              <a:chExt cx="2667000" cy="533400"/>
            </a:xfrm>
          </p:grpSpPr>
          <p:sp>
            <p:nvSpPr>
              <p:cNvPr name="Freeform 41" id="41" descr="image.png"/>
              <p:cNvSpPr/>
              <p:nvPr/>
            </p:nvSpPr>
            <p:spPr>
              <a:xfrm flipH="false" flipV="false" rot="0">
                <a:off x="0" y="0"/>
                <a:ext cx="26670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-357" t="0" r="-357" b="0"/>
                </a:stretch>
              </a:blip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6819900" y="8987434"/>
              <a:ext cx="2381250" cy="533400"/>
              <a:chOff x="0" y="0"/>
              <a:chExt cx="2381250" cy="533400"/>
            </a:xfrm>
          </p:grpSpPr>
          <p:sp>
            <p:nvSpPr>
              <p:cNvPr name="Freeform 43" id="43" descr="image.png"/>
              <p:cNvSpPr/>
              <p:nvPr/>
            </p:nvSpPr>
            <p:spPr>
              <a:xfrm flipH="false" flipV="false" rot="0">
                <a:off x="0" y="0"/>
                <a:ext cx="23812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381250">
                    <a:moveTo>
                      <a:pt x="0" y="0"/>
                    </a:moveTo>
                    <a:lnTo>
                      <a:pt x="2381250" y="0"/>
                    </a:lnTo>
                    <a:lnTo>
                      <a:pt x="238125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-400" t="0" r="-400" b="0"/>
                </a:stretch>
              </a:blip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847725" y="1009650"/>
              <a:ext cx="552450" cy="495300"/>
              <a:chOff x="0" y="0"/>
              <a:chExt cx="552450" cy="495300"/>
            </a:xfrm>
          </p:grpSpPr>
          <p:sp>
            <p:nvSpPr>
              <p:cNvPr name="Freeform 45" id="45" descr="image.png"/>
              <p:cNvSpPr/>
              <p:nvPr/>
            </p:nvSpPr>
            <p:spPr>
              <a:xfrm flipH="false" flipV="false" rot="0">
                <a:off x="0" y="0"/>
                <a:ext cx="55245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552450">
                    <a:moveTo>
                      <a:pt x="0" y="0"/>
                    </a:moveTo>
                    <a:lnTo>
                      <a:pt x="552450" y="0"/>
                    </a:lnTo>
                    <a:lnTo>
                      <a:pt x="552450" y="495300"/>
                    </a:lnTo>
                    <a:lnTo>
                      <a:pt x="0" y="49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628650" y="2238375"/>
              <a:ext cx="171450" cy="285750"/>
              <a:chOff x="0" y="0"/>
              <a:chExt cx="171450" cy="285750"/>
            </a:xfrm>
          </p:grpSpPr>
          <p:sp>
            <p:nvSpPr>
              <p:cNvPr name="Freeform 47" id="47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628650" y="4048722"/>
              <a:ext cx="171450" cy="285750"/>
              <a:chOff x="0" y="0"/>
              <a:chExt cx="171450" cy="285750"/>
            </a:xfrm>
          </p:grpSpPr>
          <p:sp>
            <p:nvSpPr>
              <p:cNvPr name="Freeform 49" id="49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628650" y="5859069"/>
              <a:ext cx="171450" cy="285750"/>
              <a:chOff x="0" y="0"/>
              <a:chExt cx="171450" cy="285750"/>
            </a:xfrm>
          </p:grpSpPr>
          <p:sp>
            <p:nvSpPr>
              <p:cNvPr name="Freeform 51" id="51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628650" y="7167562"/>
              <a:ext cx="171450" cy="285750"/>
              <a:chOff x="0" y="0"/>
              <a:chExt cx="171450" cy="285750"/>
            </a:xfrm>
          </p:grpSpPr>
          <p:sp>
            <p:nvSpPr>
              <p:cNvPr name="Freeform 53" id="53" descr="image.png"/>
              <p:cNvSpPr/>
              <p:nvPr/>
            </p:nvSpPr>
            <p:spPr>
              <a:xfrm flipH="false" flipV="false" rot="0">
                <a:off x="0" y="0"/>
                <a:ext cx="171450" cy="285750"/>
              </a:xfrm>
              <a:custGeom>
                <a:avLst/>
                <a:gdLst/>
                <a:ahLst/>
                <a:cxnLst/>
                <a:rect r="r" b="b" t="t" l="l"/>
                <a:pathLst>
                  <a:path h="285750" w="171450">
                    <a:moveTo>
                      <a:pt x="0" y="0"/>
                    </a:moveTo>
                    <a:lnTo>
                      <a:pt x="171450" y="0"/>
                    </a:lnTo>
                    <a:lnTo>
                      <a:pt x="17145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0" r="0" b="0"/>
                </a:stretch>
              </a:blipFill>
            </p:spPr>
          </p:sp>
        </p:grpSp>
      </p:grpSp>
      <p:sp>
        <p:nvSpPr>
          <p:cNvPr name="TextBox 54" id="54"/>
          <p:cNvSpPr txBox="true"/>
          <p:nvPr/>
        </p:nvSpPr>
        <p:spPr>
          <a:xfrm rot="0">
            <a:off x="871538" y="690562"/>
            <a:ext cx="17372171" cy="64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Desktop CPU Evolution &amp; </a:t>
            </a:r>
            <a:r>
              <a:rPr lang="en-US" sz="4050" b="true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APUs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43181" y="2277150"/>
            <a:ext cx="18015856" cy="8236535"/>
            <a:chOff x="0" y="0"/>
            <a:chExt cx="24021141" cy="1098204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076067"/>
              <a:ext cx="24021141" cy="9905981"/>
              <a:chOff x="0" y="0"/>
              <a:chExt cx="24021141" cy="9905981"/>
            </a:xfrm>
          </p:grpSpPr>
          <p:sp>
            <p:nvSpPr>
              <p:cNvPr name="Freeform 4" id="4" descr="image.png"/>
              <p:cNvSpPr/>
              <p:nvPr/>
            </p:nvSpPr>
            <p:spPr>
              <a:xfrm flipH="false" flipV="false" rot="0">
                <a:off x="0" y="0"/>
                <a:ext cx="24021142" cy="9905981"/>
              </a:xfrm>
              <a:custGeom>
                <a:avLst/>
                <a:gdLst/>
                <a:ahLst/>
                <a:cxnLst/>
                <a:rect r="r" b="b" t="t" l="l"/>
                <a:pathLst>
                  <a:path h="9905981" w="24021142">
                    <a:moveTo>
                      <a:pt x="0" y="0"/>
                    </a:moveTo>
                    <a:lnTo>
                      <a:pt x="24021142" y="0"/>
                    </a:lnTo>
                    <a:lnTo>
                      <a:pt x="24021142" y="9905981"/>
                    </a:lnTo>
                    <a:lnTo>
                      <a:pt x="0" y="990598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-29807" r="0" b="-6593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600666" y="7915889"/>
              <a:ext cx="533400" cy="533400"/>
              <a:chOff x="0" y="0"/>
              <a:chExt cx="533400" cy="533400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1785" r="0" b="-1785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2095841" y="0"/>
              <a:ext cx="10744200" cy="6686550"/>
              <a:chOff x="0" y="0"/>
              <a:chExt cx="10744200" cy="6686550"/>
            </a:xfrm>
          </p:grpSpPr>
          <p:sp>
            <p:nvSpPr>
              <p:cNvPr name="Freeform 8" id="8" descr="image.png"/>
              <p:cNvSpPr/>
              <p:nvPr/>
            </p:nvSpPr>
            <p:spPr>
              <a:xfrm flipH="false" flipV="false" rot="0">
                <a:off x="0" y="0"/>
                <a:ext cx="10744200" cy="6686550"/>
              </a:xfrm>
              <a:custGeom>
                <a:avLst/>
                <a:gdLst/>
                <a:ahLst/>
                <a:cxnLst/>
                <a:rect r="r" b="b" t="t" l="l"/>
                <a:pathLst>
                  <a:path h="6686550" w="10744200">
                    <a:moveTo>
                      <a:pt x="0" y="0"/>
                    </a:moveTo>
                    <a:lnTo>
                      <a:pt x="10744200" y="0"/>
                    </a:lnTo>
                    <a:lnTo>
                      <a:pt x="10744200" y="6686550"/>
                    </a:lnTo>
                    <a:lnTo>
                      <a:pt x="0" y="66865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8799" t="0" r="-8799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2610191" y="1390650"/>
              <a:ext cx="4724400" cy="2152650"/>
              <a:chOff x="0" y="0"/>
              <a:chExt cx="4724400" cy="2152650"/>
            </a:xfrm>
          </p:grpSpPr>
          <p:sp>
            <p:nvSpPr>
              <p:cNvPr name="Freeform 10" id="10" descr="image.png"/>
              <p:cNvSpPr/>
              <p:nvPr/>
            </p:nvSpPr>
            <p:spPr>
              <a:xfrm flipH="false" flipV="false" rot="0">
                <a:off x="0" y="0"/>
                <a:ext cx="4724400" cy="2152650"/>
              </a:xfrm>
              <a:custGeom>
                <a:avLst/>
                <a:gdLst/>
                <a:ahLst/>
                <a:cxnLst/>
                <a:rect r="r" b="b" t="t" l="l"/>
                <a:pathLst>
                  <a:path h="2152650" w="4724400">
                    <a:moveTo>
                      <a:pt x="0" y="0"/>
                    </a:moveTo>
                    <a:lnTo>
                      <a:pt x="4724400" y="0"/>
                    </a:lnTo>
                    <a:lnTo>
                      <a:pt x="4724400" y="2152650"/>
                    </a:lnTo>
                    <a:lnTo>
                      <a:pt x="0" y="21526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806" t="0" r="-806" b="0"/>
                </a:stretch>
              </a:blip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7601291" y="1390650"/>
              <a:ext cx="4724400" cy="2152650"/>
              <a:chOff x="0" y="0"/>
              <a:chExt cx="4724400" cy="215265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4724400" cy="2152650"/>
              </a:xfrm>
              <a:custGeom>
                <a:avLst/>
                <a:gdLst/>
                <a:ahLst/>
                <a:cxnLst/>
                <a:rect r="r" b="b" t="t" l="l"/>
                <a:pathLst>
                  <a:path h="2152650" w="4724400">
                    <a:moveTo>
                      <a:pt x="0" y="0"/>
                    </a:moveTo>
                    <a:lnTo>
                      <a:pt x="4724400" y="0"/>
                    </a:lnTo>
                    <a:lnTo>
                      <a:pt x="4724400" y="2152650"/>
                    </a:lnTo>
                    <a:lnTo>
                      <a:pt x="0" y="21526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806" t="0" r="-806" b="0"/>
                </a:stretch>
              </a:blip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610191" y="3810000"/>
              <a:ext cx="9715500" cy="2362200"/>
              <a:chOff x="0" y="0"/>
              <a:chExt cx="9715500" cy="2362200"/>
            </a:xfrm>
          </p:grpSpPr>
          <p:sp>
            <p:nvSpPr>
              <p:cNvPr name="Freeform 14" id="14" descr="image.png"/>
              <p:cNvSpPr/>
              <p:nvPr/>
            </p:nvSpPr>
            <p:spPr>
              <a:xfrm flipH="false" flipV="false" rot="0">
                <a:off x="0" y="0"/>
                <a:ext cx="9715500" cy="2362200"/>
              </a:xfrm>
              <a:custGeom>
                <a:avLst/>
                <a:gdLst/>
                <a:ahLst/>
                <a:cxnLst/>
                <a:rect r="r" b="b" t="t" l="l"/>
                <a:pathLst>
                  <a:path h="2362200" w="9715500">
                    <a:moveTo>
                      <a:pt x="0" y="0"/>
                    </a:moveTo>
                    <a:lnTo>
                      <a:pt x="9715500" y="0"/>
                    </a:lnTo>
                    <a:lnTo>
                      <a:pt x="9715500" y="2362200"/>
                    </a:lnTo>
                    <a:lnTo>
                      <a:pt x="0" y="2362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5469" t="0" r="-15469" b="0"/>
                </a:stretch>
              </a:blip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883241" y="504825"/>
              <a:ext cx="944245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8BDF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SINGLE SILICON DIE (SOC SYSTEM)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12610191" y="1066800"/>
              <a:ext cx="9715500" cy="19050"/>
              <a:chOff x="0" y="0"/>
              <a:chExt cx="9715500" cy="190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715500" cy="19050"/>
              </a:xfrm>
              <a:custGeom>
                <a:avLst/>
                <a:gdLst/>
                <a:ahLst/>
                <a:cxnLst/>
                <a:rect r="r" b="b" t="t" l="l"/>
                <a:pathLst>
                  <a:path h="19050" w="9715500">
                    <a:moveTo>
                      <a:pt x="0" y="0"/>
                    </a:moveTo>
                    <a:lnTo>
                      <a:pt x="9715500" y="0"/>
                    </a:lnTo>
                    <a:lnTo>
                      <a:pt x="9715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334155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415179" y="571500"/>
              <a:ext cx="295275" cy="266700"/>
              <a:chOff x="0" y="0"/>
              <a:chExt cx="295275" cy="266700"/>
            </a:xfrm>
          </p:grpSpPr>
          <p:sp>
            <p:nvSpPr>
              <p:cNvPr name="Freeform 19" id="19" descr="image.png"/>
              <p:cNvSpPr/>
              <p:nvPr/>
            </p:nvSpPr>
            <p:spPr>
              <a:xfrm flipH="false" flipV="false" rot="0">
                <a:off x="0" y="0"/>
                <a:ext cx="295275" cy="266700"/>
              </a:xfrm>
              <a:custGeom>
                <a:avLst/>
                <a:gdLst/>
                <a:ahLst/>
                <a:cxnLst/>
                <a:rect r="r" b="b" t="t" l="l"/>
                <a:pathLst>
                  <a:path h="266700" w="295275">
                    <a:moveTo>
                      <a:pt x="0" y="0"/>
                    </a:moveTo>
                    <a:lnTo>
                      <a:pt x="295275" y="0"/>
                    </a:lnTo>
                    <a:lnTo>
                      <a:pt x="295275" y="266700"/>
                    </a:lnTo>
                    <a:lnTo>
                      <a:pt x="0" y="266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1895" r="0" b="-1900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686641" y="1752600"/>
              <a:ext cx="571500" cy="457200"/>
              <a:chOff x="0" y="0"/>
              <a:chExt cx="571500" cy="457200"/>
            </a:xfrm>
          </p:grpSpPr>
          <p:sp>
            <p:nvSpPr>
              <p:cNvPr name="Freeform 21" id="21" descr="image.png"/>
              <p:cNvSpPr/>
              <p:nvPr/>
            </p:nvSpPr>
            <p:spPr>
              <a:xfrm flipH="false" flipV="false" rot="0">
                <a:off x="0" y="0"/>
                <a:ext cx="5715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1666" t="0" r="-1666" b="0"/>
                </a:stretch>
              </a:blip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4238966" y="2352675"/>
              <a:ext cx="146685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93C5FD"/>
                  </a:solidFill>
                  <a:latin typeface="Poppins"/>
                  <a:ea typeface="Poppins"/>
                  <a:cs typeface="Poppins"/>
                  <a:sym typeface="Poppins"/>
                </a:rPr>
                <a:t>CPU Cores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3886541" y="2905125"/>
              <a:ext cx="2171700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85"/>
                </a:lnSpc>
              </a:pPr>
              <a:r>
                <a:rPr lang="en-US" sz="123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Orchestration &amp; Logic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19706316" y="1752600"/>
              <a:ext cx="514350" cy="457200"/>
              <a:chOff x="0" y="0"/>
              <a:chExt cx="514350" cy="457200"/>
            </a:xfrm>
          </p:grpSpPr>
          <p:sp>
            <p:nvSpPr>
              <p:cNvPr name="Freeform 25" id="25" descr="image.png"/>
              <p:cNvSpPr/>
              <p:nvPr/>
            </p:nvSpPr>
            <p:spPr>
              <a:xfrm flipH="false" flipV="false" rot="0">
                <a:off x="0" y="0"/>
                <a:ext cx="51435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514350">
                    <a:moveTo>
                      <a:pt x="0" y="0"/>
                    </a:moveTo>
                    <a:lnTo>
                      <a:pt x="514350" y="0"/>
                    </a:lnTo>
                    <a:lnTo>
                      <a:pt x="51435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1851" t="0" r="-1851" b="0"/>
                </a:stretch>
              </a:blip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19182441" y="2352675"/>
              <a:ext cx="15621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E9D5FF"/>
                  </a:solidFill>
                  <a:latin typeface="Poppins"/>
                  <a:ea typeface="Poppins"/>
                  <a:cs typeface="Poppins"/>
                  <a:sym typeface="Poppins"/>
                </a:rPr>
                <a:t>GPU Engine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8877641" y="2905125"/>
              <a:ext cx="2171700" cy="27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85"/>
                </a:lnSpc>
              </a:pPr>
              <a:r>
                <a:rPr lang="en-US" sz="123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Rendering &amp; Graphics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17201241" y="4191000"/>
              <a:ext cx="533400" cy="533400"/>
              <a:chOff x="0" y="0"/>
              <a:chExt cx="533400" cy="533400"/>
            </a:xfrm>
          </p:grpSpPr>
          <p:sp>
            <p:nvSpPr>
              <p:cNvPr name="Freeform 29" id="29" descr="image.png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-1785" t="0" r="-1785" b="0"/>
                </a:stretch>
              </a:blip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15124791" y="4857750"/>
              <a:ext cx="46863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A7F3D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NPU (Neural Processing Unit)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3838916" y="5505450"/>
              <a:ext cx="7258050" cy="285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EE7B7"/>
                  </a:solidFill>
                  <a:latin typeface="Inter"/>
                  <a:ea typeface="Inter"/>
                  <a:cs typeface="Inter"/>
                  <a:sym typeface="Inter"/>
                </a:rPr>
                <a:t>Specialized On-Die Hardware for Real-Time AI &amp; Machine Learning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366294" y="7510124"/>
              <a:ext cx="8896350" cy="1306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1912" b="true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 </a:t>
              </a:r>
              <a:r>
                <a:rPr lang="en-US" sz="1912" b="true">
                  <a:solidFill>
                    <a:srgbClr val="04785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NPU does not have to be a separate chip</a:t>
              </a:r>
              <a:r>
                <a:rPr lang="en-US" sz="1912" b="true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 It operates directly inside the SoC alongside the CPU &amp; GPU as one unified, high-efficiency system.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21858" y="724241"/>
            <a:ext cx="9746751" cy="73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4"/>
              </a:lnSpc>
            </a:pPr>
            <a:r>
              <a:rPr lang="en-US" sz="4570" b="true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NPU Integration inside the </a:t>
            </a:r>
            <a:r>
              <a:rPr lang="en-US" sz="4570" b="true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SoC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104455" y="374148"/>
            <a:ext cx="7783701" cy="9419852"/>
            <a:chOff x="0" y="0"/>
            <a:chExt cx="10378268" cy="125598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110038" y="0"/>
              <a:ext cx="5268229" cy="4293607"/>
            </a:xfrm>
            <a:custGeom>
              <a:avLst/>
              <a:gdLst/>
              <a:ahLst/>
              <a:cxnLst/>
              <a:rect r="r" b="b" t="t" l="l"/>
              <a:pathLst>
                <a:path h="4293607" w="5268229">
                  <a:moveTo>
                    <a:pt x="0" y="0"/>
                  </a:moveTo>
                  <a:lnTo>
                    <a:pt x="5268230" y="0"/>
                  </a:lnTo>
                  <a:lnTo>
                    <a:pt x="5268230" y="4293607"/>
                  </a:lnTo>
                  <a:lnTo>
                    <a:pt x="0" y="4293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4839707"/>
              <a:ext cx="5167159" cy="3668683"/>
            </a:xfrm>
            <a:custGeom>
              <a:avLst/>
              <a:gdLst/>
              <a:ahLst/>
              <a:cxnLst/>
              <a:rect r="r" b="b" t="t" l="l"/>
              <a:pathLst>
                <a:path h="3668683" w="5167159">
                  <a:moveTo>
                    <a:pt x="0" y="0"/>
                  </a:moveTo>
                  <a:lnTo>
                    <a:pt x="5167159" y="0"/>
                  </a:lnTo>
                  <a:lnTo>
                    <a:pt x="5167159" y="3668683"/>
                  </a:lnTo>
                  <a:lnTo>
                    <a:pt x="0" y="3668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5394916" y="9223887"/>
              <a:ext cx="4698473" cy="3335916"/>
            </a:xfrm>
            <a:custGeom>
              <a:avLst/>
              <a:gdLst/>
              <a:ahLst/>
              <a:cxnLst/>
              <a:rect r="r" b="b" t="t" l="l"/>
              <a:pathLst>
                <a:path h="3335916" w="4698473">
                  <a:moveTo>
                    <a:pt x="0" y="0"/>
                  </a:moveTo>
                  <a:lnTo>
                    <a:pt x="4698473" y="0"/>
                  </a:lnTo>
                  <a:lnTo>
                    <a:pt x="4698473" y="3335916"/>
                  </a:lnTo>
                  <a:lnTo>
                    <a:pt x="0" y="3335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>
              <a:off x="2506070" y="2146803"/>
              <a:ext cx="2603968" cy="2593088"/>
            </a:xfrm>
            <a:custGeom>
              <a:avLst/>
              <a:gdLst/>
              <a:ahLst/>
              <a:cxnLst/>
              <a:rect r="r" b="b" t="t" l="l"/>
              <a:pathLst>
                <a:path h="2593088" w="2603968">
                  <a:moveTo>
                    <a:pt x="2603968" y="0"/>
                  </a:moveTo>
                  <a:lnTo>
                    <a:pt x="1606784" y="0"/>
                  </a:lnTo>
                  <a:cubicBezTo>
                    <a:pt x="1438448" y="0"/>
                    <a:pt x="1301984" y="136464"/>
                    <a:pt x="1301984" y="304800"/>
                  </a:cubicBezTo>
                  <a:lnTo>
                    <a:pt x="1301984" y="2288288"/>
                  </a:lnTo>
                  <a:cubicBezTo>
                    <a:pt x="1301984" y="2369126"/>
                    <a:pt x="1269872" y="2446653"/>
                    <a:pt x="1212710" y="2503814"/>
                  </a:cubicBezTo>
                  <a:cubicBezTo>
                    <a:pt x="1155550" y="2560976"/>
                    <a:pt x="1078022" y="2593088"/>
                    <a:pt x="997184" y="2593088"/>
                  </a:cubicBezTo>
                  <a:lnTo>
                    <a:pt x="0" y="2593088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39" id="39"/>
            <p:cNvSpPr/>
            <p:nvPr/>
          </p:nvSpPr>
          <p:spPr>
            <a:xfrm>
              <a:off x="7744153" y="8747168"/>
              <a:ext cx="0" cy="476719"/>
            </a:xfrm>
            <a:custGeom>
              <a:avLst/>
              <a:gdLst/>
              <a:ahLst/>
              <a:cxnLst/>
              <a:rect r="r" b="b" t="t" l="l"/>
              <a:pathLst>
                <a:path h="476719" w="0">
                  <a:moveTo>
                    <a:pt x="0" y="0"/>
                  </a:moveTo>
                  <a:lnTo>
                    <a:pt x="0" y="476719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0" id="40"/>
            <p:cNvSpPr/>
            <p:nvPr/>
          </p:nvSpPr>
          <p:spPr>
            <a:xfrm>
              <a:off x="2540754" y="8415684"/>
              <a:ext cx="2957301" cy="2662412"/>
            </a:xfrm>
            <a:custGeom>
              <a:avLst/>
              <a:gdLst/>
              <a:ahLst/>
              <a:cxnLst/>
              <a:rect r="r" b="b" t="t" l="l"/>
              <a:pathLst>
                <a:path h="2662412" w="2957301">
                  <a:moveTo>
                    <a:pt x="0" y="0"/>
                  </a:moveTo>
                  <a:lnTo>
                    <a:pt x="0" y="2357612"/>
                  </a:lnTo>
                  <a:cubicBezTo>
                    <a:pt x="0" y="2438450"/>
                    <a:pt x="32113" y="2515977"/>
                    <a:pt x="89274" y="2573138"/>
                  </a:cubicBezTo>
                  <a:cubicBezTo>
                    <a:pt x="146435" y="2630299"/>
                    <a:pt x="223962" y="2662412"/>
                    <a:pt x="304800" y="2662412"/>
                  </a:cubicBezTo>
                  <a:lnTo>
                    <a:pt x="2957301" y="2662412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86125" y="1550194"/>
            <a:ext cx="11715750" cy="7186612"/>
            <a:chOff x="0" y="0"/>
            <a:chExt cx="15621000" cy="95821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621000" cy="9582150"/>
            </a:xfrm>
            <a:custGeom>
              <a:avLst/>
              <a:gdLst/>
              <a:ahLst/>
              <a:cxnLst/>
              <a:rect r="r" b="b" t="t" l="l"/>
              <a:pathLst>
                <a:path h="9582150" w="15621000">
                  <a:moveTo>
                    <a:pt x="0" y="0"/>
                  </a:moveTo>
                  <a:lnTo>
                    <a:pt x="15621000" y="0"/>
                  </a:lnTo>
                  <a:lnTo>
                    <a:pt x="15621000" y="9582150"/>
                  </a:lnTo>
                  <a:lnTo>
                    <a:pt x="0" y="9582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9" r="0" b="-9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00625" y="5722144"/>
            <a:ext cx="8286750" cy="1357312"/>
            <a:chOff x="0" y="0"/>
            <a:chExt cx="11049000" cy="1809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1049000" cy="1809750"/>
            </a:xfrm>
            <a:custGeom>
              <a:avLst/>
              <a:gdLst/>
              <a:ahLst/>
              <a:cxnLst/>
              <a:rect r="r" b="b" t="t" l="l"/>
              <a:pathLst>
                <a:path h="1809750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1809750"/>
                  </a:lnTo>
                  <a:lnTo>
                    <a:pt x="0" y="180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851084" y="2421731"/>
            <a:ext cx="6585823" cy="2928938"/>
            <a:chOff x="0" y="0"/>
            <a:chExt cx="8781098" cy="390525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3666655" y="0"/>
              <a:ext cx="1447800" cy="1447800"/>
              <a:chOff x="0" y="0"/>
              <a:chExt cx="1447800" cy="1447800"/>
            </a:xfrm>
          </p:grpSpPr>
          <p:sp>
            <p:nvSpPr>
              <p:cNvPr name="Freeform 10" id="10" descr="image.png"/>
              <p:cNvSpPr/>
              <p:nvPr/>
            </p:nvSpPr>
            <p:spPr>
              <a:xfrm flipH="false" flipV="false" rot="0">
                <a:off x="0" y="0"/>
                <a:ext cx="1447800" cy="1447800"/>
              </a:xfrm>
              <a:custGeom>
                <a:avLst/>
                <a:gdLst/>
                <a:ahLst/>
                <a:cxnLst/>
                <a:rect r="r" b="b" t="t" l="l"/>
                <a:pathLst>
                  <a:path h="1447800" w="1447800">
                    <a:moveTo>
                      <a:pt x="0" y="0"/>
                    </a:moveTo>
                    <a:lnTo>
                      <a:pt x="1447800" y="0"/>
                    </a:lnTo>
                    <a:lnTo>
                      <a:pt x="1447800" y="1447800"/>
                    </a:lnTo>
                    <a:lnTo>
                      <a:pt x="0" y="1447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1828800"/>
              <a:ext cx="8781098" cy="2076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05"/>
                </a:lnSpc>
              </a:pPr>
              <a:r>
                <a:rPr lang="en-US" sz="4725" b="true">
                  <a:solidFill>
                    <a:srgbClr val="0F172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 Everyone</a:t>
              </a:r>
            </a:p>
            <a:p>
              <a:pPr algn="ctr">
                <a:lnSpc>
                  <a:spcPts val="5905"/>
                </a:lnSpc>
              </a:pPr>
              <a:r>
                <a:rPr lang="en-US" sz="4725" b="true">
                  <a:solidFill>
                    <a:srgbClr val="0F172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for Your </a:t>
              </a:r>
              <a:r>
                <a:rPr lang="en-US" sz="4725" b="true">
                  <a:solidFill>
                    <a:srgbClr val="2563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Attention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4066705" y="400050"/>
              <a:ext cx="647700" cy="647700"/>
              <a:chOff x="0" y="0"/>
              <a:chExt cx="647700" cy="647700"/>
            </a:xfrm>
          </p:grpSpPr>
          <p:sp>
            <p:nvSpPr>
              <p:cNvPr name="Freeform 13" id="13" descr="image.png"/>
              <p:cNvSpPr/>
              <p:nvPr/>
            </p:nvSpPr>
            <p:spPr>
              <a:xfrm flipH="false" flipV="false" rot="0">
                <a:off x="0" y="0"/>
                <a:ext cx="6477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47700">
                    <a:moveTo>
                      <a:pt x="0" y="0"/>
                    </a:moveTo>
                    <a:lnTo>
                      <a:pt x="647700" y="0"/>
                    </a:lnTo>
                    <a:lnTo>
                      <a:pt x="6477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</p:grpSp>
      <p:sp>
        <p:nvSpPr>
          <p:cNvPr name="TextBox 14" id="14"/>
          <p:cNvSpPr txBox="true"/>
          <p:nvPr/>
        </p:nvSpPr>
        <p:spPr>
          <a:xfrm rot="0">
            <a:off x="5996997" y="6141211"/>
            <a:ext cx="4793818" cy="53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“Attention Is All You Need”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— Vaswani et al. (Google Research,  2017)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007894" y="7508081"/>
            <a:ext cx="2386012" cy="428625"/>
            <a:chOff x="0" y="0"/>
            <a:chExt cx="3181350" cy="5715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181350" cy="571500"/>
            </a:xfrm>
            <a:custGeom>
              <a:avLst/>
              <a:gdLst/>
              <a:ahLst/>
              <a:cxnLst/>
              <a:rect r="r" b="b" t="t" l="l"/>
              <a:pathLst>
                <a:path h="571500" w="3181350">
                  <a:moveTo>
                    <a:pt x="0" y="0"/>
                  </a:moveTo>
                  <a:lnTo>
                    <a:pt x="3181350" y="0"/>
                  </a:lnTo>
                  <a:lnTo>
                    <a:pt x="318135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933" r="0" b="-493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601075" y="7481933"/>
            <a:ext cx="4552718" cy="480921"/>
            <a:chOff x="0" y="0"/>
            <a:chExt cx="5410200" cy="5715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5410200" cy="571500"/>
            </a:xfrm>
            <a:custGeom>
              <a:avLst/>
              <a:gdLst/>
              <a:ahLst/>
              <a:cxnLst/>
              <a:rect r="r" b="b" t="t" l="l"/>
              <a:pathLst>
                <a:path h="5715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397" r="0" b="-239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72112" y="6222206"/>
            <a:ext cx="328612" cy="371475"/>
            <a:chOff x="0" y="0"/>
            <a:chExt cx="438150" cy="4953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38150" cy="495300"/>
            </a:xfrm>
            <a:custGeom>
              <a:avLst/>
              <a:gdLst/>
              <a:ahLst/>
              <a:cxnLst/>
              <a:rect r="r" b="b" t="t" l="l"/>
              <a:pathLst>
                <a:path h="4953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079331" y="7629525"/>
            <a:ext cx="228600" cy="185738"/>
            <a:chOff x="0" y="0"/>
            <a:chExt cx="304800" cy="2476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76" r="0" b="-68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636794" y="7629525"/>
            <a:ext cx="185738" cy="185738"/>
            <a:chOff x="0" y="0"/>
            <a:chExt cx="247650" cy="2476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DAHTOPaYaz8</dc:identifier>
  <dcterms:modified xsi:type="dcterms:W3CDTF">2011-08-01T06:04:30Z</dcterms:modified>
  <cp:revision>1</cp:revision>
  <dc:title>CA-presentation-1(team-5)</dc:title>
</cp:coreProperties>
</file>